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Sugo Classic Bold" charset="1" panose="00000000000000000000"/>
      <p:regular r:id="rId19"/>
    </p:embeddedFont>
    <p:embeddedFont>
      <p:font typeface="Sugo Classic" charset="1" panose="00000000000000000000"/>
      <p:regular r:id="rId20"/>
    </p:embeddedFont>
    <p:embeddedFont>
      <p:font typeface="Open Sans" charset="1" panose="020B0606030504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14" Target="../media/image39.svg" Type="http://schemas.openxmlformats.org/officeDocument/2006/relationships/image"/><Relationship Id="rId15" Target="../media/image40.png" Type="http://schemas.openxmlformats.org/officeDocument/2006/relationships/image"/><Relationship Id="rId16" Target="../media/image4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3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2.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2.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2" Target="../media/image51.png" Type="http://schemas.openxmlformats.org/officeDocument/2006/relationships/image"/><Relationship Id="rId3" Target="../media/image5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14" Target="../media/image5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2.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2.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svg" Type="http://schemas.openxmlformats.org/officeDocument/2006/relationships/image"/><Relationship Id="rId11" Target="../media/image64.png" Type="http://schemas.openxmlformats.org/officeDocument/2006/relationships/image"/><Relationship Id="rId12" Target="../media/image65.svg" Type="http://schemas.openxmlformats.org/officeDocument/2006/relationships/image"/><Relationship Id="rId13" Target="../media/image66.png" Type="http://schemas.openxmlformats.org/officeDocument/2006/relationships/image"/><Relationship Id="rId14" Target="../media/image67.svg" Type="http://schemas.openxmlformats.org/officeDocument/2006/relationships/image"/><Relationship Id="rId15" Target="../media/image68.png" Type="http://schemas.openxmlformats.org/officeDocument/2006/relationships/image"/><Relationship Id="rId16" Target="../media/image69.svg" Type="http://schemas.openxmlformats.org/officeDocument/2006/relationships/image"/><Relationship Id="rId2" Target="../media/image51.png" Type="http://schemas.openxmlformats.org/officeDocument/2006/relationships/image"/><Relationship Id="rId3" Target="../media/image52.svg" Type="http://schemas.openxmlformats.org/officeDocument/2006/relationships/image"/><Relationship Id="rId4" Target="../media/image3.pn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6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7819166" y="-162910"/>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96990" y="5229225"/>
            <a:ext cx="10320250" cy="10320250"/>
          </a:xfrm>
          <a:custGeom>
            <a:avLst/>
            <a:gdLst/>
            <a:ahLst/>
            <a:cxnLst/>
            <a:rect r="r" b="b" t="t" l="l"/>
            <a:pathLst>
              <a:path h="10320250" w="10320250">
                <a:moveTo>
                  <a:pt x="10320251" y="0"/>
                </a:moveTo>
                <a:lnTo>
                  <a:pt x="0" y="0"/>
                </a:lnTo>
                <a:lnTo>
                  <a:pt x="0" y="10320250"/>
                </a:lnTo>
                <a:lnTo>
                  <a:pt x="10320251" y="10320250"/>
                </a:lnTo>
                <a:lnTo>
                  <a:pt x="10320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596799">
            <a:off x="15660170" y="4752790"/>
            <a:ext cx="7673707" cy="4514852"/>
          </a:xfrm>
          <a:custGeom>
            <a:avLst/>
            <a:gdLst/>
            <a:ahLst/>
            <a:cxnLst/>
            <a:rect r="r" b="b" t="t" l="l"/>
            <a:pathLst>
              <a:path h="4514852" w="7673707">
                <a:moveTo>
                  <a:pt x="7673707" y="0"/>
                </a:moveTo>
                <a:lnTo>
                  <a:pt x="0" y="0"/>
                </a:lnTo>
                <a:lnTo>
                  <a:pt x="0" y="4514852"/>
                </a:lnTo>
                <a:lnTo>
                  <a:pt x="7673707" y="4514852"/>
                </a:lnTo>
                <a:lnTo>
                  <a:pt x="7673707" y="0"/>
                </a:lnTo>
                <a:close/>
              </a:path>
            </a:pathLst>
          </a:custGeom>
          <a:blipFill>
            <a:blip r:embed="rId4"/>
            <a:stretch>
              <a:fillRect l="0" t="0" r="0" b="0"/>
            </a:stretch>
          </a:blipFill>
        </p:spPr>
      </p:sp>
      <p:grpSp>
        <p:nvGrpSpPr>
          <p:cNvPr name="Group 5" id="5"/>
          <p:cNvGrpSpPr/>
          <p:nvPr/>
        </p:nvGrpSpPr>
        <p:grpSpPr>
          <a:xfrm rot="-577747">
            <a:off x="15935459" y="5010547"/>
            <a:ext cx="5062044" cy="4189837"/>
            <a:chOff x="0" y="0"/>
            <a:chExt cx="1333213" cy="1103496"/>
          </a:xfrm>
        </p:grpSpPr>
        <p:sp>
          <p:nvSpPr>
            <p:cNvPr name="Freeform 6" id="6"/>
            <p:cNvSpPr/>
            <p:nvPr/>
          </p:nvSpPr>
          <p:spPr>
            <a:xfrm flipH="false" flipV="false" rot="0">
              <a:off x="0" y="0"/>
              <a:ext cx="1333213" cy="1103496"/>
            </a:xfrm>
            <a:custGeom>
              <a:avLst/>
              <a:gdLst/>
              <a:ahLst/>
              <a:cxnLst/>
              <a:rect r="r" b="b" t="t" l="l"/>
              <a:pathLst>
                <a:path h="1103496" w="1333213">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7" id="7"/>
            <p:cNvSpPr txBox="true"/>
            <p:nvPr/>
          </p:nvSpPr>
          <p:spPr>
            <a:xfrm>
              <a:off x="0" y="-38100"/>
              <a:ext cx="1333213" cy="114159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596799">
            <a:off x="14910558" y="30965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9" id="9"/>
          <p:cNvGrpSpPr/>
          <p:nvPr/>
        </p:nvGrpSpPr>
        <p:grpSpPr>
          <a:xfrm rot="-577747">
            <a:off x="15483130" y="4101669"/>
            <a:ext cx="5062044" cy="603669"/>
            <a:chOff x="0" y="0"/>
            <a:chExt cx="1333213" cy="158991"/>
          </a:xfrm>
        </p:grpSpPr>
        <p:sp>
          <p:nvSpPr>
            <p:cNvPr name="Freeform 10" id="10"/>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11" id="11"/>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77747">
            <a:off x="15147467" y="681914"/>
            <a:ext cx="5062044" cy="3536331"/>
            <a:chOff x="0" y="0"/>
            <a:chExt cx="1333213" cy="931379"/>
          </a:xfrm>
        </p:grpSpPr>
        <p:sp>
          <p:nvSpPr>
            <p:cNvPr name="Freeform 13" id="13"/>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4" id="14"/>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sp>
        <p:nvSpPr>
          <p:cNvPr name="Freeform 16" id="16"/>
          <p:cNvSpPr/>
          <p:nvPr/>
        </p:nvSpPr>
        <p:spPr>
          <a:xfrm flipH="false" flipV="false" rot="-596799">
            <a:off x="-3308549" y="4321770"/>
            <a:ext cx="6622704" cy="3896490"/>
          </a:xfrm>
          <a:custGeom>
            <a:avLst/>
            <a:gdLst/>
            <a:ahLst/>
            <a:cxnLst/>
            <a:rect r="r" b="b" t="t" l="l"/>
            <a:pathLst>
              <a:path h="3896490" w="6622704">
                <a:moveTo>
                  <a:pt x="0" y="0"/>
                </a:moveTo>
                <a:lnTo>
                  <a:pt x="6622703" y="0"/>
                </a:lnTo>
                <a:lnTo>
                  <a:pt x="6622703" y="3896490"/>
                </a:lnTo>
                <a:lnTo>
                  <a:pt x="0" y="3896490"/>
                </a:lnTo>
                <a:lnTo>
                  <a:pt x="0" y="0"/>
                </a:lnTo>
                <a:close/>
              </a:path>
            </a:pathLst>
          </a:custGeom>
          <a:blipFill>
            <a:blip r:embed="rId4"/>
            <a:stretch>
              <a:fillRect l="0" t="0" r="0" b="0"/>
            </a:stretch>
          </a:blipFill>
        </p:spPr>
      </p:sp>
      <p:grpSp>
        <p:nvGrpSpPr>
          <p:cNvPr name="Group 17" id="17"/>
          <p:cNvGrpSpPr/>
          <p:nvPr/>
        </p:nvGrpSpPr>
        <p:grpSpPr>
          <a:xfrm rot="-577747">
            <a:off x="-2002207" y="4339457"/>
            <a:ext cx="5062044" cy="3536331"/>
            <a:chOff x="0" y="0"/>
            <a:chExt cx="1333213" cy="931379"/>
          </a:xfrm>
        </p:grpSpPr>
        <p:sp>
          <p:nvSpPr>
            <p:cNvPr name="Freeform 18" id="18"/>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9" id="19"/>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577747">
            <a:off x="2085632" y="3995145"/>
            <a:ext cx="945204" cy="3536331"/>
            <a:chOff x="0" y="0"/>
            <a:chExt cx="248943" cy="931379"/>
          </a:xfrm>
        </p:grpSpPr>
        <p:sp>
          <p:nvSpPr>
            <p:cNvPr name="Freeform 21" id="21"/>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22" id="22"/>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577747">
            <a:off x="-472602" y="8931281"/>
            <a:ext cx="945204" cy="3536331"/>
            <a:chOff x="0" y="0"/>
            <a:chExt cx="248943" cy="931379"/>
          </a:xfrm>
        </p:grpSpPr>
        <p:sp>
          <p:nvSpPr>
            <p:cNvPr name="Freeform 24" id="24"/>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25" id="25"/>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0">
            <a:off x="2870483" y="-238508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575343">
            <a:off x="1387755" y="9016268"/>
            <a:ext cx="1532051" cy="1847869"/>
          </a:xfrm>
          <a:custGeom>
            <a:avLst/>
            <a:gdLst/>
            <a:ahLst/>
            <a:cxnLst/>
            <a:rect r="r" b="b" t="t" l="l"/>
            <a:pathLst>
              <a:path h="1847869" w="1532051">
                <a:moveTo>
                  <a:pt x="0" y="0"/>
                </a:moveTo>
                <a:lnTo>
                  <a:pt x="1532051" y="0"/>
                </a:lnTo>
                <a:lnTo>
                  <a:pt x="1532051" y="1847869"/>
                </a:lnTo>
                <a:lnTo>
                  <a:pt x="0" y="18478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8" id="28"/>
          <p:cNvSpPr/>
          <p:nvPr/>
        </p:nvSpPr>
        <p:spPr>
          <a:xfrm flipH="false" flipV="false" rot="-594577">
            <a:off x="16482659" y="6391188"/>
            <a:ext cx="1725499" cy="2072105"/>
          </a:xfrm>
          <a:custGeom>
            <a:avLst/>
            <a:gdLst/>
            <a:ahLst/>
            <a:cxnLst/>
            <a:rect r="r" b="b" t="t" l="l"/>
            <a:pathLst>
              <a:path h="2072105" w="1725499">
                <a:moveTo>
                  <a:pt x="0" y="0"/>
                </a:moveTo>
                <a:lnTo>
                  <a:pt x="1725499" y="0"/>
                </a:lnTo>
                <a:lnTo>
                  <a:pt x="1725499" y="2072105"/>
                </a:lnTo>
                <a:lnTo>
                  <a:pt x="0" y="20721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9" id="29"/>
          <p:cNvSpPr/>
          <p:nvPr/>
        </p:nvSpPr>
        <p:spPr>
          <a:xfrm flipH="false" flipV="false" rot="-587736">
            <a:off x="15990606" y="1645372"/>
            <a:ext cx="2122833" cy="2130580"/>
          </a:xfrm>
          <a:custGeom>
            <a:avLst/>
            <a:gdLst/>
            <a:ahLst/>
            <a:cxnLst/>
            <a:rect r="r" b="b" t="t" l="l"/>
            <a:pathLst>
              <a:path h="2130580" w="2122833">
                <a:moveTo>
                  <a:pt x="0" y="0"/>
                </a:moveTo>
                <a:lnTo>
                  <a:pt x="2122833" y="0"/>
                </a:lnTo>
                <a:lnTo>
                  <a:pt x="2122833" y="2130581"/>
                </a:lnTo>
                <a:lnTo>
                  <a:pt x="0" y="213058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0" id="30"/>
          <p:cNvSpPr/>
          <p:nvPr/>
        </p:nvSpPr>
        <p:spPr>
          <a:xfrm flipH="false" flipV="false" rot="-559738">
            <a:off x="-428731" y="5071976"/>
            <a:ext cx="1988721" cy="2140502"/>
          </a:xfrm>
          <a:custGeom>
            <a:avLst/>
            <a:gdLst/>
            <a:ahLst/>
            <a:cxnLst/>
            <a:rect r="r" b="b" t="t" l="l"/>
            <a:pathLst>
              <a:path h="2140502" w="1988721">
                <a:moveTo>
                  <a:pt x="0" y="0"/>
                </a:moveTo>
                <a:lnTo>
                  <a:pt x="1988721" y="0"/>
                </a:lnTo>
                <a:lnTo>
                  <a:pt x="1988721" y="2140502"/>
                </a:lnTo>
                <a:lnTo>
                  <a:pt x="0" y="21405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1" id="31"/>
          <p:cNvSpPr txBox="true"/>
          <p:nvPr/>
        </p:nvSpPr>
        <p:spPr>
          <a:xfrm rot="0">
            <a:off x="2870483" y="2044041"/>
            <a:ext cx="12016882" cy="1336675"/>
          </a:xfrm>
          <a:prstGeom prst="rect">
            <a:avLst/>
          </a:prstGeom>
        </p:spPr>
        <p:txBody>
          <a:bodyPr anchor="t" rtlCol="false" tIns="0" lIns="0" bIns="0" rIns="0">
            <a:spAutoFit/>
          </a:bodyPr>
          <a:lstStyle/>
          <a:p>
            <a:pPr algn="ctr">
              <a:lnSpc>
                <a:spcPts val="5000"/>
              </a:lnSpc>
            </a:pPr>
            <a:r>
              <a:rPr lang="en-US" b="true" sz="5000" spc="100">
                <a:solidFill>
                  <a:srgbClr val="F8F3ED"/>
                </a:solidFill>
                <a:latin typeface="Sugo Classic Bold"/>
                <a:ea typeface="Sugo Classic Bold"/>
                <a:cs typeface="Sugo Classic Bold"/>
                <a:sym typeface="Sugo Classic Bold"/>
              </a:rPr>
              <a:t>TRAFFICIQ - WEB‑BASED INTELLIGENT TRAFFIC LIGHT CONTROL USING FUZZY LOGIC</a:t>
            </a:r>
          </a:p>
        </p:txBody>
      </p:sp>
      <p:sp>
        <p:nvSpPr>
          <p:cNvPr name="TextBox 32" id="32"/>
          <p:cNvSpPr txBox="true"/>
          <p:nvPr/>
        </p:nvSpPr>
        <p:spPr>
          <a:xfrm rot="0">
            <a:off x="4075220" y="8084065"/>
            <a:ext cx="11486731" cy="2073275"/>
          </a:xfrm>
          <a:prstGeom prst="rect">
            <a:avLst/>
          </a:prstGeom>
        </p:spPr>
        <p:txBody>
          <a:bodyPr anchor="t" rtlCol="false" tIns="0" lIns="0" bIns="0" rIns="0">
            <a:spAutoFit/>
          </a:bodyPr>
          <a:lstStyle/>
          <a:p>
            <a:pPr algn="l">
              <a:lnSpc>
                <a:spcPts val="3999"/>
              </a:lnSpc>
            </a:pPr>
            <a:r>
              <a:rPr lang="en-US" b="true" sz="3999" spc="79">
                <a:solidFill>
                  <a:srgbClr val="F8F3ED"/>
                </a:solidFill>
                <a:latin typeface="Sugo Classic Bold"/>
                <a:ea typeface="Sugo Classic Bold"/>
                <a:cs typeface="Sugo Classic Bold"/>
                <a:sym typeface="Sugo Classic Bold"/>
              </a:rPr>
              <a:t>DEPARTMENT - INTEGRATED MTECH COMPUTER SCIENCE / DATA SCIENCE</a:t>
            </a:r>
          </a:p>
          <a:p>
            <a:pPr algn="l">
              <a:lnSpc>
                <a:spcPts val="3999"/>
              </a:lnSpc>
            </a:pPr>
            <a:r>
              <a:rPr lang="en-US" b="true" sz="3999" spc="79">
                <a:solidFill>
                  <a:srgbClr val="F8F3ED"/>
                </a:solidFill>
                <a:latin typeface="Sugo Classic Bold"/>
                <a:ea typeface="Sugo Classic Bold"/>
                <a:cs typeface="Sugo Classic Bold"/>
                <a:sym typeface="Sugo Classic Bold"/>
              </a:rPr>
              <a:t>INSTITUTION:VELLORE INSTITUTE OF TECHNOLOGY</a:t>
            </a:r>
          </a:p>
          <a:p>
            <a:pPr algn="l">
              <a:lnSpc>
                <a:spcPts val="3999"/>
              </a:lnSpc>
            </a:pPr>
            <a:r>
              <a:rPr lang="en-US" b="true" sz="3999" spc="79">
                <a:solidFill>
                  <a:srgbClr val="F8F3ED"/>
                </a:solidFill>
                <a:latin typeface="Sugo Classic Bold"/>
                <a:ea typeface="Sugo Classic Bold"/>
                <a:cs typeface="Sugo Classic Bold"/>
                <a:sym typeface="Sugo Classic Bold"/>
              </a:rPr>
              <a:t>ACADEMIC YEAR 2023-2028</a:t>
            </a:r>
          </a:p>
        </p:txBody>
      </p:sp>
      <p:sp>
        <p:nvSpPr>
          <p:cNvPr name="TextBox 33" id="33"/>
          <p:cNvSpPr txBox="true"/>
          <p:nvPr/>
        </p:nvSpPr>
        <p:spPr>
          <a:xfrm rot="0">
            <a:off x="1592481" y="3683258"/>
            <a:ext cx="14104510" cy="4092294"/>
          </a:xfrm>
          <a:prstGeom prst="rect">
            <a:avLst/>
          </a:prstGeom>
        </p:spPr>
        <p:txBody>
          <a:bodyPr anchor="t" rtlCol="false" tIns="0" lIns="0" bIns="0" rIns="0">
            <a:spAutoFit/>
          </a:bodyPr>
          <a:lstStyle/>
          <a:p>
            <a:pPr algn="ctr">
              <a:lnSpc>
                <a:spcPts val="3999"/>
              </a:lnSpc>
            </a:pPr>
            <a:r>
              <a:rPr lang="en-US" sz="3999" spc="79">
                <a:solidFill>
                  <a:srgbClr val="F8F3ED"/>
                </a:solidFill>
                <a:latin typeface="Sugo Classic"/>
                <a:ea typeface="Sugo Classic"/>
                <a:cs typeface="Sugo Classic"/>
                <a:sym typeface="Sugo Classic"/>
              </a:rPr>
              <a:t>Jaisurya S - 23MIC0103</a:t>
            </a:r>
          </a:p>
          <a:p>
            <a:pPr algn="ctr">
              <a:lnSpc>
                <a:spcPts val="3999"/>
              </a:lnSpc>
            </a:pPr>
            <a:r>
              <a:rPr lang="en-US" sz="3999" spc="79">
                <a:solidFill>
                  <a:srgbClr val="F8F3ED"/>
                </a:solidFill>
                <a:latin typeface="Sugo Classic"/>
                <a:ea typeface="Sugo Classic"/>
                <a:cs typeface="Sugo Classic"/>
                <a:sym typeface="Sugo Classic"/>
              </a:rPr>
              <a:t>Kaleeshwar K - 23MID011</a:t>
            </a:r>
          </a:p>
          <a:p>
            <a:pPr algn="ctr">
              <a:lnSpc>
                <a:spcPts val="3999"/>
              </a:lnSpc>
            </a:pPr>
            <a:r>
              <a:rPr lang="en-US" sz="3999" spc="79">
                <a:solidFill>
                  <a:srgbClr val="F8F3ED"/>
                </a:solidFill>
                <a:latin typeface="Sugo Classic"/>
                <a:ea typeface="Sugo Classic"/>
                <a:cs typeface="Sugo Classic"/>
                <a:sym typeface="Sugo Classic"/>
              </a:rPr>
              <a:t>Sankavi M - 23MIC0126</a:t>
            </a:r>
          </a:p>
          <a:p>
            <a:pPr algn="ctr">
              <a:lnSpc>
                <a:spcPts val="3999"/>
              </a:lnSpc>
            </a:pPr>
            <a:r>
              <a:rPr lang="en-US" sz="3999" spc="79">
                <a:solidFill>
                  <a:srgbClr val="F8F3ED"/>
                </a:solidFill>
                <a:latin typeface="Sugo Classic"/>
                <a:ea typeface="Sugo Classic"/>
                <a:cs typeface="Sugo Classic"/>
                <a:sym typeface="Sugo Classic"/>
              </a:rPr>
              <a:t>Monika G K - 23MID002</a:t>
            </a:r>
          </a:p>
          <a:p>
            <a:pPr algn="ctr">
              <a:lnSpc>
                <a:spcPts val="3999"/>
              </a:lnSpc>
            </a:pPr>
            <a:r>
              <a:rPr lang="en-US" sz="3999" spc="79">
                <a:solidFill>
                  <a:srgbClr val="F8F3ED"/>
                </a:solidFill>
                <a:latin typeface="Sugo Classic"/>
                <a:ea typeface="Sugo Classic"/>
                <a:cs typeface="Sugo Classic"/>
                <a:sym typeface="Sugo Classic"/>
              </a:rPr>
              <a:t>Team - SJT04</a:t>
            </a:r>
          </a:p>
          <a:p>
            <a:pPr algn="ctr">
              <a:lnSpc>
                <a:spcPts val="3999"/>
              </a:lnSpc>
            </a:pPr>
          </a:p>
          <a:p>
            <a:pPr algn="ctr">
              <a:lnSpc>
                <a:spcPts val="3999"/>
              </a:lnSpc>
            </a:pPr>
            <a:r>
              <a:rPr lang="en-US" sz="3999" spc="79">
                <a:solidFill>
                  <a:srgbClr val="F8F3ED"/>
                </a:solidFill>
                <a:latin typeface="Sugo Classic"/>
                <a:ea typeface="Sugo Classic"/>
                <a:cs typeface="Sugo Classic"/>
                <a:sym typeface="Sugo Classic"/>
              </a:rPr>
              <a:t>Under the guidance of </a:t>
            </a:r>
          </a:p>
          <a:p>
            <a:pPr algn="ctr">
              <a:lnSpc>
                <a:spcPts val="3999"/>
              </a:lnSpc>
            </a:pPr>
            <a:r>
              <a:rPr lang="en-US" sz="3999" spc="79">
                <a:solidFill>
                  <a:srgbClr val="F8F3ED"/>
                </a:solidFill>
                <a:latin typeface="Sugo Classic"/>
                <a:ea typeface="Sugo Classic"/>
                <a:cs typeface="Sugo Classic"/>
                <a:sym typeface="Sugo Classic"/>
              </a:rPr>
              <a:t>Prof Sudhakar Pandian R / Professor - Scope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6211307" y="-62913"/>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6799">
            <a:off x="-3311352" y="-33101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4" id="4"/>
          <p:cNvGrpSpPr/>
          <p:nvPr/>
        </p:nvGrpSpPr>
        <p:grpSpPr>
          <a:xfrm rot="-577747">
            <a:off x="-2005009" y="-313325"/>
            <a:ext cx="5062044" cy="3536331"/>
            <a:chOff x="0" y="0"/>
            <a:chExt cx="1333213" cy="931379"/>
          </a:xfrm>
        </p:grpSpPr>
        <p:sp>
          <p:nvSpPr>
            <p:cNvPr name="Freeform 5" id="5"/>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6" id="6"/>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577747">
            <a:off x="2082829" y="-657637"/>
            <a:ext cx="945204" cy="3536331"/>
            <a:chOff x="0" y="0"/>
            <a:chExt cx="248943" cy="931379"/>
          </a:xfrm>
        </p:grpSpPr>
        <p:sp>
          <p:nvSpPr>
            <p:cNvPr name="Freeform 8" id="8"/>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9" id="9"/>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11" id="11"/>
          <p:cNvGrpSpPr/>
          <p:nvPr/>
        </p:nvGrpSpPr>
        <p:grpSpPr>
          <a:xfrm rot="-577747">
            <a:off x="-1286473" y="8720319"/>
            <a:ext cx="5062044" cy="3536331"/>
            <a:chOff x="0" y="0"/>
            <a:chExt cx="1333213" cy="931379"/>
          </a:xfrm>
        </p:grpSpPr>
        <p:sp>
          <p:nvSpPr>
            <p:cNvPr name="Freeform 12" id="12"/>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3" id="13"/>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77747">
            <a:off x="-472602" y="8931281"/>
            <a:ext cx="945204" cy="3536331"/>
            <a:chOff x="0" y="0"/>
            <a:chExt cx="248943" cy="931379"/>
          </a:xfrm>
        </p:grpSpPr>
        <p:sp>
          <p:nvSpPr>
            <p:cNvPr name="Freeform 15" id="15"/>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16" id="16"/>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596799">
            <a:off x="-1976365" y="3913436"/>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18" id="18"/>
          <p:cNvGrpSpPr/>
          <p:nvPr/>
        </p:nvGrpSpPr>
        <p:grpSpPr>
          <a:xfrm rot="-577747">
            <a:off x="-670023" y="3931123"/>
            <a:ext cx="5062044" cy="3536331"/>
            <a:chOff x="0" y="0"/>
            <a:chExt cx="1333213" cy="931379"/>
          </a:xfrm>
        </p:grpSpPr>
        <p:sp>
          <p:nvSpPr>
            <p:cNvPr name="Freeform 19" id="19"/>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0" id="20"/>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4821976">
            <a:off x="2005816" y="4782749"/>
            <a:ext cx="433804" cy="4854674"/>
            <a:chOff x="0" y="0"/>
            <a:chExt cx="114253" cy="1278597"/>
          </a:xfrm>
        </p:grpSpPr>
        <p:sp>
          <p:nvSpPr>
            <p:cNvPr name="Freeform 22" id="22"/>
            <p:cNvSpPr/>
            <p:nvPr/>
          </p:nvSpPr>
          <p:spPr>
            <a:xfrm flipH="false" flipV="false" rot="0">
              <a:off x="0" y="0"/>
              <a:ext cx="114253" cy="1278597"/>
            </a:xfrm>
            <a:custGeom>
              <a:avLst/>
              <a:gdLst/>
              <a:ahLst/>
              <a:cxnLst/>
              <a:rect r="r" b="b" t="t" l="l"/>
              <a:pathLst>
                <a:path h="1278597" w="114253">
                  <a:moveTo>
                    <a:pt x="57127" y="0"/>
                  </a:moveTo>
                  <a:lnTo>
                    <a:pt x="57127" y="0"/>
                  </a:lnTo>
                  <a:cubicBezTo>
                    <a:pt x="72277" y="0"/>
                    <a:pt x="86808" y="6019"/>
                    <a:pt x="97521" y="16732"/>
                  </a:cubicBezTo>
                  <a:cubicBezTo>
                    <a:pt x="108234" y="27445"/>
                    <a:pt x="114253" y="41976"/>
                    <a:pt x="114253" y="57127"/>
                  </a:cubicBezTo>
                  <a:lnTo>
                    <a:pt x="114253" y="1221471"/>
                  </a:lnTo>
                  <a:cubicBezTo>
                    <a:pt x="114253" y="1253021"/>
                    <a:pt x="88677" y="1278597"/>
                    <a:pt x="57127" y="1278597"/>
                  </a:cubicBezTo>
                  <a:lnTo>
                    <a:pt x="57127" y="1278597"/>
                  </a:lnTo>
                  <a:cubicBezTo>
                    <a:pt x="25576" y="1278597"/>
                    <a:pt x="0" y="1253021"/>
                    <a:pt x="0" y="1221471"/>
                  </a:cubicBezTo>
                  <a:lnTo>
                    <a:pt x="0" y="57127"/>
                  </a:lnTo>
                  <a:cubicBezTo>
                    <a:pt x="0" y="25576"/>
                    <a:pt x="25576" y="0"/>
                    <a:pt x="57127" y="0"/>
                  </a:cubicBezTo>
                  <a:close/>
                </a:path>
              </a:pathLst>
            </a:custGeom>
            <a:solidFill>
              <a:srgbClr val="D8DCA6"/>
            </a:solidFill>
          </p:spPr>
        </p:sp>
        <p:sp>
          <p:nvSpPr>
            <p:cNvPr name="TextBox 23" id="23"/>
            <p:cNvSpPr txBox="true"/>
            <p:nvPr/>
          </p:nvSpPr>
          <p:spPr>
            <a:xfrm>
              <a:off x="0" y="-38100"/>
              <a:ext cx="114253" cy="1316697"/>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0">
            <a:off x="15635662" y="-173546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15635662" y="835763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516964">
            <a:off x="323777" y="4450669"/>
            <a:ext cx="2936620" cy="2103688"/>
          </a:xfrm>
          <a:custGeom>
            <a:avLst/>
            <a:gdLst/>
            <a:ahLst/>
            <a:cxnLst/>
            <a:rect r="r" b="b" t="t" l="l"/>
            <a:pathLst>
              <a:path h="2103688" w="2936620">
                <a:moveTo>
                  <a:pt x="0" y="0"/>
                </a:moveTo>
                <a:lnTo>
                  <a:pt x="2936620" y="0"/>
                </a:lnTo>
                <a:lnTo>
                  <a:pt x="2936620" y="2103688"/>
                </a:lnTo>
                <a:lnTo>
                  <a:pt x="0" y="21036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546715">
            <a:off x="94271" y="407295"/>
            <a:ext cx="1241921" cy="2057400"/>
          </a:xfrm>
          <a:custGeom>
            <a:avLst/>
            <a:gdLst/>
            <a:ahLst/>
            <a:cxnLst/>
            <a:rect r="r" b="b" t="t" l="l"/>
            <a:pathLst>
              <a:path h="2057400" w="1241921">
                <a:moveTo>
                  <a:pt x="0" y="0"/>
                </a:moveTo>
                <a:lnTo>
                  <a:pt x="1241922" y="0"/>
                </a:lnTo>
                <a:lnTo>
                  <a:pt x="1241922" y="2057400"/>
                </a:lnTo>
                <a:lnTo>
                  <a:pt x="0" y="2057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543533">
            <a:off x="975643" y="8961508"/>
            <a:ext cx="2171960" cy="1544066"/>
          </a:xfrm>
          <a:custGeom>
            <a:avLst/>
            <a:gdLst/>
            <a:ahLst/>
            <a:cxnLst/>
            <a:rect r="r" b="b" t="t" l="l"/>
            <a:pathLst>
              <a:path h="1544066" w="2171960">
                <a:moveTo>
                  <a:pt x="0" y="0"/>
                </a:moveTo>
                <a:lnTo>
                  <a:pt x="2171959" y="0"/>
                </a:lnTo>
                <a:lnTo>
                  <a:pt x="2171959" y="1544066"/>
                </a:lnTo>
                <a:lnTo>
                  <a:pt x="0" y="15440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9" id="29"/>
          <p:cNvSpPr txBox="true"/>
          <p:nvPr/>
        </p:nvSpPr>
        <p:spPr>
          <a:xfrm rot="0">
            <a:off x="7177802" y="3442735"/>
            <a:ext cx="10515261" cy="3571066"/>
          </a:xfrm>
          <a:prstGeom prst="rect">
            <a:avLst/>
          </a:prstGeom>
        </p:spPr>
        <p:txBody>
          <a:bodyPr anchor="t" rtlCol="false" tIns="0" lIns="0" bIns="0" rIns="0">
            <a:spAutoFit/>
          </a:bodyPr>
          <a:lstStyle/>
          <a:p>
            <a:pPr algn="l">
              <a:lnSpc>
                <a:spcPts val="3220"/>
              </a:lnSpc>
            </a:pPr>
            <a:r>
              <a:rPr lang="en-US" sz="2385" spc="143">
                <a:solidFill>
                  <a:srgbClr val="F8F3ED"/>
                </a:solidFill>
                <a:latin typeface="Open Sans"/>
                <a:ea typeface="Open Sans"/>
                <a:cs typeface="Open Sans"/>
                <a:sym typeface="Open Sans"/>
              </a:rPr>
              <a:t>Traffic congestion is a major problem in urban areas due to increasing vehicle population.</a:t>
            </a:r>
          </a:p>
          <a:p>
            <a:pPr algn="l">
              <a:lnSpc>
                <a:spcPts val="3220"/>
              </a:lnSpc>
            </a:pPr>
          </a:p>
          <a:p>
            <a:pPr algn="l">
              <a:lnSpc>
                <a:spcPts val="3220"/>
              </a:lnSpc>
            </a:pPr>
            <a:r>
              <a:rPr lang="en-US" sz="2385" spc="143">
                <a:solidFill>
                  <a:srgbClr val="F8F3ED"/>
                </a:solidFill>
                <a:latin typeface="Open Sans"/>
                <a:ea typeface="Open Sans"/>
                <a:cs typeface="Open Sans"/>
                <a:sym typeface="Open Sans"/>
              </a:rPr>
              <a:t>Traditional traffic light systems use fixed-time signals, which are inefficient during varying traffic conditions.</a:t>
            </a:r>
          </a:p>
          <a:p>
            <a:pPr algn="l">
              <a:lnSpc>
                <a:spcPts val="3220"/>
              </a:lnSpc>
            </a:pPr>
            <a:r>
              <a:rPr lang="en-US" sz="2385" spc="143">
                <a:solidFill>
                  <a:srgbClr val="F8F3ED"/>
                </a:solidFill>
                <a:latin typeface="Open Sans"/>
                <a:ea typeface="Open Sans"/>
                <a:cs typeface="Open Sans"/>
                <a:sym typeface="Open Sans"/>
              </a:rPr>
              <a:t>To overcome this issue, fuzzy logic is used to design an intelligent traffic light controller that adapts signal timing based on real-time traffic density, similar to human decision-making.</a:t>
            </a:r>
          </a:p>
          <a:p>
            <a:pPr algn="l">
              <a:lnSpc>
                <a:spcPts val="3220"/>
              </a:lnSpc>
            </a:pPr>
          </a:p>
        </p:txBody>
      </p:sp>
      <p:sp>
        <p:nvSpPr>
          <p:cNvPr name="TextBox 30" id="30"/>
          <p:cNvSpPr txBox="true"/>
          <p:nvPr/>
        </p:nvSpPr>
        <p:spPr>
          <a:xfrm rot="0">
            <a:off x="7177802" y="1750583"/>
            <a:ext cx="6441589" cy="1390861"/>
          </a:xfrm>
          <a:prstGeom prst="rect">
            <a:avLst/>
          </a:prstGeom>
        </p:spPr>
        <p:txBody>
          <a:bodyPr anchor="t" rtlCol="false" tIns="0" lIns="0" bIns="0" rIns="0">
            <a:spAutoFit/>
          </a:bodyPr>
          <a:lstStyle/>
          <a:p>
            <a:pPr algn="l">
              <a:lnSpc>
                <a:spcPts val="9999"/>
              </a:lnSpc>
            </a:pPr>
            <a:r>
              <a:rPr lang="en-US" b="true" sz="9999" spc="199">
                <a:solidFill>
                  <a:srgbClr val="F8F3ED"/>
                </a:solidFill>
                <a:latin typeface="Sugo Classic Bold"/>
                <a:ea typeface="Sugo Classic Bold"/>
                <a:cs typeface="Sugo Classic Bold"/>
                <a:sym typeface="Sugo Classic Bold"/>
              </a:rPr>
              <a:t>INTRODUCTION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14085623" y="-135779"/>
            <a:ext cx="10558558" cy="10558558"/>
          </a:xfrm>
          <a:custGeom>
            <a:avLst/>
            <a:gdLst/>
            <a:ahLst/>
            <a:cxnLst/>
            <a:rect r="r" b="b" t="t" l="l"/>
            <a:pathLst>
              <a:path h="10558558" w="10558558">
                <a:moveTo>
                  <a:pt x="0" y="0"/>
                </a:moveTo>
                <a:lnTo>
                  <a:pt x="10558558" y="0"/>
                </a:lnTo>
                <a:lnTo>
                  <a:pt x="10558558" y="10558558"/>
                </a:lnTo>
                <a:lnTo>
                  <a:pt x="0" y="10558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96799">
            <a:off x="13636910" y="5279113"/>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4" id="4"/>
          <p:cNvGrpSpPr/>
          <p:nvPr/>
        </p:nvGrpSpPr>
        <p:grpSpPr>
          <a:xfrm rot="-577747">
            <a:off x="13912200" y="5536870"/>
            <a:ext cx="5062044" cy="4189837"/>
            <a:chOff x="0" y="0"/>
            <a:chExt cx="1333213" cy="1103496"/>
          </a:xfrm>
        </p:grpSpPr>
        <p:sp>
          <p:nvSpPr>
            <p:cNvPr name="Freeform 5" id="5"/>
            <p:cNvSpPr/>
            <p:nvPr/>
          </p:nvSpPr>
          <p:spPr>
            <a:xfrm flipH="false" flipV="false" rot="0">
              <a:off x="0" y="0"/>
              <a:ext cx="1333213" cy="1103496"/>
            </a:xfrm>
            <a:custGeom>
              <a:avLst/>
              <a:gdLst/>
              <a:ahLst/>
              <a:cxnLst/>
              <a:rect r="r" b="b" t="t" l="l"/>
              <a:pathLst>
                <a:path h="1103496" w="1333213">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6" id="6"/>
            <p:cNvSpPr txBox="true"/>
            <p:nvPr/>
          </p:nvSpPr>
          <p:spPr>
            <a:xfrm>
              <a:off x="0" y="-38100"/>
              <a:ext cx="1333213" cy="11415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true" flipV="false" rot="-596799">
            <a:off x="14910558" y="30965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8" id="8"/>
          <p:cNvGrpSpPr/>
          <p:nvPr/>
        </p:nvGrpSpPr>
        <p:grpSpPr>
          <a:xfrm rot="-577747">
            <a:off x="15483130" y="4101669"/>
            <a:ext cx="5062044" cy="603669"/>
            <a:chOff x="0" y="0"/>
            <a:chExt cx="1333213" cy="158991"/>
          </a:xfrm>
        </p:grpSpPr>
        <p:sp>
          <p:nvSpPr>
            <p:cNvPr name="Freeform 9" id="9"/>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10" id="10"/>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77747">
            <a:off x="15147467" y="681914"/>
            <a:ext cx="5062044" cy="3536331"/>
            <a:chOff x="0" y="0"/>
            <a:chExt cx="1333213" cy="931379"/>
          </a:xfrm>
        </p:grpSpPr>
        <p:sp>
          <p:nvSpPr>
            <p:cNvPr name="Freeform 12" id="12"/>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3" id="13"/>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400175" y="1750583"/>
            <a:ext cx="6441589" cy="1395941"/>
          </a:xfrm>
          <a:prstGeom prst="rect">
            <a:avLst/>
          </a:prstGeom>
        </p:spPr>
        <p:txBody>
          <a:bodyPr anchor="t" rtlCol="false" tIns="0" lIns="0" bIns="0" rIns="0">
            <a:spAutoFit/>
          </a:bodyPr>
          <a:lstStyle/>
          <a:p>
            <a:pPr algn="l">
              <a:lnSpc>
                <a:spcPts val="9999"/>
              </a:lnSpc>
            </a:pPr>
            <a:r>
              <a:rPr lang="en-US" b="true" sz="9999" spc="199">
                <a:solidFill>
                  <a:srgbClr val="F8F3ED"/>
                </a:solidFill>
                <a:latin typeface="Sugo Classic Bold"/>
                <a:ea typeface="Sugo Classic Bold"/>
                <a:cs typeface="Sugo Classic Bold"/>
                <a:sym typeface="Sugo Classic Bold"/>
              </a:rPr>
              <a:t>ABSTRACT</a:t>
            </a:r>
          </a:p>
        </p:txBody>
      </p:sp>
      <p:sp>
        <p:nvSpPr>
          <p:cNvPr name="Freeform 15" id="15"/>
          <p:cNvSpPr/>
          <p:nvPr/>
        </p:nvSpPr>
        <p:spPr>
          <a:xfrm flipH="false" flipV="false" rot="0">
            <a:off x="-2057400" y="-219317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57225" y="89645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571633">
            <a:off x="15973425" y="1675256"/>
            <a:ext cx="2571750" cy="2057400"/>
          </a:xfrm>
          <a:custGeom>
            <a:avLst/>
            <a:gdLst/>
            <a:ahLst/>
            <a:cxnLst/>
            <a:rect r="r" b="b" t="t" l="l"/>
            <a:pathLst>
              <a:path h="2057400" w="2571750">
                <a:moveTo>
                  <a:pt x="0" y="0"/>
                </a:moveTo>
                <a:lnTo>
                  <a:pt x="2571750" y="0"/>
                </a:lnTo>
                <a:lnTo>
                  <a:pt x="2571750"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519783">
            <a:off x="15113738" y="6229800"/>
            <a:ext cx="2769097" cy="2836133"/>
          </a:xfrm>
          <a:custGeom>
            <a:avLst/>
            <a:gdLst/>
            <a:ahLst/>
            <a:cxnLst/>
            <a:rect r="r" b="b" t="t" l="l"/>
            <a:pathLst>
              <a:path h="2836133" w="2769097">
                <a:moveTo>
                  <a:pt x="0" y="0"/>
                </a:moveTo>
                <a:lnTo>
                  <a:pt x="2769098" y="0"/>
                </a:lnTo>
                <a:lnTo>
                  <a:pt x="2769098" y="2836133"/>
                </a:lnTo>
                <a:lnTo>
                  <a:pt x="0" y="28361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1400175" y="3452260"/>
            <a:ext cx="10559318" cy="4774143"/>
          </a:xfrm>
          <a:prstGeom prst="rect">
            <a:avLst/>
          </a:prstGeom>
        </p:spPr>
        <p:txBody>
          <a:bodyPr anchor="t" rtlCol="false" tIns="0" lIns="0" bIns="0" rIns="0">
            <a:spAutoFit/>
          </a:bodyPr>
          <a:lstStyle/>
          <a:p>
            <a:pPr algn="l">
              <a:lnSpc>
                <a:spcPts val="3233"/>
              </a:lnSpc>
            </a:pPr>
          </a:p>
          <a:p>
            <a:pPr algn="l">
              <a:lnSpc>
                <a:spcPts val="3233"/>
              </a:lnSpc>
            </a:pPr>
            <a:r>
              <a:rPr lang="en-US" sz="2395" spc="143">
                <a:solidFill>
                  <a:srgbClr val="F8F3ED"/>
                </a:solidFill>
                <a:latin typeface="Open Sans"/>
                <a:ea typeface="Open Sans"/>
                <a:cs typeface="Open Sans"/>
                <a:sym typeface="Open Sans"/>
              </a:rPr>
              <a:t> This project presents a Fuzzy Logic–based Traffic Light Control System that dynamically adjusts green signal duration according to traffic density. Unlike conventional fixed-time systems, the fuzzy controller uses linguistic variables such as low, medium, and high traffic to make intelligent decisions. The system improves traffic flow, reduces waiting time, and enhances overall traffic efficiency.</a:t>
            </a:r>
          </a:p>
          <a:p>
            <a:pPr algn="l">
              <a:lnSpc>
                <a:spcPts val="3233"/>
              </a:lnSpc>
            </a:pPr>
            <a:r>
              <a:rPr lang="en-US" sz="2395" spc="143">
                <a:solidFill>
                  <a:srgbClr val="F8F3ED"/>
                </a:solidFill>
                <a:latin typeface="Open Sans"/>
                <a:ea typeface="Open Sans"/>
                <a:cs typeface="Open Sans"/>
                <a:sym typeface="Open Sans"/>
              </a:rPr>
              <a:t>Keywords:</a:t>
            </a:r>
          </a:p>
          <a:p>
            <a:pPr algn="l">
              <a:lnSpc>
                <a:spcPts val="3233"/>
              </a:lnSpc>
            </a:pPr>
            <a:r>
              <a:rPr lang="en-US" sz="2395" spc="143">
                <a:solidFill>
                  <a:srgbClr val="F8F3ED"/>
                </a:solidFill>
                <a:latin typeface="Open Sans"/>
                <a:ea typeface="Open Sans"/>
                <a:cs typeface="Open Sans"/>
                <a:sym typeface="Open Sans"/>
              </a:rPr>
              <a:t> Fuzzy Logic, Traffic Control System, Intelligent Systems, Soft Computing, Signal Optimization</a:t>
            </a:r>
          </a:p>
          <a:p>
            <a:pPr algn="l">
              <a:lnSpc>
                <a:spcPts val="323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grpSp>
        <p:nvGrpSpPr>
          <p:cNvPr name="Group 2" id="2"/>
          <p:cNvGrpSpPr/>
          <p:nvPr/>
        </p:nvGrpSpPr>
        <p:grpSpPr>
          <a:xfrm rot="-181154">
            <a:off x="-175010" y="8458500"/>
            <a:ext cx="20621450" cy="10320250"/>
            <a:chOff x="0" y="0"/>
            <a:chExt cx="27495267" cy="13760333"/>
          </a:xfrm>
        </p:grpSpPr>
        <p:sp>
          <p:nvSpPr>
            <p:cNvPr name="Freeform 3" id="3"/>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5428">
            <a:off x="1021137" y="8365667"/>
            <a:ext cx="5062044" cy="603669"/>
            <a:chOff x="0" y="0"/>
            <a:chExt cx="1333213" cy="158991"/>
          </a:xfrm>
        </p:grpSpPr>
        <p:sp>
          <p:nvSpPr>
            <p:cNvPr name="Freeform 6" id="6"/>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F6CEAD"/>
            </a:solidFill>
          </p:spPr>
        </p:sp>
        <p:sp>
          <p:nvSpPr>
            <p:cNvPr name="TextBox 7" id="7"/>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28">
            <a:off x="1020083" y="4917282"/>
            <a:ext cx="5062044" cy="3536331"/>
            <a:chOff x="0" y="0"/>
            <a:chExt cx="1333213" cy="931379"/>
          </a:xfrm>
        </p:grpSpPr>
        <p:sp>
          <p:nvSpPr>
            <p:cNvPr name="Freeform 9" id="9"/>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0" id="10"/>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28">
            <a:off x="6607716" y="8365667"/>
            <a:ext cx="5062044" cy="603669"/>
            <a:chOff x="0" y="0"/>
            <a:chExt cx="1333213" cy="158991"/>
          </a:xfrm>
        </p:grpSpPr>
        <p:sp>
          <p:nvSpPr>
            <p:cNvPr name="Freeform 12" id="12"/>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F6CEAD"/>
            </a:solidFill>
          </p:spPr>
        </p:sp>
        <p:sp>
          <p:nvSpPr>
            <p:cNvPr name="TextBox 13" id="13"/>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28">
            <a:off x="6610032" y="4917282"/>
            <a:ext cx="5062044" cy="3536331"/>
            <a:chOff x="0" y="0"/>
            <a:chExt cx="1333213" cy="931379"/>
          </a:xfrm>
        </p:grpSpPr>
        <p:sp>
          <p:nvSpPr>
            <p:cNvPr name="Freeform 15" id="15"/>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6" id="16"/>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5428">
            <a:off x="12196783" y="8461605"/>
            <a:ext cx="5062044" cy="603669"/>
            <a:chOff x="0" y="0"/>
            <a:chExt cx="1333213" cy="158991"/>
          </a:xfrm>
        </p:grpSpPr>
        <p:sp>
          <p:nvSpPr>
            <p:cNvPr name="Freeform 18" id="18"/>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F6CEAD"/>
            </a:solidFill>
          </p:spPr>
        </p:sp>
        <p:sp>
          <p:nvSpPr>
            <p:cNvPr name="TextBox 19" id="19"/>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5428">
            <a:off x="12086811" y="4917282"/>
            <a:ext cx="5062044" cy="3536331"/>
            <a:chOff x="0" y="0"/>
            <a:chExt cx="1333213" cy="931379"/>
          </a:xfrm>
        </p:grpSpPr>
        <p:sp>
          <p:nvSpPr>
            <p:cNvPr name="Freeform 21" id="21"/>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2" id="22"/>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204695">
            <a:off x="-1866489" y="-9488422"/>
            <a:ext cx="20621450" cy="10320250"/>
            <a:chOff x="0" y="0"/>
            <a:chExt cx="27495267" cy="13760333"/>
          </a:xfrm>
        </p:grpSpPr>
        <p:sp>
          <p:nvSpPr>
            <p:cNvPr name="Freeform 24" id="24"/>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26" id="26"/>
          <p:cNvSpPr/>
          <p:nvPr/>
        </p:nvSpPr>
        <p:spPr>
          <a:xfrm flipH="false" flipV="false" rot="0">
            <a:off x="-2512533" y="1729716"/>
            <a:ext cx="3413784" cy="3413784"/>
          </a:xfrm>
          <a:custGeom>
            <a:avLst/>
            <a:gdLst/>
            <a:ahLst/>
            <a:cxnLst/>
            <a:rect r="r" b="b" t="t" l="l"/>
            <a:pathLst>
              <a:path h="3413784" w="3413784">
                <a:moveTo>
                  <a:pt x="0" y="0"/>
                </a:moveTo>
                <a:lnTo>
                  <a:pt x="3413783" y="0"/>
                </a:lnTo>
                <a:lnTo>
                  <a:pt x="3413783" y="3413784"/>
                </a:lnTo>
                <a:lnTo>
                  <a:pt x="0" y="3413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16853481" y="1028700"/>
            <a:ext cx="2869039" cy="2869039"/>
          </a:xfrm>
          <a:custGeom>
            <a:avLst/>
            <a:gdLst/>
            <a:ahLst/>
            <a:cxnLst/>
            <a:rect r="r" b="b" t="t" l="l"/>
            <a:pathLst>
              <a:path h="2869039" w="2869039">
                <a:moveTo>
                  <a:pt x="0" y="0"/>
                </a:moveTo>
                <a:lnTo>
                  <a:pt x="2869038" y="0"/>
                </a:lnTo>
                <a:lnTo>
                  <a:pt x="2869038" y="2869039"/>
                </a:lnTo>
                <a:lnTo>
                  <a:pt x="0" y="28690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2696163" y="3436608"/>
            <a:ext cx="1862463" cy="2236582"/>
          </a:xfrm>
          <a:custGeom>
            <a:avLst/>
            <a:gdLst/>
            <a:ahLst/>
            <a:cxnLst/>
            <a:rect r="r" b="b" t="t" l="l"/>
            <a:pathLst>
              <a:path h="2236582" w="1862463">
                <a:moveTo>
                  <a:pt x="0" y="0"/>
                </a:moveTo>
                <a:lnTo>
                  <a:pt x="1862463" y="0"/>
                </a:lnTo>
                <a:lnTo>
                  <a:pt x="1862463" y="2236582"/>
                </a:lnTo>
                <a:lnTo>
                  <a:pt x="0" y="22365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8202014" y="3816733"/>
            <a:ext cx="1880603" cy="1926130"/>
          </a:xfrm>
          <a:custGeom>
            <a:avLst/>
            <a:gdLst/>
            <a:ahLst/>
            <a:cxnLst/>
            <a:rect r="r" b="b" t="t" l="l"/>
            <a:pathLst>
              <a:path h="1926130" w="1880603">
                <a:moveTo>
                  <a:pt x="0" y="0"/>
                </a:moveTo>
                <a:lnTo>
                  <a:pt x="1880603" y="0"/>
                </a:lnTo>
                <a:lnTo>
                  <a:pt x="1880603" y="1926130"/>
                </a:lnTo>
                <a:lnTo>
                  <a:pt x="0" y="19261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13789415" y="4019896"/>
            <a:ext cx="1656836" cy="1786784"/>
          </a:xfrm>
          <a:custGeom>
            <a:avLst/>
            <a:gdLst/>
            <a:ahLst/>
            <a:cxnLst/>
            <a:rect r="r" b="b" t="t" l="l"/>
            <a:pathLst>
              <a:path h="1786784" w="1656836">
                <a:moveTo>
                  <a:pt x="0" y="0"/>
                </a:moveTo>
                <a:lnTo>
                  <a:pt x="1656836" y="0"/>
                </a:lnTo>
                <a:lnTo>
                  <a:pt x="1656836" y="1786784"/>
                </a:lnTo>
                <a:lnTo>
                  <a:pt x="0" y="17867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1" id="31"/>
          <p:cNvSpPr txBox="true"/>
          <p:nvPr/>
        </p:nvSpPr>
        <p:spPr>
          <a:xfrm rot="0">
            <a:off x="1518239" y="5698584"/>
            <a:ext cx="4223490" cy="3032760"/>
          </a:xfrm>
          <a:prstGeom prst="rect">
            <a:avLst/>
          </a:prstGeom>
        </p:spPr>
        <p:txBody>
          <a:bodyPr anchor="t" rtlCol="false" tIns="0" lIns="0" bIns="0" rIns="0">
            <a:spAutoFit/>
          </a:bodyPr>
          <a:lstStyle/>
          <a:p>
            <a:pPr algn="ctr">
              <a:lnSpc>
                <a:spcPts val="2430"/>
              </a:lnSpc>
            </a:pPr>
            <a:r>
              <a:rPr lang="en-US" sz="1800" spc="108">
                <a:solidFill>
                  <a:srgbClr val="74A8B3"/>
                </a:solidFill>
                <a:latin typeface="Open Sans"/>
                <a:ea typeface="Open Sans"/>
                <a:cs typeface="Open Sans"/>
                <a:sym typeface="Open Sans"/>
              </a:rPr>
              <a:t>Key Studies</a:t>
            </a:r>
          </a:p>
          <a:p>
            <a:pPr algn="ctr" marL="388622" indent="-194311" lvl="1">
              <a:lnSpc>
                <a:spcPts val="2430"/>
              </a:lnSpc>
              <a:buFont typeface="Arial"/>
              <a:buChar char="•"/>
            </a:pPr>
            <a:r>
              <a:rPr lang="en-US" sz="1800" spc="108">
                <a:solidFill>
                  <a:srgbClr val="74A8B3"/>
                </a:solidFill>
                <a:latin typeface="Open Sans"/>
                <a:ea typeface="Open Sans"/>
                <a:cs typeface="Open Sans"/>
                <a:sym typeface="Open Sans"/>
              </a:rPr>
              <a:t>Zadeh (1965) – Introduced the concept of Fuzzy Logic</a:t>
            </a:r>
          </a:p>
          <a:p>
            <a:pPr algn="ctr" marL="388622" indent="-194311" lvl="1">
              <a:lnSpc>
                <a:spcPts val="2430"/>
              </a:lnSpc>
              <a:buFont typeface="Arial"/>
              <a:buChar char="•"/>
            </a:pPr>
            <a:r>
              <a:rPr lang="en-US" sz="1800" spc="108">
                <a:solidFill>
                  <a:srgbClr val="74A8B3"/>
                </a:solidFill>
                <a:latin typeface="Open Sans"/>
                <a:ea typeface="Open Sans"/>
                <a:cs typeface="Open Sans"/>
                <a:sym typeface="Open Sans"/>
              </a:rPr>
              <a:t>Pappis &amp; Mamdani (1977) – Applied fuzzy logic to traffic signal control</a:t>
            </a:r>
          </a:p>
          <a:p>
            <a:pPr algn="ctr" marL="388622" indent="-194311" lvl="1">
              <a:lnSpc>
                <a:spcPts val="2430"/>
              </a:lnSpc>
              <a:buFont typeface="Arial"/>
              <a:buChar char="•"/>
            </a:pPr>
            <a:r>
              <a:rPr lang="en-US" sz="1800" spc="108">
                <a:solidFill>
                  <a:srgbClr val="74A8B3"/>
                </a:solidFill>
                <a:latin typeface="Open Sans"/>
                <a:ea typeface="Open Sans"/>
                <a:cs typeface="Open Sans"/>
                <a:sym typeface="Open Sans"/>
              </a:rPr>
              <a:t>Kaur et al. (2019) – Proposed adaptive fuzzy traffic systems for urban roads</a:t>
            </a:r>
          </a:p>
          <a:p>
            <a:pPr algn="ctr">
              <a:lnSpc>
                <a:spcPts val="2430"/>
              </a:lnSpc>
            </a:pPr>
          </a:p>
        </p:txBody>
      </p:sp>
      <p:sp>
        <p:nvSpPr>
          <p:cNvPr name="TextBox 32" id="32"/>
          <p:cNvSpPr txBox="true"/>
          <p:nvPr/>
        </p:nvSpPr>
        <p:spPr>
          <a:xfrm rot="0">
            <a:off x="4116951" y="1162050"/>
            <a:ext cx="10050728" cy="1395941"/>
          </a:xfrm>
          <a:prstGeom prst="rect">
            <a:avLst/>
          </a:prstGeom>
        </p:spPr>
        <p:txBody>
          <a:bodyPr anchor="t" rtlCol="false" tIns="0" lIns="0" bIns="0" rIns="0">
            <a:spAutoFit/>
          </a:bodyPr>
          <a:lstStyle/>
          <a:p>
            <a:pPr algn="ctr">
              <a:lnSpc>
                <a:spcPts val="9999"/>
              </a:lnSpc>
            </a:pPr>
            <a:r>
              <a:rPr lang="en-US" b="true" sz="9999" spc="199">
                <a:solidFill>
                  <a:srgbClr val="F8F3ED"/>
                </a:solidFill>
                <a:latin typeface="Sugo Classic Bold"/>
                <a:ea typeface="Sugo Classic Bold"/>
                <a:cs typeface="Sugo Classic Bold"/>
                <a:sym typeface="Sugo Classic Bold"/>
              </a:rPr>
              <a:t>LITERATURE REVIEW</a:t>
            </a:r>
          </a:p>
        </p:txBody>
      </p:sp>
      <p:sp>
        <p:nvSpPr>
          <p:cNvPr name="TextBox 33" id="33"/>
          <p:cNvSpPr txBox="true"/>
          <p:nvPr/>
        </p:nvSpPr>
        <p:spPr>
          <a:xfrm rot="0">
            <a:off x="7030570" y="6400208"/>
            <a:ext cx="4223490" cy="1371600"/>
          </a:xfrm>
          <a:prstGeom prst="rect">
            <a:avLst/>
          </a:prstGeom>
        </p:spPr>
        <p:txBody>
          <a:bodyPr anchor="t" rtlCol="false" tIns="0" lIns="0" bIns="0" rIns="0">
            <a:spAutoFit/>
          </a:bodyPr>
          <a:lstStyle/>
          <a:p>
            <a:pPr algn="ctr">
              <a:lnSpc>
                <a:spcPts val="2700"/>
              </a:lnSpc>
            </a:pPr>
            <a:r>
              <a:rPr lang="en-US" sz="2000" spc="120">
                <a:solidFill>
                  <a:srgbClr val="74A8B3"/>
                </a:solidFill>
                <a:latin typeface="Open Sans"/>
                <a:ea typeface="Open Sans"/>
                <a:cs typeface="Open Sans"/>
                <a:sym typeface="Open Sans"/>
              </a:rPr>
              <a:t>Journal References:</a:t>
            </a:r>
          </a:p>
          <a:p>
            <a:pPr algn="ctr">
              <a:lnSpc>
                <a:spcPts val="2700"/>
              </a:lnSpc>
            </a:pPr>
            <a:r>
              <a:rPr lang="en-US" sz="2000" spc="120">
                <a:solidFill>
                  <a:srgbClr val="74A8B3"/>
                </a:solidFill>
                <a:latin typeface="Open Sans"/>
                <a:ea typeface="Open Sans"/>
                <a:cs typeface="Open Sans"/>
                <a:sym typeface="Open Sans"/>
              </a:rPr>
              <a:t> IEEE Transactions, International Journal of Soft Computing, Springer Journals</a:t>
            </a:r>
          </a:p>
        </p:txBody>
      </p:sp>
      <p:sp>
        <p:nvSpPr>
          <p:cNvPr name="TextBox 34" id="34"/>
          <p:cNvSpPr txBox="true"/>
          <p:nvPr/>
        </p:nvSpPr>
        <p:spPr>
          <a:xfrm rot="0">
            <a:off x="12441181" y="5919274"/>
            <a:ext cx="4573248" cy="2844165"/>
          </a:xfrm>
          <a:prstGeom prst="rect">
            <a:avLst/>
          </a:prstGeom>
        </p:spPr>
        <p:txBody>
          <a:bodyPr anchor="t" rtlCol="false" tIns="0" lIns="0" bIns="0" rIns="0">
            <a:spAutoFit/>
          </a:bodyPr>
          <a:lstStyle/>
          <a:p>
            <a:pPr algn="ctr">
              <a:lnSpc>
                <a:spcPts val="2295"/>
              </a:lnSpc>
            </a:pPr>
            <a:r>
              <a:rPr lang="en-US" sz="1700" spc="102">
                <a:solidFill>
                  <a:srgbClr val="74A8B3"/>
                </a:solidFill>
                <a:latin typeface="Open Sans"/>
                <a:ea typeface="Open Sans"/>
                <a:cs typeface="Open Sans"/>
                <a:sym typeface="Open Sans"/>
              </a:rPr>
              <a:t>Research Gaps:</a:t>
            </a:r>
          </a:p>
          <a:p>
            <a:pPr algn="ctr" marL="367031" indent="-183515" lvl="1">
              <a:lnSpc>
                <a:spcPts val="2295"/>
              </a:lnSpc>
              <a:buFont typeface="Arial"/>
              <a:buChar char="•"/>
            </a:pPr>
            <a:r>
              <a:rPr lang="en-US" sz="1700" spc="102">
                <a:solidFill>
                  <a:srgbClr val="74A8B3"/>
                </a:solidFill>
                <a:latin typeface="Open Sans"/>
                <a:ea typeface="Open Sans"/>
                <a:cs typeface="Open Sans"/>
                <a:sym typeface="Open Sans"/>
              </a:rPr>
              <a:t>Fixed-time signals lack adaptability</a:t>
            </a:r>
          </a:p>
          <a:p>
            <a:pPr algn="ctr" marL="367031" indent="-183515" lvl="1">
              <a:lnSpc>
                <a:spcPts val="2295"/>
              </a:lnSpc>
              <a:buFont typeface="Arial"/>
              <a:buChar char="•"/>
            </a:pPr>
            <a:r>
              <a:rPr lang="en-US" sz="1700" spc="102">
                <a:solidFill>
                  <a:srgbClr val="74A8B3"/>
                </a:solidFill>
                <a:latin typeface="Open Sans"/>
                <a:ea typeface="Open Sans"/>
                <a:cs typeface="Open Sans"/>
                <a:sym typeface="Open Sans"/>
              </a:rPr>
              <a:t>High congestion during peak hours</a:t>
            </a:r>
          </a:p>
          <a:p>
            <a:pPr algn="ctr" marL="367031" indent="-183515" lvl="1">
              <a:lnSpc>
                <a:spcPts val="2295"/>
              </a:lnSpc>
              <a:buFont typeface="Arial"/>
              <a:buChar char="•"/>
            </a:pPr>
            <a:r>
              <a:rPr lang="en-US" sz="1700" spc="102">
                <a:solidFill>
                  <a:srgbClr val="74A8B3"/>
                </a:solidFill>
                <a:latin typeface="Open Sans"/>
                <a:ea typeface="Open Sans"/>
                <a:cs typeface="Open Sans"/>
                <a:sym typeface="Open Sans"/>
              </a:rPr>
              <a:t>Poor utilization of green time</a:t>
            </a:r>
          </a:p>
          <a:p>
            <a:pPr algn="ctr">
              <a:lnSpc>
                <a:spcPts val="2295"/>
              </a:lnSpc>
            </a:pPr>
            <a:r>
              <a:rPr lang="en-US" sz="1700" spc="102">
                <a:solidFill>
                  <a:srgbClr val="74A8B3"/>
                </a:solidFill>
                <a:latin typeface="Open Sans"/>
                <a:ea typeface="Open Sans"/>
                <a:cs typeface="Open Sans"/>
                <a:sym typeface="Open Sans"/>
              </a:rPr>
              <a:t>Summary:</a:t>
            </a:r>
          </a:p>
          <a:p>
            <a:pPr algn="ctr">
              <a:lnSpc>
                <a:spcPts val="2295"/>
              </a:lnSpc>
            </a:pPr>
            <a:r>
              <a:rPr lang="en-US" sz="1700" spc="102">
                <a:solidFill>
                  <a:srgbClr val="74A8B3"/>
                </a:solidFill>
                <a:latin typeface="Open Sans"/>
                <a:ea typeface="Open Sans"/>
                <a:cs typeface="Open Sans"/>
                <a:sym typeface="Open Sans"/>
              </a:rPr>
              <a:t> Existing systems do not effectively adapt to real-time traffic conditions. Fuzzy logic provides a flexible and intelligent solution.</a:t>
            </a:r>
          </a:p>
          <a:p>
            <a:pPr algn="ctr">
              <a:lnSpc>
                <a:spcPts val="2295"/>
              </a:lnSpc>
            </a:pPr>
          </a:p>
        </p:txBody>
      </p:sp>
      <p:sp>
        <p:nvSpPr>
          <p:cNvPr name="TextBox 35" id="35"/>
          <p:cNvSpPr txBox="true"/>
          <p:nvPr/>
        </p:nvSpPr>
        <p:spPr>
          <a:xfrm rot="0">
            <a:off x="2833376" y="2519891"/>
            <a:ext cx="12724077" cy="989965"/>
          </a:xfrm>
          <a:prstGeom prst="rect">
            <a:avLst/>
          </a:prstGeom>
        </p:spPr>
        <p:txBody>
          <a:bodyPr anchor="t" rtlCol="false" tIns="0" lIns="0" bIns="0" rIns="0">
            <a:spAutoFit/>
          </a:bodyPr>
          <a:lstStyle/>
          <a:p>
            <a:pPr algn="ctr">
              <a:lnSpc>
                <a:spcPts val="2659"/>
              </a:lnSpc>
            </a:pPr>
            <a:r>
              <a:rPr lang="en-US" sz="1899">
                <a:solidFill>
                  <a:srgbClr val="F8F3ED"/>
                </a:solidFill>
                <a:latin typeface="Open Sans"/>
                <a:ea typeface="Open Sans"/>
                <a:cs typeface="Open Sans"/>
                <a:sym typeface="Open Sans"/>
              </a:rPr>
              <a:t>Several researchers have proposed intelligent traffic control systems using fuzzy logic to overcome the limitations</a:t>
            </a:r>
          </a:p>
          <a:p>
            <a:pPr algn="ctr">
              <a:lnSpc>
                <a:spcPts val="2659"/>
              </a:lnSpc>
            </a:pPr>
            <a:r>
              <a:rPr lang="en-US" sz="1899">
                <a:solidFill>
                  <a:srgbClr val="F8F3ED"/>
                </a:solidFill>
                <a:latin typeface="Open Sans"/>
                <a:ea typeface="Open Sans"/>
                <a:cs typeface="Open Sans"/>
                <a:sym typeface="Open Sans"/>
              </a:rPr>
              <a:t> of traditional traffic signals. Fuzzy logic is widely used because it handles uncertainty and</a:t>
            </a:r>
          </a:p>
          <a:p>
            <a:pPr algn="ctr">
              <a:lnSpc>
                <a:spcPts val="2659"/>
              </a:lnSpc>
              <a:spcBef>
                <a:spcPct val="0"/>
              </a:spcBef>
            </a:pPr>
            <a:r>
              <a:rPr lang="en-US" sz="1899">
                <a:solidFill>
                  <a:srgbClr val="F8F3ED"/>
                </a:solidFill>
                <a:latin typeface="Open Sans"/>
                <a:ea typeface="Open Sans"/>
                <a:cs typeface="Open Sans"/>
                <a:sym typeface="Open Sans"/>
              </a:rPr>
              <a:t> imprecision effectively and mimics human reasoning.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8402999" y="-150522"/>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68949" y="134814"/>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47552">
            <a:off x="15145341" y="-684370"/>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5" id="5"/>
          <p:cNvGrpSpPr/>
          <p:nvPr/>
        </p:nvGrpSpPr>
        <p:grpSpPr>
          <a:xfrm rot="-28500">
            <a:off x="15435094" y="2967601"/>
            <a:ext cx="5062044" cy="603669"/>
            <a:chOff x="0" y="0"/>
            <a:chExt cx="1333213" cy="158991"/>
          </a:xfrm>
        </p:grpSpPr>
        <p:sp>
          <p:nvSpPr>
            <p:cNvPr name="Freeform 6" id="6"/>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7" id="7"/>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8500">
            <a:off x="15414478" y="-480676"/>
            <a:ext cx="5062044" cy="3536331"/>
            <a:chOff x="0" y="0"/>
            <a:chExt cx="1333213" cy="931379"/>
          </a:xfrm>
        </p:grpSpPr>
        <p:sp>
          <p:nvSpPr>
            <p:cNvPr name="Freeform 9" id="9"/>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0" id="10"/>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11331">
            <a:off x="-3413250" y="4293011"/>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12" id="12"/>
          <p:cNvGrpSpPr/>
          <p:nvPr/>
        </p:nvGrpSpPr>
        <p:grpSpPr>
          <a:xfrm rot="30383">
            <a:off x="-2086539" y="4405799"/>
            <a:ext cx="5062044" cy="3536331"/>
            <a:chOff x="0" y="0"/>
            <a:chExt cx="1333213" cy="931379"/>
          </a:xfrm>
        </p:grpSpPr>
        <p:sp>
          <p:nvSpPr>
            <p:cNvPr name="Freeform 13" id="13"/>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4" id="14"/>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30383">
            <a:off x="2030220" y="4423991"/>
            <a:ext cx="945204" cy="3536331"/>
            <a:chOff x="0" y="0"/>
            <a:chExt cx="248943" cy="931379"/>
          </a:xfrm>
        </p:grpSpPr>
        <p:sp>
          <p:nvSpPr>
            <p:cNvPr name="Freeform 16" id="16"/>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17" id="17"/>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11331">
            <a:off x="-3477085" y="8698520"/>
            <a:ext cx="6622704" cy="3896490"/>
          </a:xfrm>
          <a:custGeom>
            <a:avLst/>
            <a:gdLst/>
            <a:ahLst/>
            <a:cxnLst/>
            <a:rect r="r" b="b" t="t" l="l"/>
            <a:pathLst>
              <a:path h="3896490" w="6622704">
                <a:moveTo>
                  <a:pt x="0" y="0"/>
                </a:moveTo>
                <a:lnTo>
                  <a:pt x="6622704" y="0"/>
                </a:lnTo>
                <a:lnTo>
                  <a:pt x="6622704" y="3896491"/>
                </a:lnTo>
                <a:lnTo>
                  <a:pt x="0" y="3896491"/>
                </a:lnTo>
                <a:lnTo>
                  <a:pt x="0" y="0"/>
                </a:lnTo>
                <a:close/>
              </a:path>
            </a:pathLst>
          </a:custGeom>
          <a:blipFill>
            <a:blip r:embed="rId4"/>
            <a:stretch>
              <a:fillRect l="0" t="0" r="0" b="0"/>
            </a:stretch>
          </a:blipFill>
        </p:spPr>
      </p:sp>
      <p:grpSp>
        <p:nvGrpSpPr>
          <p:cNvPr name="Group 19" id="19"/>
          <p:cNvGrpSpPr/>
          <p:nvPr/>
        </p:nvGrpSpPr>
        <p:grpSpPr>
          <a:xfrm rot="30383">
            <a:off x="-2152906" y="8844247"/>
            <a:ext cx="5062044" cy="3536331"/>
            <a:chOff x="0" y="0"/>
            <a:chExt cx="1333213" cy="931379"/>
          </a:xfrm>
        </p:grpSpPr>
        <p:sp>
          <p:nvSpPr>
            <p:cNvPr name="Freeform 20" id="20"/>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1" id="21"/>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2870483" y="-2385084"/>
            <a:ext cx="3413784" cy="3413784"/>
          </a:xfrm>
          <a:custGeom>
            <a:avLst/>
            <a:gdLst/>
            <a:ahLst/>
            <a:cxnLst/>
            <a:rect r="r" b="b" t="t" l="l"/>
            <a:pathLst>
              <a:path h="3413784" w="3413784">
                <a:moveTo>
                  <a:pt x="0" y="0"/>
                </a:moveTo>
                <a:lnTo>
                  <a:pt x="3413784" y="0"/>
                </a:lnTo>
                <a:lnTo>
                  <a:pt x="3413784" y="3413784"/>
                </a:lnTo>
                <a:lnTo>
                  <a:pt x="0" y="34137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2364795" y="8999528"/>
            <a:ext cx="3609139" cy="3609139"/>
          </a:xfrm>
          <a:custGeom>
            <a:avLst/>
            <a:gdLst/>
            <a:ahLst/>
            <a:cxnLst/>
            <a:rect r="r" b="b" t="t" l="l"/>
            <a:pathLst>
              <a:path h="3609139" w="3609139">
                <a:moveTo>
                  <a:pt x="0" y="0"/>
                </a:moveTo>
                <a:lnTo>
                  <a:pt x="3609139" y="0"/>
                </a:lnTo>
                <a:lnTo>
                  <a:pt x="3609139" y="3609139"/>
                </a:lnTo>
                <a:lnTo>
                  <a:pt x="0" y="36091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16178915" y="689158"/>
            <a:ext cx="2109085" cy="1767797"/>
          </a:xfrm>
          <a:custGeom>
            <a:avLst/>
            <a:gdLst/>
            <a:ahLst/>
            <a:cxnLst/>
            <a:rect r="r" b="b" t="t" l="l"/>
            <a:pathLst>
              <a:path h="1767797" w="2109085">
                <a:moveTo>
                  <a:pt x="0" y="0"/>
                </a:moveTo>
                <a:lnTo>
                  <a:pt x="2109085" y="0"/>
                </a:lnTo>
                <a:lnTo>
                  <a:pt x="2109085" y="1767797"/>
                </a:lnTo>
                <a:lnTo>
                  <a:pt x="0" y="17677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1574722" y="5227708"/>
            <a:ext cx="3149444" cy="2027096"/>
          </a:xfrm>
          <a:custGeom>
            <a:avLst/>
            <a:gdLst/>
            <a:ahLst/>
            <a:cxnLst/>
            <a:rect r="r" b="b" t="t" l="l"/>
            <a:pathLst>
              <a:path h="2027096" w="3149444">
                <a:moveTo>
                  <a:pt x="0" y="0"/>
                </a:moveTo>
                <a:lnTo>
                  <a:pt x="3149444" y="0"/>
                </a:lnTo>
                <a:lnTo>
                  <a:pt x="3149444" y="2027096"/>
                </a:lnTo>
                <a:lnTo>
                  <a:pt x="0" y="202709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4035676" y="3563668"/>
            <a:ext cx="10034165" cy="3020490"/>
          </a:xfrm>
          <a:prstGeom prst="rect">
            <a:avLst/>
          </a:prstGeom>
        </p:spPr>
        <p:txBody>
          <a:bodyPr anchor="t" rtlCol="false" tIns="0" lIns="0" bIns="0" rIns="0">
            <a:spAutoFit/>
          </a:bodyPr>
          <a:lstStyle/>
          <a:p>
            <a:pPr algn="l">
              <a:lnSpc>
                <a:spcPts val="3072"/>
              </a:lnSpc>
            </a:pPr>
            <a:r>
              <a:rPr lang="en-US" sz="2276" spc="136">
                <a:solidFill>
                  <a:srgbClr val="F8F3ED"/>
                </a:solidFill>
                <a:latin typeface="Open Sans"/>
                <a:ea typeface="Open Sans"/>
                <a:cs typeface="Open Sans"/>
                <a:sym typeface="Open Sans"/>
              </a:rPr>
              <a:t>Background:</a:t>
            </a:r>
          </a:p>
          <a:p>
            <a:pPr algn="l">
              <a:lnSpc>
                <a:spcPts val="3072"/>
              </a:lnSpc>
            </a:pPr>
            <a:r>
              <a:rPr lang="en-US" sz="2276" spc="136">
                <a:solidFill>
                  <a:srgbClr val="F8F3ED"/>
                </a:solidFill>
                <a:latin typeface="Open Sans"/>
                <a:ea typeface="Open Sans"/>
                <a:cs typeface="Open Sans"/>
                <a:sym typeface="Open Sans"/>
              </a:rPr>
              <a:t>Increasing traffic density leads to congestion, delays, fuel wastage, and pollution.</a:t>
            </a:r>
          </a:p>
          <a:p>
            <a:pPr algn="l">
              <a:lnSpc>
                <a:spcPts val="3072"/>
              </a:lnSpc>
            </a:pPr>
            <a:r>
              <a:rPr lang="en-US" sz="2276" spc="136">
                <a:solidFill>
                  <a:srgbClr val="F8F3ED"/>
                </a:solidFill>
                <a:latin typeface="Open Sans"/>
                <a:ea typeface="Open Sans"/>
                <a:cs typeface="Open Sans"/>
                <a:sym typeface="Open Sans"/>
              </a:rPr>
              <a:t>Problem Definition:</a:t>
            </a:r>
          </a:p>
          <a:p>
            <a:pPr algn="l">
              <a:lnSpc>
                <a:spcPts val="3072"/>
              </a:lnSpc>
            </a:pPr>
            <a:r>
              <a:rPr lang="en-US" sz="2276" spc="136">
                <a:solidFill>
                  <a:srgbClr val="F8F3ED"/>
                </a:solidFill>
                <a:latin typeface="Open Sans"/>
                <a:ea typeface="Open Sans"/>
                <a:cs typeface="Open Sans"/>
                <a:sym typeface="Open Sans"/>
              </a:rPr>
              <a:t>Traditional traffic signals operate with fixed timings, which do not respond to real-time traffic variations, resulting in inefficient traffic management.</a:t>
            </a:r>
          </a:p>
          <a:p>
            <a:pPr algn="l">
              <a:lnSpc>
                <a:spcPts val="3072"/>
              </a:lnSpc>
            </a:pPr>
          </a:p>
        </p:txBody>
      </p:sp>
      <p:sp>
        <p:nvSpPr>
          <p:cNvPr name="Freeform 27" id="27"/>
          <p:cNvSpPr/>
          <p:nvPr/>
        </p:nvSpPr>
        <p:spPr>
          <a:xfrm flipH="false" flipV="false" rot="0">
            <a:off x="42718" y="9223399"/>
            <a:ext cx="1971964" cy="2368079"/>
          </a:xfrm>
          <a:custGeom>
            <a:avLst/>
            <a:gdLst/>
            <a:ahLst/>
            <a:cxnLst/>
            <a:rect r="r" b="b" t="t" l="l"/>
            <a:pathLst>
              <a:path h="2368079" w="1971964">
                <a:moveTo>
                  <a:pt x="0" y="0"/>
                </a:moveTo>
                <a:lnTo>
                  <a:pt x="1971964" y="0"/>
                </a:lnTo>
                <a:lnTo>
                  <a:pt x="1971964" y="2368079"/>
                </a:lnTo>
                <a:lnTo>
                  <a:pt x="0" y="23680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8" id="28"/>
          <p:cNvSpPr txBox="true"/>
          <p:nvPr/>
        </p:nvSpPr>
        <p:spPr>
          <a:xfrm rot="0">
            <a:off x="4386531" y="1825659"/>
            <a:ext cx="9514937" cy="1395941"/>
          </a:xfrm>
          <a:prstGeom prst="rect">
            <a:avLst/>
          </a:prstGeom>
        </p:spPr>
        <p:txBody>
          <a:bodyPr anchor="t" rtlCol="false" tIns="0" lIns="0" bIns="0" rIns="0">
            <a:spAutoFit/>
          </a:bodyPr>
          <a:lstStyle/>
          <a:p>
            <a:pPr algn="ctr">
              <a:lnSpc>
                <a:spcPts val="9999"/>
              </a:lnSpc>
            </a:pPr>
            <a:r>
              <a:rPr lang="en-US" b="true" sz="9999" spc="199">
                <a:solidFill>
                  <a:srgbClr val="F8F3ED"/>
                </a:solidFill>
                <a:latin typeface="Sugo Classic Bold"/>
                <a:ea typeface="Sugo Classic Bold"/>
                <a:cs typeface="Sugo Classic Bold"/>
                <a:sym typeface="Sugo Classic Bold"/>
              </a:rPr>
              <a:t>PROBLEM STATEMENT</a:t>
            </a:r>
          </a:p>
        </p:txBody>
      </p:sp>
      <p:sp>
        <p:nvSpPr>
          <p:cNvPr name="Freeform 29" id="29"/>
          <p:cNvSpPr/>
          <p:nvPr/>
        </p:nvSpPr>
        <p:spPr>
          <a:xfrm flipH="false" flipV="false" rot="-10761537">
            <a:off x="15233935" y="3727511"/>
            <a:ext cx="6622704" cy="3896490"/>
          </a:xfrm>
          <a:custGeom>
            <a:avLst/>
            <a:gdLst/>
            <a:ahLst/>
            <a:cxnLst/>
            <a:rect r="r" b="b" t="t" l="l"/>
            <a:pathLst>
              <a:path h="3896490" w="6622704">
                <a:moveTo>
                  <a:pt x="0" y="0"/>
                </a:moveTo>
                <a:lnTo>
                  <a:pt x="6622703" y="0"/>
                </a:lnTo>
                <a:lnTo>
                  <a:pt x="6622703" y="3896490"/>
                </a:lnTo>
                <a:lnTo>
                  <a:pt x="0" y="3896490"/>
                </a:lnTo>
                <a:lnTo>
                  <a:pt x="0" y="0"/>
                </a:lnTo>
                <a:close/>
              </a:path>
            </a:pathLst>
          </a:custGeom>
          <a:blipFill>
            <a:blip r:embed="rId4"/>
            <a:stretch>
              <a:fillRect l="0" t="0" r="0" b="0"/>
            </a:stretch>
          </a:blipFill>
        </p:spPr>
      </p:sp>
      <p:grpSp>
        <p:nvGrpSpPr>
          <p:cNvPr name="Group 30" id="30"/>
          <p:cNvGrpSpPr/>
          <p:nvPr/>
        </p:nvGrpSpPr>
        <p:grpSpPr>
          <a:xfrm rot="-10742485">
            <a:off x="15467369" y="3970568"/>
            <a:ext cx="5062044" cy="3536331"/>
            <a:chOff x="0" y="0"/>
            <a:chExt cx="1333213" cy="931379"/>
          </a:xfrm>
        </p:grpSpPr>
        <p:sp>
          <p:nvSpPr>
            <p:cNvPr name="Freeform 31" id="31"/>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32" id="32"/>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33" id="33"/>
          <p:cNvSpPr/>
          <p:nvPr/>
        </p:nvSpPr>
        <p:spPr>
          <a:xfrm flipH="false" flipV="false" rot="0">
            <a:off x="16268949" y="4619257"/>
            <a:ext cx="2276337" cy="2314206"/>
          </a:xfrm>
          <a:custGeom>
            <a:avLst/>
            <a:gdLst/>
            <a:ahLst/>
            <a:cxnLst/>
            <a:rect r="r" b="b" t="t" l="l"/>
            <a:pathLst>
              <a:path h="2314206" w="2276337">
                <a:moveTo>
                  <a:pt x="0" y="0"/>
                </a:moveTo>
                <a:lnTo>
                  <a:pt x="2276337" y="0"/>
                </a:lnTo>
                <a:lnTo>
                  <a:pt x="2276337" y="2314206"/>
                </a:lnTo>
                <a:lnTo>
                  <a:pt x="0" y="231420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grpSp>
        <p:nvGrpSpPr>
          <p:cNvPr name="Group 2" id="2"/>
          <p:cNvGrpSpPr/>
          <p:nvPr/>
        </p:nvGrpSpPr>
        <p:grpSpPr>
          <a:xfrm rot="227353">
            <a:off x="-842297" y="-9163825"/>
            <a:ext cx="20621450" cy="10320250"/>
            <a:chOff x="0" y="0"/>
            <a:chExt cx="27495267" cy="13760333"/>
          </a:xfrm>
        </p:grpSpPr>
        <p:sp>
          <p:nvSpPr>
            <p:cNvPr name="Freeform 3" id="3"/>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216792">
            <a:off x="-883649" y="9273391"/>
            <a:ext cx="20621450" cy="10320250"/>
            <a:chOff x="0" y="0"/>
            <a:chExt cx="27495267" cy="13760333"/>
          </a:xfrm>
        </p:grpSpPr>
        <p:sp>
          <p:nvSpPr>
            <p:cNvPr name="Freeform 6" id="6"/>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8" id="8"/>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9" id="9"/>
          <p:cNvGrpSpPr/>
          <p:nvPr/>
        </p:nvGrpSpPr>
        <p:grpSpPr>
          <a:xfrm rot="-577747">
            <a:off x="-1286473" y="8720319"/>
            <a:ext cx="5062044" cy="3536331"/>
            <a:chOff x="0" y="0"/>
            <a:chExt cx="1333213" cy="931379"/>
          </a:xfrm>
        </p:grpSpPr>
        <p:sp>
          <p:nvSpPr>
            <p:cNvPr name="Freeform 10" id="10"/>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1" id="11"/>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77747">
            <a:off x="-472602" y="8931281"/>
            <a:ext cx="945204" cy="3536331"/>
            <a:chOff x="0" y="0"/>
            <a:chExt cx="248943" cy="931379"/>
          </a:xfrm>
        </p:grpSpPr>
        <p:sp>
          <p:nvSpPr>
            <p:cNvPr name="Freeform 13" id="13"/>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14" id="14"/>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5400000">
            <a:off x="6435161" y="1408996"/>
            <a:ext cx="5417678" cy="9158456"/>
          </a:xfrm>
          <a:custGeom>
            <a:avLst/>
            <a:gdLst/>
            <a:ahLst/>
            <a:cxnLst/>
            <a:rect r="r" b="b" t="t" l="l"/>
            <a:pathLst>
              <a:path h="9158456" w="5417678">
                <a:moveTo>
                  <a:pt x="0" y="0"/>
                </a:moveTo>
                <a:lnTo>
                  <a:pt x="5417678" y="0"/>
                </a:lnTo>
                <a:lnTo>
                  <a:pt x="5417678" y="9158456"/>
                </a:lnTo>
                <a:lnTo>
                  <a:pt x="0" y="9158456"/>
                </a:lnTo>
                <a:lnTo>
                  <a:pt x="0" y="0"/>
                </a:lnTo>
                <a:close/>
              </a:path>
            </a:pathLst>
          </a:custGeom>
          <a:blipFill>
            <a:blip r:embed="rId5"/>
            <a:stretch>
              <a:fillRect l="0" t="0" r="0" b="0"/>
            </a:stretch>
          </a:blipFill>
        </p:spPr>
      </p:sp>
      <p:grpSp>
        <p:nvGrpSpPr>
          <p:cNvPr name="Group 16" id="16"/>
          <p:cNvGrpSpPr/>
          <p:nvPr/>
        </p:nvGrpSpPr>
        <p:grpSpPr>
          <a:xfrm rot="0">
            <a:off x="4735651" y="3509628"/>
            <a:ext cx="8717980" cy="4895632"/>
            <a:chOff x="0" y="0"/>
            <a:chExt cx="2296093" cy="1289384"/>
          </a:xfrm>
        </p:grpSpPr>
        <p:sp>
          <p:nvSpPr>
            <p:cNvPr name="Freeform 17" id="17"/>
            <p:cNvSpPr/>
            <p:nvPr/>
          </p:nvSpPr>
          <p:spPr>
            <a:xfrm flipH="false" flipV="false" rot="0">
              <a:off x="0" y="0"/>
              <a:ext cx="2296093" cy="1289384"/>
            </a:xfrm>
            <a:custGeom>
              <a:avLst/>
              <a:gdLst/>
              <a:ahLst/>
              <a:cxnLst/>
              <a:rect r="r" b="b" t="t" l="l"/>
              <a:pathLst>
                <a:path h="1289384" w="2296093">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name="TextBox 18" id="18"/>
            <p:cNvSpPr txBox="true"/>
            <p:nvPr/>
          </p:nvSpPr>
          <p:spPr>
            <a:xfrm>
              <a:off x="0" y="-38100"/>
              <a:ext cx="2296093" cy="1327484"/>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2064628" y="182654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6230600" y="429046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571633">
            <a:off x="677126" y="8895708"/>
            <a:ext cx="2571750" cy="2057400"/>
          </a:xfrm>
          <a:custGeom>
            <a:avLst/>
            <a:gdLst/>
            <a:ahLst/>
            <a:cxnLst/>
            <a:rect r="r" b="b" t="t" l="l"/>
            <a:pathLst>
              <a:path h="2057400" w="2571750">
                <a:moveTo>
                  <a:pt x="0" y="0"/>
                </a:moveTo>
                <a:lnTo>
                  <a:pt x="2571750" y="0"/>
                </a:lnTo>
                <a:lnTo>
                  <a:pt x="25717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true" flipV="false" rot="-596799">
            <a:off x="14451146" y="-139853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23" id="23"/>
          <p:cNvGrpSpPr/>
          <p:nvPr/>
        </p:nvGrpSpPr>
        <p:grpSpPr>
          <a:xfrm rot="-577747">
            <a:off x="15023718" y="2393479"/>
            <a:ext cx="5062044" cy="603669"/>
            <a:chOff x="0" y="0"/>
            <a:chExt cx="1333213" cy="158991"/>
          </a:xfrm>
        </p:grpSpPr>
        <p:sp>
          <p:nvSpPr>
            <p:cNvPr name="Freeform 24" id="24"/>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25" id="25"/>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577747">
            <a:off x="14688055" y="-1026276"/>
            <a:ext cx="5062044" cy="3536331"/>
            <a:chOff x="0" y="0"/>
            <a:chExt cx="1333213" cy="931379"/>
          </a:xfrm>
        </p:grpSpPr>
        <p:sp>
          <p:nvSpPr>
            <p:cNvPr name="Freeform 27" id="27"/>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8" id="28"/>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603642">
            <a:off x="15570084" y="161694"/>
            <a:ext cx="2044933" cy="2201004"/>
          </a:xfrm>
          <a:custGeom>
            <a:avLst/>
            <a:gdLst/>
            <a:ahLst/>
            <a:cxnLst/>
            <a:rect r="r" b="b" t="t" l="l"/>
            <a:pathLst>
              <a:path h="2201004" w="2044933">
                <a:moveTo>
                  <a:pt x="0" y="0"/>
                </a:moveTo>
                <a:lnTo>
                  <a:pt x="2044932" y="0"/>
                </a:lnTo>
                <a:lnTo>
                  <a:pt x="2044932" y="2201004"/>
                </a:lnTo>
                <a:lnTo>
                  <a:pt x="0" y="22010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0" id="30"/>
          <p:cNvSpPr txBox="true"/>
          <p:nvPr/>
        </p:nvSpPr>
        <p:spPr>
          <a:xfrm rot="0">
            <a:off x="4915070" y="1750583"/>
            <a:ext cx="8457861" cy="1395941"/>
          </a:xfrm>
          <a:prstGeom prst="rect">
            <a:avLst/>
          </a:prstGeom>
        </p:spPr>
        <p:txBody>
          <a:bodyPr anchor="t" rtlCol="false" tIns="0" lIns="0" bIns="0" rIns="0">
            <a:spAutoFit/>
          </a:bodyPr>
          <a:lstStyle/>
          <a:p>
            <a:pPr algn="ctr">
              <a:lnSpc>
                <a:spcPts val="9999"/>
              </a:lnSpc>
            </a:pPr>
            <a:r>
              <a:rPr lang="en-US" b="true" sz="9999" spc="199">
                <a:solidFill>
                  <a:srgbClr val="F8F3ED"/>
                </a:solidFill>
                <a:latin typeface="Sugo Classic Bold"/>
                <a:ea typeface="Sugo Classic Bold"/>
                <a:cs typeface="Sugo Classic Bold"/>
                <a:sym typeface="Sugo Classic Bold"/>
              </a:rPr>
              <a:t>OBJECTIVES</a:t>
            </a:r>
          </a:p>
        </p:txBody>
      </p:sp>
      <p:sp>
        <p:nvSpPr>
          <p:cNvPr name="TextBox 31" id="31"/>
          <p:cNvSpPr txBox="true"/>
          <p:nvPr/>
        </p:nvSpPr>
        <p:spPr>
          <a:xfrm rot="0">
            <a:off x="4915070" y="3855366"/>
            <a:ext cx="8457861" cy="3343634"/>
          </a:xfrm>
          <a:prstGeom prst="rect">
            <a:avLst/>
          </a:prstGeom>
        </p:spPr>
        <p:txBody>
          <a:bodyPr anchor="t" rtlCol="false" tIns="0" lIns="0" bIns="0" rIns="0">
            <a:spAutoFit/>
          </a:bodyPr>
          <a:lstStyle/>
          <a:p>
            <a:pPr algn="l" marL="529165" indent="-264583" lvl="1">
              <a:lnSpc>
                <a:spcPts val="3308"/>
              </a:lnSpc>
              <a:buFont typeface="Arial"/>
              <a:buChar char="•"/>
            </a:pPr>
            <a:r>
              <a:rPr lang="en-US" sz="2450" spc="147">
                <a:solidFill>
                  <a:srgbClr val="74A8B3"/>
                </a:solidFill>
                <a:latin typeface="Open Sans"/>
                <a:ea typeface="Open Sans"/>
                <a:cs typeface="Open Sans"/>
                <a:sym typeface="Open Sans"/>
              </a:rPr>
              <a:t>To design an intelligent traffic signal using fuzzy logic</a:t>
            </a:r>
          </a:p>
          <a:p>
            <a:pPr algn="l" marL="529165" indent="-264583" lvl="1">
              <a:lnSpc>
                <a:spcPts val="3308"/>
              </a:lnSpc>
              <a:buFont typeface="Arial"/>
              <a:buChar char="•"/>
            </a:pPr>
            <a:r>
              <a:rPr lang="en-US" sz="2450" spc="147">
                <a:solidFill>
                  <a:srgbClr val="74A8B3"/>
                </a:solidFill>
                <a:latin typeface="Open Sans"/>
                <a:ea typeface="Open Sans"/>
                <a:cs typeface="Open Sans"/>
                <a:sym typeface="Open Sans"/>
              </a:rPr>
              <a:t>To reduce traffic congestion and waiting time</a:t>
            </a:r>
          </a:p>
          <a:p>
            <a:pPr algn="l" marL="529165" indent="-264583" lvl="1">
              <a:lnSpc>
                <a:spcPts val="3308"/>
              </a:lnSpc>
              <a:buFont typeface="Arial"/>
              <a:buChar char="•"/>
            </a:pPr>
            <a:r>
              <a:rPr lang="en-US" sz="2450" spc="147">
                <a:solidFill>
                  <a:srgbClr val="74A8B3"/>
                </a:solidFill>
                <a:latin typeface="Open Sans"/>
                <a:ea typeface="Open Sans"/>
                <a:cs typeface="Open Sans"/>
                <a:sym typeface="Open Sans"/>
              </a:rPr>
              <a:t>To optimize green signal duration</a:t>
            </a:r>
          </a:p>
          <a:p>
            <a:pPr algn="l" marL="529165" indent="-264583" lvl="1">
              <a:lnSpc>
                <a:spcPts val="3308"/>
              </a:lnSpc>
              <a:buFont typeface="Arial"/>
              <a:buChar char="•"/>
            </a:pPr>
            <a:r>
              <a:rPr lang="en-US" sz="2450" spc="147">
                <a:solidFill>
                  <a:srgbClr val="74A8B3"/>
                </a:solidFill>
                <a:latin typeface="Open Sans"/>
                <a:ea typeface="Open Sans"/>
                <a:cs typeface="Open Sans"/>
                <a:sym typeface="Open Sans"/>
              </a:rPr>
              <a:t>To improve traffic flow efficiency</a:t>
            </a:r>
          </a:p>
          <a:p>
            <a:pPr algn="l" marL="529165" indent="-264583" lvl="1">
              <a:lnSpc>
                <a:spcPts val="3308"/>
              </a:lnSpc>
              <a:buFont typeface="Arial"/>
              <a:buChar char="•"/>
            </a:pPr>
            <a:r>
              <a:rPr lang="en-US" sz="2450" spc="147">
                <a:solidFill>
                  <a:srgbClr val="74A8B3"/>
                </a:solidFill>
                <a:latin typeface="Open Sans"/>
                <a:ea typeface="Open Sans"/>
                <a:cs typeface="Open Sans"/>
                <a:sym typeface="Open Sans"/>
              </a:rPr>
              <a:t>To demonstrate real-world application of soft computing</a:t>
            </a:r>
          </a:p>
          <a:p>
            <a:pPr algn="l">
              <a:lnSpc>
                <a:spcPts val="330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1708033" y="1029544"/>
            <a:ext cx="3413784" cy="3413784"/>
          </a:xfrm>
          <a:custGeom>
            <a:avLst/>
            <a:gdLst/>
            <a:ahLst/>
            <a:cxnLst/>
            <a:rect r="r" b="b" t="t" l="l"/>
            <a:pathLst>
              <a:path h="3413784" w="3413784">
                <a:moveTo>
                  <a:pt x="0" y="0"/>
                </a:moveTo>
                <a:lnTo>
                  <a:pt x="3413784" y="0"/>
                </a:lnTo>
                <a:lnTo>
                  <a:pt x="3413784" y="3413784"/>
                </a:lnTo>
                <a:lnTo>
                  <a:pt x="0" y="3413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423892" y="4416523"/>
            <a:ext cx="3609139" cy="3609139"/>
          </a:xfrm>
          <a:custGeom>
            <a:avLst/>
            <a:gdLst/>
            <a:ahLst/>
            <a:cxnLst/>
            <a:rect r="r" b="b" t="t" l="l"/>
            <a:pathLst>
              <a:path h="3609139" w="3609139">
                <a:moveTo>
                  <a:pt x="0" y="0"/>
                </a:moveTo>
                <a:lnTo>
                  <a:pt x="3609139" y="0"/>
                </a:lnTo>
                <a:lnTo>
                  <a:pt x="3609139" y="3609139"/>
                </a:lnTo>
                <a:lnTo>
                  <a:pt x="0" y="36091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821362" y="5009964"/>
            <a:ext cx="1368889" cy="136888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6CEAD"/>
            </a:solidFill>
            <a:ln w="38100" cap="sq">
              <a:solidFill>
                <a:srgbClr val="F8F3ED"/>
              </a:solidFill>
              <a:prstDash val="solid"/>
              <a:miter/>
            </a:ln>
          </p:spPr>
        </p:sp>
        <p:sp>
          <p:nvSpPr>
            <p:cNvPr name="TextBox 6" id="6"/>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05751" y="3649338"/>
            <a:ext cx="3994542" cy="3536331"/>
            <a:chOff x="0" y="0"/>
            <a:chExt cx="1052060" cy="931379"/>
          </a:xfrm>
        </p:grpSpPr>
        <p:sp>
          <p:nvSpPr>
            <p:cNvPr name="Freeform 8" id="8"/>
            <p:cNvSpPr/>
            <p:nvPr/>
          </p:nvSpPr>
          <p:spPr>
            <a:xfrm flipH="false" flipV="false" rot="0">
              <a:off x="0" y="0"/>
              <a:ext cx="1052060" cy="931379"/>
            </a:xfrm>
            <a:custGeom>
              <a:avLst/>
              <a:gdLst/>
              <a:ahLst/>
              <a:cxnLst/>
              <a:rect r="r" b="b" t="t" l="l"/>
              <a:pathLst>
                <a:path h="931379" w="1052060">
                  <a:moveTo>
                    <a:pt x="19381" y="0"/>
                  </a:moveTo>
                  <a:lnTo>
                    <a:pt x="1032679" y="0"/>
                  </a:lnTo>
                  <a:cubicBezTo>
                    <a:pt x="1037819" y="0"/>
                    <a:pt x="1042749" y="2042"/>
                    <a:pt x="1046384" y="5677"/>
                  </a:cubicBezTo>
                  <a:cubicBezTo>
                    <a:pt x="1050018" y="9311"/>
                    <a:pt x="1052060" y="14241"/>
                    <a:pt x="1052060" y="19381"/>
                  </a:cubicBezTo>
                  <a:lnTo>
                    <a:pt x="1052060" y="911998"/>
                  </a:lnTo>
                  <a:cubicBezTo>
                    <a:pt x="1052060" y="922702"/>
                    <a:pt x="1043383" y="931379"/>
                    <a:pt x="1032679" y="931379"/>
                  </a:cubicBezTo>
                  <a:lnTo>
                    <a:pt x="19381" y="931379"/>
                  </a:lnTo>
                  <a:cubicBezTo>
                    <a:pt x="8677" y="931379"/>
                    <a:pt x="0" y="922702"/>
                    <a:pt x="0" y="911998"/>
                  </a:cubicBezTo>
                  <a:lnTo>
                    <a:pt x="0" y="19381"/>
                  </a:lnTo>
                  <a:cubicBezTo>
                    <a:pt x="0" y="8677"/>
                    <a:pt x="8677" y="0"/>
                    <a:pt x="19381" y="0"/>
                  </a:cubicBezTo>
                  <a:close/>
                </a:path>
              </a:pathLst>
            </a:custGeom>
            <a:solidFill>
              <a:srgbClr val="F8F3ED"/>
            </a:solidFill>
          </p:spPr>
        </p:sp>
        <p:sp>
          <p:nvSpPr>
            <p:cNvPr name="TextBox 9" id="9"/>
            <p:cNvSpPr txBox="true"/>
            <p:nvPr/>
          </p:nvSpPr>
          <p:spPr>
            <a:xfrm>
              <a:off x="0" y="-38100"/>
              <a:ext cx="1052060"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2643700" y="2948260"/>
            <a:ext cx="2118643" cy="1402156"/>
          </a:xfrm>
          <a:custGeom>
            <a:avLst/>
            <a:gdLst/>
            <a:ahLst/>
            <a:cxnLst/>
            <a:rect r="r" b="b" t="t" l="l"/>
            <a:pathLst>
              <a:path h="1402156" w="2118643">
                <a:moveTo>
                  <a:pt x="0" y="0"/>
                </a:moveTo>
                <a:lnTo>
                  <a:pt x="2118643" y="0"/>
                </a:lnTo>
                <a:lnTo>
                  <a:pt x="2118643" y="1402156"/>
                </a:lnTo>
                <a:lnTo>
                  <a:pt x="0" y="14021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3103722" y="3392057"/>
            <a:ext cx="1198599" cy="562187"/>
          </a:xfrm>
          <a:prstGeom prst="rect">
            <a:avLst/>
          </a:prstGeom>
        </p:spPr>
        <p:txBody>
          <a:bodyPr anchor="t" rtlCol="false" tIns="0" lIns="0" bIns="0" rIns="0">
            <a:spAutoFit/>
          </a:bodyPr>
          <a:lstStyle/>
          <a:p>
            <a:pPr algn="ctr">
              <a:lnSpc>
                <a:spcPts val="3999"/>
              </a:lnSpc>
            </a:pPr>
            <a:r>
              <a:rPr lang="en-US" b="true" sz="3999" spc="79">
                <a:solidFill>
                  <a:srgbClr val="74A8B3"/>
                </a:solidFill>
                <a:latin typeface="Sugo Classic Bold"/>
                <a:ea typeface="Sugo Classic Bold"/>
                <a:cs typeface="Sugo Classic Bold"/>
                <a:sym typeface="Sugo Classic Bold"/>
              </a:rPr>
              <a:t>01</a:t>
            </a:r>
          </a:p>
        </p:txBody>
      </p:sp>
      <p:grpSp>
        <p:nvGrpSpPr>
          <p:cNvPr name="Group 12" id="12"/>
          <p:cNvGrpSpPr/>
          <p:nvPr/>
        </p:nvGrpSpPr>
        <p:grpSpPr>
          <a:xfrm rot="0">
            <a:off x="7310669" y="3606753"/>
            <a:ext cx="7023287" cy="3578917"/>
            <a:chOff x="0" y="0"/>
            <a:chExt cx="1849755" cy="942595"/>
          </a:xfrm>
        </p:grpSpPr>
        <p:sp>
          <p:nvSpPr>
            <p:cNvPr name="Freeform 13" id="13"/>
            <p:cNvSpPr/>
            <p:nvPr/>
          </p:nvSpPr>
          <p:spPr>
            <a:xfrm flipH="false" flipV="false" rot="0">
              <a:off x="0" y="0"/>
              <a:ext cx="1849755" cy="942595"/>
            </a:xfrm>
            <a:custGeom>
              <a:avLst/>
              <a:gdLst/>
              <a:ahLst/>
              <a:cxnLst/>
              <a:rect r="r" b="b" t="t" l="l"/>
              <a:pathLst>
                <a:path h="942595" w="1849755">
                  <a:moveTo>
                    <a:pt x="11023" y="0"/>
                  </a:moveTo>
                  <a:lnTo>
                    <a:pt x="1838731" y="0"/>
                  </a:lnTo>
                  <a:cubicBezTo>
                    <a:pt x="1841655" y="0"/>
                    <a:pt x="1844459" y="1161"/>
                    <a:pt x="1846526" y="3229"/>
                  </a:cubicBezTo>
                  <a:cubicBezTo>
                    <a:pt x="1848593" y="5296"/>
                    <a:pt x="1849755" y="8100"/>
                    <a:pt x="1849755" y="11023"/>
                  </a:cubicBezTo>
                  <a:lnTo>
                    <a:pt x="1849755" y="931572"/>
                  </a:lnTo>
                  <a:cubicBezTo>
                    <a:pt x="1849755" y="937660"/>
                    <a:pt x="1844819" y="942595"/>
                    <a:pt x="1838731" y="942595"/>
                  </a:cubicBezTo>
                  <a:lnTo>
                    <a:pt x="11023" y="942595"/>
                  </a:lnTo>
                  <a:cubicBezTo>
                    <a:pt x="8100" y="942595"/>
                    <a:pt x="5296" y="941434"/>
                    <a:pt x="3229" y="939367"/>
                  </a:cubicBezTo>
                  <a:cubicBezTo>
                    <a:pt x="1161" y="937299"/>
                    <a:pt x="0" y="934496"/>
                    <a:pt x="0" y="931572"/>
                  </a:cubicBezTo>
                  <a:lnTo>
                    <a:pt x="0" y="11023"/>
                  </a:lnTo>
                  <a:cubicBezTo>
                    <a:pt x="0" y="8100"/>
                    <a:pt x="1161" y="5296"/>
                    <a:pt x="3229" y="3229"/>
                  </a:cubicBezTo>
                  <a:cubicBezTo>
                    <a:pt x="5296" y="1161"/>
                    <a:pt x="8100" y="0"/>
                    <a:pt x="11023" y="0"/>
                  </a:cubicBezTo>
                  <a:close/>
                </a:path>
              </a:pathLst>
            </a:custGeom>
            <a:solidFill>
              <a:srgbClr val="F8F3ED"/>
            </a:solidFill>
          </p:spPr>
        </p:sp>
        <p:sp>
          <p:nvSpPr>
            <p:cNvPr name="TextBox 14" id="14"/>
            <p:cNvSpPr txBox="true"/>
            <p:nvPr/>
          </p:nvSpPr>
          <p:spPr>
            <a:xfrm>
              <a:off x="0" y="-38100"/>
              <a:ext cx="1849755" cy="98069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9824559" y="2948260"/>
            <a:ext cx="2118643" cy="1402156"/>
          </a:xfrm>
          <a:custGeom>
            <a:avLst/>
            <a:gdLst/>
            <a:ahLst/>
            <a:cxnLst/>
            <a:rect r="r" b="b" t="t" l="l"/>
            <a:pathLst>
              <a:path h="1402156" w="2118643">
                <a:moveTo>
                  <a:pt x="0" y="0"/>
                </a:moveTo>
                <a:lnTo>
                  <a:pt x="2118643" y="0"/>
                </a:lnTo>
                <a:lnTo>
                  <a:pt x="2118643" y="1402156"/>
                </a:lnTo>
                <a:lnTo>
                  <a:pt x="0" y="14021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0284581" y="3392057"/>
            <a:ext cx="1198599" cy="562187"/>
          </a:xfrm>
          <a:prstGeom prst="rect">
            <a:avLst/>
          </a:prstGeom>
        </p:spPr>
        <p:txBody>
          <a:bodyPr anchor="t" rtlCol="false" tIns="0" lIns="0" bIns="0" rIns="0">
            <a:spAutoFit/>
          </a:bodyPr>
          <a:lstStyle/>
          <a:p>
            <a:pPr algn="ctr">
              <a:lnSpc>
                <a:spcPts val="3999"/>
              </a:lnSpc>
            </a:pPr>
            <a:r>
              <a:rPr lang="en-US" b="true" sz="3999" spc="79">
                <a:solidFill>
                  <a:srgbClr val="74A8B3"/>
                </a:solidFill>
                <a:latin typeface="Sugo Classic Bold"/>
                <a:ea typeface="Sugo Classic Bold"/>
                <a:cs typeface="Sugo Classic Bold"/>
                <a:sym typeface="Sugo Classic Bold"/>
              </a:rPr>
              <a:t>02</a:t>
            </a:r>
          </a:p>
        </p:txBody>
      </p:sp>
      <p:sp>
        <p:nvSpPr>
          <p:cNvPr name="TextBox 17" id="17"/>
          <p:cNvSpPr txBox="true"/>
          <p:nvPr/>
        </p:nvSpPr>
        <p:spPr>
          <a:xfrm rot="0">
            <a:off x="7702448" y="4461120"/>
            <a:ext cx="6362864" cy="1714500"/>
          </a:xfrm>
          <a:prstGeom prst="rect">
            <a:avLst/>
          </a:prstGeom>
        </p:spPr>
        <p:txBody>
          <a:bodyPr anchor="t" rtlCol="false" tIns="0" lIns="0" bIns="0" rIns="0">
            <a:spAutoFit/>
          </a:bodyPr>
          <a:lstStyle/>
          <a:p>
            <a:pPr algn="ctr">
              <a:lnSpc>
                <a:spcPts val="2700"/>
              </a:lnSpc>
            </a:pPr>
            <a:r>
              <a:rPr lang="en-US" sz="2000" spc="120">
                <a:solidFill>
                  <a:srgbClr val="74A8B3"/>
                </a:solidFill>
                <a:latin typeface="Open Sans"/>
                <a:ea typeface="Open Sans"/>
                <a:cs typeface="Open Sans"/>
                <a:sym typeface="Open Sans"/>
              </a:rPr>
              <a:t>Workflow</a:t>
            </a:r>
          </a:p>
          <a:p>
            <a:pPr algn="ctr">
              <a:lnSpc>
                <a:spcPts val="2700"/>
              </a:lnSpc>
            </a:pPr>
            <a:r>
              <a:rPr lang="en-US" sz="2000" spc="120">
                <a:solidFill>
                  <a:srgbClr val="74A8B3"/>
                </a:solidFill>
                <a:latin typeface="Open Sans"/>
                <a:ea typeface="Open Sans"/>
                <a:cs typeface="Open Sans"/>
                <a:sym typeface="Open Sans"/>
              </a:rPr>
              <a:t>Traffic Data → Fuzzification → Rule Base → Inference Engine → Defuzzification → Green Time Output</a:t>
            </a:r>
          </a:p>
          <a:p>
            <a:pPr algn="ctr">
              <a:lnSpc>
                <a:spcPts val="2700"/>
              </a:lnSpc>
            </a:pPr>
          </a:p>
        </p:txBody>
      </p:sp>
      <p:sp>
        <p:nvSpPr>
          <p:cNvPr name="TextBox 18" id="18"/>
          <p:cNvSpPr txBox="true"/>
          <p:nvPr/>
        </p:nvSpPr>
        <p:spPr>
          <a:xfrm rot="0">
            <a:off x="14314077" y="3392057"/>
            <a:ext cx="1198599" cy="562187"/>
          </a:xfrm>
          <a:prstGeom prst="rect">
            <a:avLst/>
          </a:prstGeom>
        </p:spPr>
        <p:txBody>
          <a:bodyPr anchor="t" rtlCol="false" tIns="0" lIns="0" bIns="0" rIns="0">
            <a:spAutoFit/>
          </a:bodyPr>
          <a:lstStyle/>
          <a:p>
            <a:pPr algn="ctr">
              <a:lnSpc>
                <a:spcPts val="3999"/>
              </a:lnSpc>
            </a:pPr>
            <a:r>
              <a:rPr lang="en-US" b="true" sz="3999" spc="79">
                <a:solidFill>
                  <a:srgbClr val="74A8B3"/>
                </a:solidFill>
                <a:latin typeface="Sugo Classic Bold"/>
                <a:ea typeface="Sugo Classic Bold"/>
                <a:cs typeface="Sugo Classic Bold"/>
                <a:sym typeface="Sugo Classic Bold"/>
              </a:rPr>
              <a:t>03</a:t>
            </a:r>
          </a:p>
        </p:txBody>
      </p:sp>
      <p:grpSp>
        <p:nvGrpSpPr>
          <p:cNvPr name="Group 19" id="19"/>
          <p:cNvGrpSpPr/>
          <p:nvPr/>
        </p:nvGrpSpPr>
        <p:grpSpPr>
          <a:xfrm rot="0">
            <a:off x="-1002133" y="8025662"/>
            <a:ext cx="20621450" cy="10320250"/>
            <a:chOff x="0" y="0"/>
            <a:chExt cx="27495267" cy="13760333"/>
          </a:xfrm>
        </p:grpSpPr>
        <p:sp>
          <p:nvSpPr>
            <p:cNvPr name="Freeform 20" id="20"/>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22" id="22"/>
          <p:cNvGrpSpPr/>
          <p:nvPr/>
        </p:nvGrpSpPr>
        <p:grpSpPr>
          <a:xfrm rot="0">
            <a:off x="-1002133" y="-9923360"/>
            <a:ext cx="20621450" cy="10320250"/>
            <a:chOff x="0" y="0"/>
            <a:chExt cx="27495267" cy="13760333"/>
          </a:xfrm>
        </p:grpSpPr>
        <p:sp>
          <p:nvSpPr>
            <p:cNvPr name="Freeform 23" id="23"/>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25" id="25"/>
          <p:cNvSpPr txBox="true"/>
          <p:nvPr/>
        </p:nvSpPr>
        <p:spPr>
          <a:xfrm rot="0">
            <a:off x="4283228" y="1092215"/>
            <a:ext cx="10050728" cy="1395941"/>
          </a:xfrm>
          <a:prstGeom prst="rect">
            <a:avLst/>
          </a:prstGeom>
        </p:spPr>
        <p:txBody>
          <a:bodyPr anchor="t" rtlCol="false" tIns="0" lIns="0" bIns="0" rIns="0">
            <a:spAutoFit/>
          </a:bodyPr>
          <a:lstStyle/>
          <a:p>
            <a:pPr algn="ctr">
              <a:lnSpc>
                <a:spcPts val="9999"/>
              </a:lnSpc>
            </a:pPr>
            <a:r>
              <a:rPr lang="en-US" b="true" sz="9999" spc="199">
                <a:solidFill>
                  <a:srgbClr val="F8F3ED"/>
                </a:solidFill>
                <a:latin typeface="Sugo Classic Bold"/>
                <a:ea typeface="Sugo Classic Bold"/>
                <a:cs typeface="Sugo Classic Bold"/>
                <a:sym typeface="Sugo Classic Bold"/>
              </a:rPr>
              <a:t>METHODOLOGY</a:t>
            </a:r>
          </a:p>
        </p:txBody>
      </p:sp>
      <p:sp>
        <p:nvSpPr>
          <p:cNvPr name="TextBox 26" id="26"/>
          <p:cNvSpPr txBox="true"/>
          <p:nvPr/>
        </p:nvSpPr>
        <p:spPr>
          <a:xfrm rot="0">
            <a:off x="1710970" y="4605138"/>
            <a:ext cx="3986567" cy="2400300"/>
          </a:xfrm>
          <a:prstGeom prst="rect">
            <a:avLst/>
          </a:prstGeom>
        </p:spPr>
        <p:txBody>
          <a:bodyPr anchor="t" rtlCol="false" tIns="0" lIns="0" bIns="0" rIns="0">
            <a:spAutoFit/>
          </a:bodyPr>
          <a:lstStyle/>
          <a:p>
            <a:pPr algn="l">
              <a:lnSpc>
                <a:spcPts val="2700"/>
              </a:lnSpc>
            </a:pPr>
            <a:r>
              <a:rPr lang="en-US" sz="2000" spc="120">
                <a:solidFill>
                  <a:srgbClr val="74A8B3"/>
                </a:solidFill>
                <a:latin typeface="Open Sans"/>
                <a:ea typeface="Open Sans"/>
                <a:cs typeface="Open Sans"/>
                <a:sym typeface="Open Sans"/>
              </a:rPr>
              <a:t>Data Collection Tools &amp; Techniques</a:t>
            </a:r>
          </a:p>
          <a:p>
            <a:pPr algn="l" marL="431801" indent="-215900" lvl="1">
              <a:lnSpc>
                <a:spcPts val="2700"/>
              </a:lnSpc>
              <a:buFont typeface="Arial"/>
              <a:buChar char="•"/>
            </a:pPr>
            <a:r>
              <a:rPr lang="en-US" sz="2000" spc="120">
                <a:solidFill>
                  <a:srgbClr val="74A8B3"/>
                </a:solidFill>
                <a:latin typeface="Open Sans"/>
                <a:ea typeface="Open Sans"/>
                <a:cs typeface="Open Sans"/>
                <a:sym typeface="Open Sans"/>
              </a:rPr>
              <a:t>Traffic density (number of vehicles)</a:t>
            </a:r>
          </a:p>
          <a:p>
            <a:pPr algn="l" marL="431801" indent="-215900" lvl="1">
              <a:lnSpc>
                <a:spcPts val="2700"/>
              </a:lnSpc>
              <a:buFont typeface="Arial"/>
              <a:buChar char="•"/>
            </a:pPr>
            <a:r>
              <a:rPr lang="en-US" sz="2000" spc="120">
                <a:solidFill>
                  <a:srgbClr val="74A8B3"/>
                </a:solidFill>
                <a:latin typeface="Open Sans"/>
                <a:ea typeface="Open Sans"/>
                <a:cs typeface="Open Sans"/>
                <a:sym typeface="Open Sans"/>
              </a:rPr>
              <a:t>Queue length</a:t>
            </a:r>
          </a:p>
          <a:p>
            <a:pPr algn="l" marL="431801" indent="-215900" lvl="1">
              <a:lnSpc>
                <a:spcPts val="2700"/>
              </a:lnSpc>
              <a:buFont typeface="Arial"/>
              <a:buChar char="•"/>
            </a:pPr>
            <a:r>
              <a:rPr lang="en-US" sz="2000" spc="120">
                <a:solidFill>
                  <a:srgbClr val="74A8B3"/>
                </a:solidFill>
                <a:latin typeface="Open Sans"/>
                <a:ea typeface="Open Sans"/>
                <a:cs typeface="Open Sans"/>
                <a:sym typeface="Open Sans"/>
              </a:rPr>
              <a:t>Waiting time</a:t>
            </a:r>
          </a:p>
          <a:p>
            <a:pPr algn="l">
              <a:lnSpc>
                <a:spcPts val="27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285484">
            <a:off x="-8434371" y="-806086"/>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4" id="4"/>
          <p:cNvGrpSpPr/>
          <p:nvPr/>
        </p:nvGrpSpPr>
        <p:grpSpPr>
          <a:xfrm rot="-577747">
            <a:off x="-1286473" y="8720319"/>
            <a:ext cx="5062044" cy="3536331"/>
            <a:chOff x="0" y="0"/>
            <a:chExt cx="1333213" cy="931379"/>
          </a:xfrm>
        </p:grpSpPr>
        <p:sp>
          <p:nvSpPr>
            <p:cNvPr name="Freeform 5" id="5"/>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6" id="6"/>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577747">
            <a:off x="-472602" y="8931281"/>
            <a:ext cx="945204" cy="3536331"/>
            <a:chOff x="0" y="0"/>
            <a:chExt cx="248943" cy="931379"/>
          </a:xfrm>
        </p:grpSpPr>
        <p:sp>
          <p:nvSpPr>
            <p:cNvPr name="Freeform 8" id="8"/>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9" id="9"/>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9723">
            <a:off x="15932759" y="-167398"/>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480104" y="3662136"/>
            <a:ext cx="7441431" cy="4401973"/>
            <a:chOff x="0" y="0"/>
            <a:chExt cx="9921908" cy="5869298"/>
          </a:xfrm>
        </p:grpSpPr>
        <p:sp>
          <p:nvSpPr>
            <p:cNvPr name="Freeform 12" id="12"/>
            <p:cNvSpPr/>
            <p:nvPr/>
          </p:nvSpPr>
          <p:spPr>
            <a:xfrm flipH="false" flipV="false" rot="-5400000">
              <a:off x="2026305" y="-2026305"/>
              <a:ext cx="5869298" cy="9921908"/>
            </a:xfrm>
            <a:custGeom>
              <a:avLst/>
              <a:gdLst/>
              <a:ahLst/>
              <a:cxnLst/>
              <a:rect r="r" b="b" t="t" l="l"/>
              <a:pathLst>
                <a:path h="9921908" w="5869298">
                  <a:moveTo>
                    <a:pt x="0" y="0"/>
                  </a:moveTo>
                  <a:lnTo>
                    <a:pt x="5869298" y="0"/>
                  </a:lnTo>
                  <a:lnTo>
                    <a:pt x="5869298" y="9921908"/>
                  </a:lnTo>
                  <a:lnTo>
                    <a:pt x="0" y="9921908"/>
                  </a:lnTo>
                  <a:lnTo>
                    <a:pt x="0" y="0"/>
                  </a:lnTo>
                  <a:close/>
                </a:path>
              </a:pathLst>
            </a:custGeom>
            <a:blipFill>
              <a:blip r:embed="rId5"/>
              <a:stretch>
                <a:fillRect l="0" t="0" r="0" b="0"/>
              </a:stretch>
            </a:blipFill>
          </p:spPr>
        </p:sp>
        <p:grpSp>
          <p:nvGrpSpPr>
            <p:cNvPr name="Group 13" id="13"/>
            <p:cNvGrpSpPr/>
            <p:nvPr/>
          </p:nvGrpSpPr>
          <p:grpSpPr>
            <a:xfrm rot="0">
              <a:off x="185123" y="249436"/>
              <a:ext cx="9444713" cy="5303733"/>
              <a:chOff x="0" y="0"/>
              <a:chExt cx="2296093" cy="1289384"/>
            </a:xfrm>
          </p:grpSpPr>
          <p:sp>
            <p:nvSpPr>
              <p:cNvPr name="Freeform 14" id="14"/>
              <p:cNvSpPr/>
              <p:nvPr/>
            </p:nvSpPr>
            <p:spPr>
              <a:xfrm flipH="false" flipV="false" rot="0">
                <a:off x="0" y="0"/>
                <a:ext cx="2296093" cy="1289384"/>
              </a:xfrm>
              <a:custGeom>
                <a:avLst/>
                <a:gdLst/>
                <a:ahLst/>
                <a:cxnLst/>
                <a:rect r="r" b="b" t="t" l="l"/>
                <a:pathLst>
                  <a:path h="1289384" w="2296093">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name="TextBox 15" id="15"/>
              <p:cNvSpPr txBox="true"/>
              <p:nvPr/>
            </p:nvSpPr>
            <p:spPr>
              <a:xfrm>
                <a:off x="0" y="-38100"/>
                <a:ext cx="2296093" cy="1327484"/>
              </a:xfrm>
              <a:prstGeom prst="rect">
                <a:avLst/>
              </a:prstGeom>
            </p:spPr>
            <p:txBody>
              <a:bodyPr anchor="ctr" rtlCol="false" tIns="50800" lIns="50800" bIns="50800" rIns="50800"/>
              <a:lstStyle/>
              <a:p>
                <a:pPr algn="ctr">
                  <a:lnSpc>
                    <a:spcPts val="2660"/>
                  </a:lnSpc>
                  <a:spcBef>
                    <a:spcPct val="0"/>
                  </a:spcBef>
                </a:pPr>
              </a:p>
            </p:txBody>
          </p:sp>
        </p:grpSp>
      </p:grpSp>
      <p:sp>
        <p:nvSpPr>
          <p:cNvPr name="Freeform 16" id="16"/>
          <p:cNvSpPr/>
          <p:nvPr/>
        </p:nvSpPr>
        <p:spPr>
          <a:xfrm flipH="false" flipV="false" rot="0">
            <a:off x="2255934" y="-30214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9858205" y="856060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true" flipV="false" rot="-596799">
            <a:off x="14451146" y="-139853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19" id="19"/>
          <p:cNvGrpSpPr/>
          <p:nvPr/>
        </p:nvGrpSpPr>
        <p:grpSpPr>
          <a:xfrm rot="-577747">
            <a:off x="15023718" y="2393479"/>
            <a:ext cx="5062044" cy="603669"/>
            <a:chOff x="0" y="0"/>
            <a:chExt cx="1333213" cy="158991"/>
          </a:xfrm>
        </p:grpSpPr>
        <p:sp>
          <p:nvSpPr>
            <p:cNvPr name="Freeform 20" id="20"/>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21" id="21"/>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577747">
            <a:off x="14688055" y="-1026276"/>
            <a:ext cx="5062044" cy="3536331"/>
            <a:chOff x="0" y="0"/>
            <a:chExt cx="1333213" cy="931379"/>
          </a:xfrm>
        </p:grpSpPr>
        <p:sp>
          <p:nvSpPr>
            <p:cNvPr name="Freeform 23" id="23"/>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4" id="24"/>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9351144" y="3725098"/>
            <a:ext cx="7441431" cy="4401973"/>
            <a:chOff x="0" y="0"/>
            <a:chExt cx="9921908" cy="5869298"/>
          </a:xfrm>
        </p:grpSpPr>
        <p:sp>
          <p:nvSpPr>
            <p:cNvPr name="Freeform 26" id="26"/>
            <p:cNvSpPr/>
            <p:nvPr/>
          </p:nvSpPr>
          <p:spPr>
            <a:xfrm flipH="false" flipV="false" rot="-5400000">
              <a:off x="2026305" y="-2026305"/>
              <a:ext cx="5869298" cy="9921908"/>
            </a:xfrm>
            <a:custGeom>
              <a:avLst/>
              <a:gdLst/>
              <a:ahLst/>
              <a:cxnLst/>
              <a:rect r="r" b="b" t="t" l="l"/>
              <a:pathLst>
                <a:path h="9921908" w="5869298">
                  <a:moveTo>
                    <a:pt x="0" y="0"/>
                  </a:moveTo>
                  <a:lnTo>
                    <a:pt x="5869298" y="0"/>
                  </a:lnTo>
                  <a:lnTo>
                    <a:pt x="5869298" y="9921908"/>
                  </a:lnTo>
                  <a:lnTo>
                    <a:pt x="0" y="9921908"/>
                  </a:lnTo>
                  <a:lnTo>
                    <a:pt x="0" y="0"/>
                  </a:lnTo>
                  <a:close/>
                </a:path>
              </a:pathLst>
            </a:custGeom>
            <a:blipFill>
              <a:blip r:embed="rId5"/>
              <a:stretch>
                <a:fillRect l="0" t="0" r="0" b="0"/>
              </a:stretch>
            </a:blipFill>
          </p:spPr>
        </p:sp>
        <p:grpSp>
          <p:nvGrpSpPr>
            <p:cNvPr name="Group 27" id="27"/>
            <p:cNvGrpSpPr/>
            <p:nvPr/>
          </p:nvGrpSpPr>
          <p:grpSpPr>
            <a:xfrm rot="0">
              <a:off x="185123" y="249436"/>
              <a:ext cx="9444713" cy="5303733"/>
              <a:chOff x="0" y="0"/>
              <a:chExt cx="2296093" cy="1289384"/>
            </a:xfrm>
          </p:grpSpPr>
          <p:sp>
            <p:nvSpPr>
              <p:cNvPr name="Freeform 28" id="28"/>
              <p:cNvSpPr/>
              <p:nvPr/>
            </p:nvSpPr>
            <p:spPr>
              <a:xfrm flipH="false" flipV="false" rot="0">
                <a:off x="0" y="0"/>
                <a:ext cx="2296093" cy="1289384"/>
              </a:xfrm>
              <a:custGeom>
                <a:avLst/>
                <a:gdLst/>
                <a:ahLst/>
                <a:cxnLst/>
                <a:rect r="r" b="b" t="t" l="l"/>
                <a:pathLst>
                  <a:path h="1289384" w="2296093">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name="TextBox 29" id="29"/>
              <p:cNvSpPr txBox="true"/>
              <p:nvPr/>
            </p:nvSpPr>
            <p:spPr>
              <a:xfrm>
                <a:off x="0" y="-38100"/>
                <a:ext cx="2296093" cy="1327484"/>
              </a:xfrm>
              <a:prstGeom prst="rect">
                <a:avLst/>
              </a:prstGeom>
            </p:spPr>
            <p:txBody>
              <a:bodyPr anchor="ctr" rtlCol="false" tIns="50800" lIns="50800" bIns="50800" rIns="50800"/>
              <a:lstStyle/>
              <a:p>
                <a:pPr algn="ctr">
                  <a:lnSpc>
                    <a:spcPts val="2660"/>
                  </a:lnSpc>
                  <a:spcBef>
                    <a:spcPct val="0"/>
                  </a:spcBef>
                </a:pPr>
              </a:p>
            </p:txBody>
          </p:sp>
        </p:grpSp>
      </p:grpSp>
      <p:sp>
        <p:nvSpPr>
          <p:cNvPr name="Freeform 30" id="30"/>
          <p:cNvSpPr/>
          <p:nvPr/>
        </p:nvSpPr>
        <p:spPr>
          <a:xfrm flipH="false" flipV="false" rot="-569513">
            <a:off x="15520768" y="174855"/>
            <a:ext cx="2288521" cy="2022220"/>
          </a:xfrm>
          <a:custGeom>
            <a:avLst/>
            <a:gdLst/>
            <a:ahLst/>
            <a:cxnLst/>
            <a:rect r="r" b="b" t="t" l="l"/>
            <a:pathLst>
              <a:path h="2022220" w="2288521">
                <a:moveTo>
                  <a:pt x="0" y="0"/>
                </a:moveTo>
                <a:lnTo>
                  <a:pt x="2288521" y="0"/>
                </a:lnTo>
                <a:lnTo>
                  <a:pt x="2288521" y="2022220"/>
                </a:lnTo>
                <a:lnTo>
                  <a:pt x="0" y="20222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600923">
            <a:off x="1169306" y="9052585"/>
            <a:ext cx="1445641" cy="1743646"/>
          </a:xfrm>
          <a:custGeom>
            <a:avLst/>
            <a:gdLst/>
            <a:ahLst/>
            <a:cxnLst/>
            <a:rect r="r" b="b" t="t" l="l"/>
            <a:pathLst>
              <a:path h="1743646" w="1445641">
                <a:moveTo>
                  <a:pt x="0" y="0"/>
                </a:moveTo>
                <a:lnTo>
                  <a:pt x="1445641" y="0"/>
                </a:lnTo>
                <a:lnTo>
                  <a:pt x="1445641" y="1743646"/>
                </a:lnTo>
                <a:lnTo>
                  <a:pt x="0" y="17436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2" id="32"/>
          <p:cNvSpPr txBox="true"/>
          <p:nvPr/>
        </p:nvSpPr>
        <p:spPr>
          <a:xfrm rot="0">
            <a:off x="2112088" y="4353410"/>
            <a:ext cx="7031912" cy="2641610"/>
          </a:xfrm>
          <a:prstGeom prst="rect">
            <a:avLst/>
          </a:prstGeom>
        </p:spPr>
        <p:txBody>
          <a:bodyPr anchor="t" rtlCol="false" tIns="0" lIns="0" bIns="0" rIns="0">
            <a:spAutoFit/>
          </a:bodyPr>
          <a:lstStyle/>
          <a:p>
            <a:pPr algn="l">
              <a:lnSpc>
                <a:spcPts val="3073"/>
              </a:lnSpc>
            </a:pPr>
            <a:r>
              <a:rPr lang="en-US" sz="2276" spc="136">
                <a:solidFill>
                  <a:srgbClr val="74A8B3"/>
                </a:solidFill>
                <a:latin typeface="Open Sans"/>
                <a:ea typeface="Open Sans"/>
                <a:cs typeface="Open Sans"/>
                <a:sym typeface="Open Sans"/>
              </a:rPr>
              <a:t>Process Flow:</a:t>
            </a:r>
          </a:p>
          <a:p>
            <a:pPr algn="l" marL="491524" indent="-245762" lvl="1">
              <a:lnSpc>
                <a:spcPts val="3073"/>
              </a:lnSpc>
              <a:buAutoNum type="arabicPeriod" startAt="1"/>
            </a:pPr>
            <a:r>
              <a:rPr lang="en-US" sz="2276" spc="136">
                <a:solidFill>
                  <a:srgbClr val="74A8B3"/>
                </a:solidFill>
                <a:latin typeface="Open Sans"/>
                <a:ea typeface="Open Sans"/>
                <a:cs typeface="Open Sans"/>
                <a:sym typeface="Open Sans"/>
              </a:rPr>
              <a:t>Measure traffic density</a:t>
            </a:r>
          </a:p>
          <a:p>
            <a:pPr algn="l" marL="491524" indent="-245762" lvl="1">
              <a:lnSpc>
                <a:spcPts val="3073"/>
              </a:lnSpc>
              <a:buAutoNum type="arabicPeriod" startAt="1"/>
            </a:pPr>
            <a:r>
              <a:rPr lang="en-US" sz="2276" spc="136">
                <a:solidFill>
                  <a:srgbClr val="74A8B3"/>
                </a:solidFill>
                <a:latin typeface="Open Sans"/>
                <a:ea typeface="Open Sans"/>
                <a:cs typeface="Open Sans"/>
                <a:sym typeface="Open Sans"/>
              </a:rPr>
              <a:t>Convert values to fuzzy inputs</a:t>
            </a:r>
          </a:p>
          <a:p>
            <a:pPr algn="l" marL="491524" indent="-245762" lvl="1">
              <a:lnSpc>
                <a:spcPts val="3073"/>
              </a:lnSpc>
              <a:buAutoNum type="arabicPeriod" startAt="1"/>
            </a:pPr>
            <a:r>
              <a:rPr lang="en-US" sz="2276" spc="136">
                <a:solidFill>
                  <a:srgbClr val="74A8B3"/>
                </a:solidFill>
                <a:latin typeface="Open Sans"/>
                <a:ea typeface="Open Sans"/>
                <a:cs typeface="Open Sans"/>
                <a:sym typeface="Open Sans"/>
              </a:rPr>
              <a:t>Apply IF–THEN rules</a:t>
            </a:r>
          </a:p>
          <a:p>
            <a:pPr algn="l" marL="491524" indent="-245762" lvl="1">
              <a:lnSpc>
                <a:spcPts val="3073"/>
              </a:lnSpc>
              <a:buAutoNum type="arabicPeriod" startAt="1"/>
            </a:pPr>
            <a:r>
              <a:rPr lang="en-US" sz="2276" spc="136">
                <a:solidFill>
                  <a:srgbClr val="74A8B3"/>
                </a:solidFill>
                <a:latin typeface="Open Sans"/>
                <a:ea typeface="Open Sans"/>
                <a:cs typeface="Open Sans"/>
                <a:sym typeface="Open Sans"/>
              </a:rPr>
              <a:t>Generate fuzzy output</a:t>
            </a:r>
          </a:p>
          <a:p>
            <a:pPr algn="l" marL="491524" indent="-245762" lvl="1">
              <a:lnSpc>
                <a:spcPts val="3073"/>
              </a:lnSpc>
              <a:buAutoNum type="arabicPeriod" startAt="1"/>
            </a:pPr>
            <a:r>
              <a:rPr lang="en-US" sz="2276" spc="136">
                <a:solidFill>
                  <a:srgbClr val="74A8B3"/>
                </a:solidFill>
                <a:latin typeface="Open Sans"/>
                <a:ea typeface="Open Sans"/>
                <a:cs typeface="Open Sans"/>
                <a:sym typeface="Open Sans"/>
              </a:rPr>
              <a:t>Convert to exact green time</a:t>
            </a:r>
          </a:p>
          <a:p>
            <a:pPr algn="l">
              <a:lnSpc>
                <a:spcPts val="3073"/>
              </a:lnSpc>
            </a:pPr>
          </a:p>
        </p:txBody>
      </p:sp>
      <p:sp>
        <p:nvSpPr>
          <p:cNvPr name="TextBox 33" id="33"/>
          <p:cNvSpPr txBox="true"/>
          <p:nvPr/>
        </p:nvSpPr>
        <p:spPr>
          <a:xfrm rot="0">
            <a:off x="9618606" y="4094863"/>
            <a:ext cx="7441431" cy="3749040"/>
          </a:xfrm>
          <a:prstGeom prst="rect">
            <a:avLst/>
          </a:prstGeom>
        </p:spPr>
        <p:txBody>
          <a:bodyPr anchor="t" rtlCol="false" tIns="0" lIns="0" bIns="0" rIns="0">
            <a:spAutoFit/>
          </a:bodyPr>
          <a:lstStyle/>
          <a:p>
            <a:pPr algn="l">
              <a:lnSpc>
                <a:spcPts val="3359"/>
              </a:lnSpc>
            </a:pPr>
            <a:r>
              <a:rPr lang="en-US" sz="2399">
                <a:solidFill>
                  <a:srgbClr val="74A8B3"/>
                </a:solidFill>
                <a:latin typeface="Open Sans"/>
                <a:ea typeface="Open Sans"/>
                <a:cs typeface="Open Sans"/>
                <a:sym typeface="Open Sans"/>
              </a:rPr>
              <a:t>Implementation</a:t>
            </a:r>
          </a:p>
          <a:p>
            <a:pPr algn="l">
              <a:lnSpc>
                <a:spcPts val="3359"/>
              </a:lnSpc>
            </a:pPr>
            <a:r>
              <a:rPr lang="en-US" sz="2399">
                <a:solidFill>
                  <a:srgbClr val="74A8B3"/>
                </a:solidFill>
                <a:latin typeface="Open Sans"/>
                <a:ea typeface="Open Sans"/>
                <a:cs typeface="Open Sans"/>
                <a:sym typeface="Open Sans"/>
              </a:rPr>
              <a:t>Algorithms / Models</a:t>
            </a:r>
          </a:p>
          <a:p>
            <a:pPr algn="l" marL="518157" indent="-259078" lvl="1">
              <a:lnSpc>
                <a:spcPts val="3359"/>
              </a:lnSpc>
              <a:buFont typeface="Arial"/>
              <a:buChar char="•"/>
            </a:pPr>
            <a:r>
              <a:rPr lang="en-US" sz="2399">
                <a:solidFill>
                  <a:srgbClr val="74A8B3"/>
                </a:solidFill>
                <a:latin typeface="Open Sans"/>
                <a:ea typeface="Open Sans"/>
                <a:cs typeface="Open Sans"/>
                <a:sym typeface="Open Sans"/>
              </a:rPr>
              <a:t>Mamdani Fuzzy Inference System</a:t>
            </a:r>
          </a:p>
          <a:p>
            <a:pPr algn="l" marL="518157" indent="-259078" lvl="1">
              <a:lnSpc>
                <a:spcPts val="3359"/>
              </a:lnSpc>
              <a:buFont typeface="Arial"/>
              <a:buChar char="•"/>
            </a:pPr>
            <a:r>
              <a:rPr lang="en-US" sz="2399">
                <a:solidFill>
                  <a:srgbClr val="74A8B3"/>
                </a:solidFill>
                <a:latin typeface="Open Sans"/>
                <a:ea typeface="Open Sans"/>
                <a:cs typeface="Open Sans"/>
                <a:sym typeface="Open Sans"/>
              </a:rPr>
              <a:t>Rule-based decision making</a:t>
            </a:r>
          </a:p>
          <a:p>
            <a:pPr algn="l">
              <a:lnSpc>
                <a:spcPts val="3359"/>
              </a:lnSpc>
            </a:pPr>
            <a:r>
              <a:rPr lang="en-US" sz="2399">
                <a:solidFill>
                  <a:srgbClr val="74A8B3"/>
                </a:solidFill>
                <a:latin typeface="Open Sans"/>
                <a:ea typeface="Open Sans"/>
                <a:cs typeface="Open Sans"/>
                <a:sym typeface="Open Sans"/>
              </a:rPr>
              <a:t>Technologies Used</a:t>
            </a:r>
          </a:p>
          <a:p>
            <a:pPr algn="l" marL="518157" indent="-259078" lvl="1">
              <a:lnSpc>
                <a:spcPts val="3359"/>
              </a:lnSpc>
              <a:buFont typeface="Arial"/>
              <a:buChar char="•"/>
            </a:pPr>
            <a:r>
              <a:rPr lang="en-US" sz="2399">
                <a:solidFill>
                  <a:srgbClr val="74A8B3"/>
                </a:solidFill>
                <a:latin typeface="Open Sans"/>
                <a:ea typeface="Open Sans"/>
                <a:cs typeface="Open Sans"/>
                <a:sym typeface="Open Sans"/>
              </a:rPr>
              <a:t>MATLAB / Python</a:t>
            </a:r>
          </a:p>
          <a:p>
            <a:pPr algn="l" marL="518157" indent="-259078" lvl="1">
              <a:lnSpc>
                <a:spcPts val="3359"/>
              </a:lnSpc>
              <a:buFont typeface="Arial"/>
              <a:buChar char="•"/>
            </a:pPr>
            <a:r>
              <a:rPr lang="en-US" sz="2399">
                <a:solidFill>
                  <a:srgbClr val="74A8B3"/>
                </a:solidFill>
                <a:latin typeface="Open Sans"/>
                <a:ea typeface="Open Sans"/>
                <a:cs typeface="Open Sans"/>
                <a:sym typeface="Open Sans"/>
              </a:rPr>
              <a:t>Fuzzy Logic Toolbox</a:t>
            </a:r>
          </a:p>
          <a:p>
            <a:pPr algn="l" marL="518157" indent="-259078" lvl="1">
              <a:lnSpc>
                <a:spcPts val="3359"/>
              </a:lnSpc>
              <a:buFont typeface="Arial"/>
              <a:buChar char="•"/>
            </a:pPr>
            <a:r>
              <a:rPr lang="en-US" sz="2399">
                <a:solidFill>
                  <a:srgbClr val="74A8B3"/>
                </a:solidFill>
                <a:latin typeface="Open Sans"/>
                <a:ea typeface="Open Sans"/>
                <a:cs typeface="Open Sans"/>
                <a:sym typeface="Open Sans"/>
              </a:rPr>
              <a:t>Simulation tools</a:t>
            </a:r>
          </a:p>
          <a:p>
            <a:pPr algn="l">
              <a:lnSpc>
                <a:spcPts val="33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14400131" y="0"/>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96799">
            <a:off x="13636910" y="5279113"/>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4" id="4"/>
          <p:cNvGrpSpPr/>
          <p:nvPr/>
        </p:nvGrpSpPr>
        <p:grpSpPr>
          <a:xfrm rot="-577747">
            <a:off x="13912200" y="5536870"/>
            <a:ext cx="5062044" cy="4189837"/>
            <a:chOff x="0" y="0"/>
            <a:chExt cx="1333213" cy="1103496"/>
          </a:xfrm>
        </p:grpSpPr>
        <p:sp>
          <p:nvSpPr>
            <p:cNvPr name="Freeform 5" id="5"/>
            <p:cNvSpPr/>
            <p:nvPr/>
          </p:nvSpPr>
          <p:spPr>
            <a:xfrm flipH="false" flipV="false" rot="0">
              <a:off x="0" y="0"/>
              <a:ext cx="1333213" cy="1103496"/>
            </a:xfrm>
            <a:custGeom>
              <a:avLst/>
              <a:gdLst/>
              <a:ahLst/>
              <a:cxnLst/>
              <a:rect r="r" b="b" t="t" l="l"/>
              <a:pathLst>
                <a:path h="1103496" w="1333213">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6" id="6"/>
            <p:cNvSpPr txBox="true"/>
            <p:nvPr/>
          </p:nvSpPr>
          <p:spPr>
            <a:xfrm>
              <a:off x="0" y="-38100"/>
              <a:ext cx="1333213" cy="11415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true" flipV="false" rot="-596799">
            <a:off x="14910558" y="30965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8" id="8"/>
          <p:cNvGrpSpPr/>
          <p:nvPr/>
        </p:nvGrpSpPr>
        <p:grpSpPr>
          <a:xfrm rot="-577747">
            <a:off x="15483130" y="4101669"/>
            <a:ext cx="5062044" cy="603669"/>
            <a:chOff x="0" y="0"/>
            <a:chExt cx="1333213" cy="158991"/>
          </a:xfrm>
        </p:grpSpPr>
        <p:sp>
          <p:nvSpPr>
            <p:cNvPr name="Freeform 9" id="9"/>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10" id="10"/>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77747">
            <a:off x="15147467" y="681914"/>
            <a:ext cx="5062044" cy="3536331"/>
            <a:chOff x="0" y="0"/>
            <a:chExt cx="1333213" cy="931379"/>
          </a:xfrm>
        </p:grpSpPr>
        <p:sp>
          <p:nvSpPr>
            <p:cNvPr name="Freeform 12" id="12"/>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3" id="13"/>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400175" y="1750583"/>
            <a:ext cx="11687959" cy="2671233"/>
          </a:xfrm>
          <a:prstGeom prst="rect">
            <a:avLst/>
          </a:prstGeom>
        </p:spPr>
        <p:txBody>
          <a:bodyPr anchor="t" rtlCol="false" tIns="0" lIns="0" bIns="0" rIns="0">
            <a:spAutoFit/>
          </a:bodyPr>
          <a:lstStyle/>
          <a:p>
            <a:pPr algn="l">
              <a:lnSpc>
                <a:spcPts val="9999"/>
              </a:lnSpc>
            </a:pPr>
            <a:r>
              <a:rPr lang="en-US" b="true" sz="9999" spc="199">
                <a:solidFill>
                  <a:srgbClr val="F8F3ED"/>
                </a:solidFill>
                <a:latin typeface="Sugo Classic Bold"/>
                <a:ea typeface="Sugo Classic Bold"/>
                <a:cs typeface="Sugo Classic Bold"/>
                <a:sym typeface="Sugo Classic Bold"/>
              </a:rPr>
              <a:t>EXPECTED RESULTS &amp; DISCUSSIONS</a:t>
            </a:r>
          </a:p>
        </p:txBody>
      </p:sp>
      <p:sp>
        <p:nvSpPr>
          <p:cNvPr name="Freeform 15" id="15"/>
          <p:cNvSpPr/>
          <p:nvPr/>
        </p:nvSpPr>
        <p:spPr>
          <a:xfrm flipH="false" flipV="false" rot="0">
            <a:off x="-2057400" y="-219317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57225" y="89645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638553">
            <a:off x="15665539" y="1675256"/>
            <a:ext cx="3187521" cy="2057400"/>
          </a:xfrm>
          <a:custGeom>
            <a:avLst/>
            <a:gdLst/>
            <a:ahLst/>
            <a:cxnLst/>
            <a:rect r="r" b="b" t="t" l="l"/>
            <a:pathLst>
              <a:path h="2057400" w="3187521">
                <a:moveTo>
                  <a:pt x="0" y="0"/>
                </a:moveTo>
                <a:lnTo>
                  <a:pt x="3187522" y="0"/>
                </a:lnTo>
                <a:lnTo>
                  <a:pt x="3187522"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624134">
            <a:off x="15197386" y="6313320"/>
            <a:ext cx="2542674" cy="2533428"/>
          </a:xfrm>
          <a:custGeom>
            <a:avLst/>
            <a:gdLst/>
            <a:ahLst/>
            <a:cxnLst/>
            <a:rect r="r" b="b" t="t" l="l"/>
            <a:pathLst>
              <a:path h="2533428" w="2542674">
                <a:moveTo>
                  <a:pt x="0" y="0"/>
                </a:moveTo>
                <a:lnTo>
                  <a:pt x="2542674" y="0"/>
                </a:lnTo>
                <a:lnTo>
                  <a:pt x="2542674" y="2533428"/>
                </a:lnTo>
                <a:lnTo>
                  <a:pt x="0" y="25334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1794129" y="3971198"/>
            <a:ext cx="8816699" cy="5699760"/>
          </a:xfrm>
          <a:prstGeom prst="rect">
            <a:avLst/>
          </a:prstGeom>
        </p:spPr>
        <p:txBody>
          <a:bodyPr anchor="t" rtlCol="false" tIns="0" lIns="0" bIns="0" rIns="0">
            <a:spAutoFit/>
          </a:bodyPr>
          <a:lstStyle/>
          <a:p>
            <a:pPr algn="l">
              <a:lnSpc>
                <a:spcPts val="3779"/>
              </a:lnSpc>
            </a:pP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Reduced waiting time</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Improved traffic flow</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Better utilization of green signals</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Adaptive response to real-time conditions</a:t>
            </a:r>
          </a:p>
          <a:p>
            <a:pPr algn="l">
              <a:lnSpc>
                <a:spcPts val="3779"/>
              </a:lnSpc>
            </a:pPr>
          </a:p>
          <a:p>
            <a:pPr algn="l">
              <a:lnSpc>
                <a:spcPts val="3779"/>
              </a:lnSpc>
            </a:pPr>
            <a:r>
              <a:rPr lang="en-US" sz="2799" spc="167">
                <a:solidFill>
                  <a:srgbClr val="F8F3ED"/>
                </a:solidFill>
                <a:latin typeface="Open Sans"/>
                <a:ea typeface="Open Sans"/>
                <a:cs typeface="Open Sans"/>
                <a:sym typeface="Open Sans"/>
              </a:rPr>
              <a:t>Outputs &amp; Performance Analysis</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Dynamic green signal timing</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Less congestion at intersections</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Improved fuel efficiency</a:t>
            </a:r>
          </a:p>
          <a:p>
            <a:pPr algn="l" marL="604516" indent="-302258" lvl="1">
              <a:lnSpc>
                <a:spcPts val="3779"/>
              </a:lnSpc>
              <a:buFont typeface="Arial"/>
              <a:buChar char="•"/>
            </a:pPr>
            <a:r>
              <a:rPr lang="en-US" sz="2799" spc="167">
                <a:solidFill>
                  <a:srgbClr val="F8F3ED"/>
                </a:solidFill>
                <a:latin typeface="Open Sans"/>
                <a:ea typeface="Open Sans"/>
                <a:cs typeface="Open Sans"/>
                <a:sym typeface="Open Sans"/>
              </a:rPr>
              <a:t>Smooth traffic movement</a:t>
            </a:r>
          </a:p>
          <a:p>
            <a:pPr algn="l">
              <a:lnSpc>
                <a:spcPts val="377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285484">
            <a:off x="-8434371" y="-806086"/>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4" id="4"/>
          <p:cNvGrpSpPr/>
          <p:nvPr/>
        </p:nvGrpSpPr>
        <p:grpSpPr>
          <a:xfrm rot="-577747">
            <a:off x="-1286473" y="8720319"/>
            <a:ext cx="5062044" cy="3536331"/>
            <a:chOff x="0" y="0"/>
            <a:chExt cx="1333213" cy="931379"/>
          </a:xfrm>
        </p:grpSpPr>
        <p:sp>
          <p:nvSpPr>
            <p:cNvPr name="Freeform 5" id="5"/>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6" id="6"/>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577747">
            <a:off x="-472602" y="8931281"/>
            <a:ext cx="945204" cy="3536331"/>
            <a:chOff x="0" y="0"/>
            <a:chExt cx="248943" cy="931379"/>
          </a:xfrm>
        </p:grpSpPr>
        <p:sp>
          <p:nvSpPr>
            <p:cNvPr name="Freeform 8" id="8"/>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9" id="9"/>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9723">
            <a:off x="15932759" y="-167398"/>
            <a:ext cx="10320250" cy="10320250"/>
          </a:xfrm>
          <a:custGeom>
            <a:avLst/>
            <a:gdLst/>
            <a:ahLst/>
            <a:cxnLst/>
            <a:rect r="r" b="b" t="t" l="l"/>
            <a:pathLst>
              <a:path h="10320250" w="10320250">
                <a:moveTo>
                  <a:pt x="0" y="0"/>
                </a:moveTo>
                <a:lnTo>
                  <a:pt x="10320250" y="0"/>
                </a:lnTo>
                <a:lnTo>
                  <a:pt x="10320250"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480104" y="3662136"/>
            <a:ext cx="7441431" cy="4401973"/>
            <a:chOff x="0" y="0"/>
            <a:chExt cx="9921908" cy="5869298"/>
          </a:xfrm>
        </p:grpSpPr>
        <p:sp>
          <p:nvSpPr>
            <p:cNvPr name="Freeform 12" id="12"/>
            <p:cNvSpPr/>
            <p:nvPr/>
          </p:nvSpPr>
          <p:spPr>
            <a:xfrm flipH="false" flipV="false" rot="-5400000">
              <a:off x="2026305" y="-2026305"/>
              <a:ext cx="5869298" cy="9921908"/>
            </a:xfrm>
            <a:custGeom>
              <a:avLst/>
              <a:gdLst/>
              <a:ahLst/>
              <a:cxnLst/>
              <a:rect r="r" b="b" t="t" l="l"/>
              <a:pathLst>
                <a:path h="9921908" w="5869298">
                  <a:moveTo>
                    <a:pt x="0" y="0"/>
                  </a:moveTo>
                  <a:lnTo>
                    <a:pt x="5869298" y="0"/>
                  </a:lnTo>
                  <a:lnTo>
                    <a:pt x="5869298" y="9921908"/>
                  </a:lnTo>
                  <a:lnTo>
                    <a:pt x="0" y="9921908"/>
                  </a:lnTo>
                  <a:lnTo>
                    <a:pt x="0" y="0"/>
                  </a:lnTo>
                  <a:close/>
                </a:path>
              </a:pathLst>
            </a:custGeom>
            <a:blipFill>
              <a:blip r:embed="rId5"/>
              <a:stretch>
                <a:fillRect l="0" t="0" r="0" b="0"/>
              </a:stretch>
            </a:blipFill>
          </p:spPr>
        </p:sp>
        <p:grpSp>
          <p:nvGrpSpPr>
            <p:cNvPr name="Group 13" id="13"/>
            <p:cNvGrpSpPr/>
            <p:nvPr/>
          </p:nvGrpSpPr>
          <p:grpSpPr>
            <a:xfrm rot="0">
              <a:off x="185123" y="249436"/>
              <a:ext cx="9444713" cy="5303733"/>
              <a:chOff x="0" y="0"/>
              <a:chExt cx="2296093" cy="1289384"/>
            </a:xfrm>
          </p:grpSpPr>
          <p:sp>
            <p:nvSpPr>
              <p:cNvPr name="Freeform 14" id="14"/>
              <p:cNvSpPr/>
              <p:nvPr/>
            </p:nvSpPr>
            <p:spPr>
              <a:xfrm flipH="false" flipV="false" rot="0">
                <a:off x="0" y="0"/>
                <a:ext cx="2296093" cy="1289384"/>
              </a:xfrm>
              <a:custGeom>
                <a:avLst/>
                <a:gdLst/>
                <a:ahLst/>
                <a:cxnLst/>
                <a:rect r="r" b="b" t="t" l="l"/>
                <a:pathLst>
                  <a:path h="1289384" w="2296093">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name="TextBox 15" id="15"/>
              <p:cNvSpPr txBox="true"/>
              <p:nvPr/>
            </p:nvSpPr>
            <p:spPr>
              <a:xfrm>
                <a:off x="0" y="-38100"/>
                <a:ext cx="2296093" cy="1327484"/>
              </a:xfrm>
              <a:prstGeom prst="rect">
                <a:avLst/>
              </a:prstGeom>
            </p:spPr>
            <p:txBody>
              <a:bodyPr anchor="ctr" rtlCol="false" tIns="50800" lIns="50800" bIns="50800" rIns="50800"/>
              <a:lstStyle/>
              <a:p>
                <a:pPr algn="ctr">
                  <a:lnSpc>
                    <a:spcPts val="2660"/>
                  </a:lnSpc>
                  <a:spcBef>
                    <a:spcPct val="0"/>
                  </a:spcBef>
                </a:pPr>
              </a:p>
            </p:txBody>
          </p:sp>
        </p:grpSp>
      </p:grpSp>
      <p:sp>
        <p:nvSpPr>
          <p:cNvPr name="Freeform 16" id="16"/>
          <p:cNvSpPr/>
          <p:nvPr/>
        </p:nvSpPr>
        <p:spPr>
          <a:xfrm flipH="false" flipV="false" rot="0">
            <a:off x="2255934" y="-30214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9858205" y="856060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true" flipV="false" rot="-596799">
            <a:off x="14451146" y="-139853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19" id="19"/>
          <p:cNvGrpSpPr/>
          <p:nvPr/>
        </p:nvGrpSpPr>
        <p:grpSpPr>
          <a:xfrm rot="-577747">
            <a:off x="15023718" y="2393479"/>
            <a:ext cx="5062044" cy="603669"/>
            <a:chOff x="0" y="0"/>
            <a:chExt cx="1333213" cy="158991"/>
          </a:xfrm>
        </p:grpSpPr>
        <p:sp>
          <p:nvSpPr>
            <p:cNvPr name="Freeform 20" id="20"/>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21" id="21"/>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577747">
            <a:off x="14688055" y="-1026276"/>
            <a:ext cx="5062044" cy="3536331"/>
            <a:chOff x="0" y="0"/>
            <a:chExt cx="1333213" cy="931379"/>
          </a:xfrm>
        </p:grpSpPr>
        <p:sp>
          <p:nvSpPr>
            <p:cNvPr name="Freeform 23" id="23"/>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4" id="24"/>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9351144" y="3725098"/>
            <a:ext cx="7441431" cy="4401973"/>
            <a:chOff x="0" y="0"/>
            <a:chExt cx="9921908" cy="5869298"/>
          </a:xfrm>
        </p:grpSpPr>
        <p:sp>
          <p:nvSpPr>
            <p:cNvPr name="Freeform 26" id="26"/>
            <p:cNvSpPr/>
            <p:nvPr/>
          </p:nvSpPr>
          <p:spPr>
            <a:xfrm flipH="false" flipV="false" rot="-5400000">
              <a:off x="2026305" y="-2026305"/>
              <a:ext cx="5869298" cy="9921908"/>
            </a:xfrm>
            <a:custGeom>
              <a:avLst/>
              <a:gdLst/>
              <a:ahLst/>
              <a:cxnLst/>
              <a:rect r="r" b="b" t="t" l="l"/>
              <a:pathLst>
                <a:path h="9921908" w="5869298">
                  <a:moveTo>
                    <a:pt x="0" y="0"/>
                  </a:moveTo>
                  <a:lnTo>
                    <a:pt x="5869298" y="0"/>
                  </a:lnTo>
                  <a:lnTo>
                    <a:pt x="5869298" y="9921908"/>
                  </a:lnTo>
                  <a:lnTo>
                    <a:pt x="0" y="9921908"/>
                  </a:lnTo>
                  <a:lnTo>
                    <a:pt x="0" y="0"/>
                  </a:lnTo>
                  <a:close/>
                </a:path>
              </a:pathLst>
            </a:custGeom>
            <a:blipFill>
              <a:blip r:embed="rId5"/>
              <a:stretch>
                <a:fillRect l="0" t="0" r="0" b="0"/>
              </a:stretch>
            </a:blipFill>
          </p:spPr>
        </p:sp>
        <p:grpSp>
          <p:nvGrpSpPr>
            <p:cNvPr name="Group 27" id="27"/>
            <p:cNvGrpSpPr/>
            <p:nvPr/>
          </p:nvGrpSpPr>
          <p:grpSpPr>
            <a:xfrm rot="0">
              <a:off x="185123" y="249436"/>
              <a:ext cx="9444713" cy="5303733"/>
              <a:chOff x="0" y="0"/>
              <a:chExt cx="2296093" cy="1289384"/>
            </a:xfrm>
          </p:grpSpPr>
          <p:sp>
            <p:nvSpPr>
              <p:cNvPr name="Freeform 28" id="28"/>
              <p:cNvSpPr/>
              <p:nvPr/>
            </p:nvSpPr>
            <p:spPr>
              <a:xfrm flipH="false" flipV="false" rot="0">
                <a:off x="0" y="0"/>
                <a:ext cx="2296093" cy="1289384"/>
              </a:xfrm>
              <a:custGeom>
                <a:avLst/>
                <a:gdLst/>
                <a:ahLst/>
                <a:cxnLst/>
                <a:rect r="r" b="b" t="t" l="l"/>
                <a:pathLst>
                  <a:path h="1289384" w="2296093">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name="TextBox 29" id="29"/>
              <p:cNvSpPr txBox="true"/>
              <p:nvPr/>
            </p:nvSpPr>
            <p:spPr>
              <a:xfrm>
                <a:off x="0" y="-38100"/>
                <a:ext cx="2296093" cy="1327484"/>
              </a:xfrm>
              <a:prstGeom prst="rect">
                <a:avLst/>
              </a:prstGeom>
            </p:spPr>
            <p:txBody>
              <a:bodyPr anchor="ctr" rtlCol="false" tIns="50800" lIns="50800" bIns="50800" rIns="50800"/>
              <a:lstStyle/>
              <a:p>
                <a:pPr algn="ctr">
                  <a:lnSpc>
                    <a:spcPts val="2660"/>
                  </a:lnSpc>
                  <a:spcBef>
                    <a:spcPct val="0"/>
                  </a:spcBef>
                </a:pPr>
              </a:p>
            </p:txBody>
          </p:sp>
        </p:grpSp>
      </p:grpSp>
      <p:sp>
        <p:nvSpPr>
          <p:cNvPr name="Freeform 30" id="30"/>
          <p:cNvSpPr/>
          <p:nvPr/>
        </p:nvSpPr>
        <p:spPr>
          <a:xfrm flipH="false" flipV="false" rot="-569513">
            <a:off x="15520768" y="174855"/>
            <a:ext cx="2288521" cy="2022220"/>
          </a:xfrm>
          <a:custGeom>
            <a:avLst/>
            <a:gdLst/>
            <a:ahLst/>
            <a:cxnLst/>
            <a:rect r="r" b="b" t="t" l="l"/>
            <a:pathLst>
              <a:path h="2022220" w="2288521">
                <a:moveTo>
                  <a:pt x="0" y="0"/>
                </a:moveTo>
                <a:lnTo>
                  <a:pt x="2288521" y="0"/>
                </a:lnTo>
                <a:lnTo>
                  <a:pt x="2288521" y="2022220"/>
                </a:lnTo>
                <a:lnTo>
                  <a:pt x="0" y="20222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600923">
            <a:off x="1169306" y="9052585"/>
            <a:ext cx="1445641" cy="1743646"/>
          </a:xfrm>
          <a:custGeom>
            <a:avLst/>
            <a:gdLst/>
            <a:ahLst/>
            <a:cxnLst/>
            <a:rect r="r" b="b" t="t" l="l"/>
            <a:pathLst>
              <a:path h="1743646" w="1445641">
                <a:moveTo>
                  <a:pt x="0" y="0"/>
                </a:moveTo>
                <a:lnTo>
                  <a:pt x="1445641" y="0"/>
                </a:lnTo>
                <a:lnTo>
                  <a:pt x="1445641" y="1743646"/>
                </a:lnTo>
                <a:lnTo>
                  <a:pt x="0" y="17436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pic>
        <p:nvPicPr>
          <p:cNvPr name="Picture 32" id="32"/>
          <p:cNvPicPr>
            <a:picLocks noChangeAspect="true"/>
          </p:cNvPicPr>
          <p:nvPr/>
        </p:nvPicPr>
        <p:blipFill>
          <a:blip r:embed="rId14"/>
          <a:stretch>
            <a:fillRect/>
          </a:stretch>
        </p:blipFill>
        <p:spPr>
          <a:xfrm rot="0">
            <a:off x="11265831" y="4139870"/>
            <a:ext cx="3612058" cy="3572430"/>
          </a:xfrm>
          <a:prstGeom prst="rect">
            <a:avLst/>
          </a:prstGeom>
        </p:spPr>
      </p:pic>
      <p:sp>
        <p:nvSpPr>
          <p:cNvPr name="TextBox 33" id="33"/>
          <p:cNvSpPr txBox="true"/>
          <p:nvPr/>
        </p:nvSpPr>
        <p:spPr>
          <a:xfrm rot="0">
            <a:off x="4915070" y="1750583"/>
            <a:ext cx="8457861" cy="1395941"/>
          </a:xfrm>
          <a:prstGeom prst="rect">
            <a:avLst/>
          </a:prstGeom>
        </p:spPr>
        <p:txBody>
          <a:bodyPr anchor="t" rtlCol="false" tIns="0" lIns="0" bIns="0" rIns="0">
            <a:spAutoFit/>
          </a:bodyPr>
          <a:lstStyle/>
          <a:p>
            <a:pPr algn="ctr">
              <a:lnSpc>
                <a:spcPts val="9999"/>
              </a:lnSpc>
            </a:pPr>
            <a:r>
              <a:rPr lang="en-US" b="true" sz="9999" spc="199">
                <a:solidFill>
                  <a:srgbClr val="F8F3ED"/>
                </a:solidFill>
                <a:latin typeface="Sugo Classic Bold"/>
                <a:ea typeface="Sugo Classic Bold"/>
                <a:cs typeface="Sugo Classic Bold"/>
                <a:sym typeface="Sugo Classic Bold"/>
              </a:rPr>
              <a:t>GANTT CHART</a:t>
            </a:r>
          </a:p>
        </p:txBody>
      </p:sp>
      <p:sp>
        <p:nvSpPr>
          <p:cNvPr name="TextBox 34" id="34"/>
          <p:cNvSpPr txBox="true"/>
          <p:nvPr/>
        </p:nvSpPr>
        <p:spPr>
          <a:xfrm rot="0">
            <a:off x="2112088" y="4353410"/>
            <a:ext cx="6177463" cy="2990850"/>
          </a:xfrm>
          <a:prstGeom prst="rect">
            <a:avLst/>
          </a:prstGeom>
        </p:spPr>
        <p:txBody>
          <a:bodyPr anchor="t" rtlCol="false" tIns="0" lIns="0" bIns="0" rIns="0">
            <a:spAutoFit/>
          </a:bodyPr>
          <a:lstStyle/>
          <a:p>
            <a:pPr algn="l">
              <a:lnSpc>
                <a:spcPts val="2699"/>
              </a:lnSpc>
            </a:pPr>
          </a:p>
          <a:p>
            <a:pPr algn="l">
              <a:lnSpc>
                <a:spcPts val="2699"/>
              </a:lnSpc>
            </a:pPr>
            <a:r>
              <a:rPr lang="en-US" sz="1999" spc="119">
                <a:solidFill>
                  <a:srgbClr val="74A8B3"/>
                </a:solidFill>
                <a:latin typeface="Open Sans"/>
                <a:ea typeface="Open Sans"/>
                <a:cs typeface="Open Sans"/>
                <a:sym typeface="Open Sans"/>
              </a:rPr>
              <a:t>Workflow :</a:t>
            </a:r>
          </a:p>
          <a:p>
            <a:pPr algn="l" marL="431799" indent="-215899" lvl="1">
              <a:lnSpc>
                <a:spcPts val="2699"/>
              </a:lnSpc>
              <a:buFont typeface="Arial"/>
              <a:buChar char="•"/>
            </a:pPr>
            <a:r>
              <a:rPr lang="en-US" sz="1999" spc="119">
                <a:solidFill>
                  <a:srgbClr val="74A8B3"/>
                </a:solidFill>
                <a:latin typeface="Open Sans"/>
                <a:ea typeface="Open Sans"/>
                <a:cs typeface="Open Sans"/>
                <a:sym typeface="Open Sans"/>
              </a:rPr>
              <a:t>Week 1–2: Problem analysis</a:t>
            </a:r>
          </a:p>
          <a:p>
            <a:pPr algn="l" marL="431799" indent="-215899" lvl="1">
              <a:lnSpc>
                <a:spcPts val="2699"/>
              </a:lnSpc>
              <a:buFont typeface="Arial"/>
              <a:buChar char="•"/>
            </a:pPr>
            <a:r>
              <a:rPr lang="en-US" sz="1999" spc="119">
                <a:solidFill>
                  <a:srgbClr val="74A8B3"/>
                </a:solidFill>
                <a:latin typeface="Open Sans"/>
                <a:ea typeface="Open Sans"/>
                <a:cs typeface="Open Sans"/>
                <a:sym typeface="Open Sans"/>
              </a:rPr>
              <a:t>Week 3–4: Literature review</a:t>
            </a:r>
          </a:p>
          <a:p>
            <a:pPr algn="l" marL="431799" indent="-215899" lvl="1">
              <a:lnSpc>
                <a:spcPts val="2699"/>
              </a:lnSpc>
              <a:buFont typeface="Arial"/>
              <a:buChar char="•"/>
            </a:pPr>
            <a:r>
              <a:rPr lang="en-US" sz="1999" spc="119">
                <a:solidFill>
                  <a:srgbClr val="74A8B3"/>
                </a:solidFill>
                <a:latin typeface="Open Sans"/>
                <a:ea typeface="Open Sans"/>
                <a:cs typeface="Open Sans"/>
                <a:sym typeface="Open Sans"/>
              </a:rPr>
              <a:t>Week 5–6: System design</a:t>
            </a:r>
          </a:p>
          <a:p>
            <a:pPr algn="l" marL="431799" indent="-215899" lvl="1">
              <a:lnSpc>
                <a:spcPts val="2699"/>
              </a:lnSpc>
              <a:buFont typeface="Arial"/>
              <a:buChar char="•"/>
            </a:pPr>
            <a:r>
              <a:rPr lang="en-US" sz="1999" spc="119">
                <a:solidFill>
                  <a:srgbClr val="74A8B3"/>
                </a:solidFill>
                <a:latin typeface="Open Sans"/>
                <a:ea typeface="Open Sans"/>
                <a:cs typeface="Open Sans"/>
                <a:sym typeface="Open Sans"/>
              </a:rPr>
              <a:t>Week 7–9: Implementation</a:t>
            </a:r>
          </a:p>
          <a:p>
            <a:pPr algn="l" marL="431799" indent="-215899" lvl="1">
              <a:lnSpc>
                <a:spcPts val="2699"/>
              </a:lnSpc>
              <a:buFont typeface="Arial"/>
              <a:buChar char="•"/>
            </a:pPr>
            <a:r>
              <a:rPr lang="en-US" sz="1999" spc="119">
                <a:solidFill>
                  <a:srgbClr val="74A8B3"/>
                </a:solidFill>
                <a:latin typeface="Open Sans"/>
                <a:ea typeface="Open Sans"/>
                <a:cs typeface="Open Sans"/>
                <a:sym typeface="Open Sans"/>
              </a:rPr>
              <a:t>Week 10–11: Testing</a:t>
            </a:r>
          </a:p>
          <a:p>
            <a:pPr algn="l" marL="431799" indent="-215899" lvl="1">
              <a:lnSpc>
                <a:spcPts val="2699"/>
              </a:lnSpc>
              <a:buFont typeface="Arial"/>
              <a:buChar char="•"/>
            </a:pPr>
            <a:r>
              <a:rPr lang="en-US" sz="1999" spc="119">
                <a:solidFill>
                  <a:srgbClr val="74A8B3"/>
                </a:solidFill>
                <a:latin typeface="Open Sans"/>
                <a:ea typeface="Open Sans"/>
                <a:cs typeface="Open Sans"/>
                <a:sym typeface="Open Sans"/>
              </a:rPr>
              <a:t>Week 12: Documentation &amp; review</a:t>
            </a:r>
          </a:p>
          <a:p>
            <a:pPr algn="l">
              <a:lnSpc>
                <a:spcPts val="269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grpSp>
        <p:nvGrpSpPr>
          <p:cNvPr name="Group 2" id="2"/>
          <p:cNvGrpSpPr/>
          <p:nvPr/>
        </p:nvGrpSpPr>
        <p:grpSpPr>
          <a:xfrm rot="227353">
            <a:off x="-842297" y="-9163825"/>
            <a:ext cx="20621450" cy="10320250"/>
            <a:chOff x="0" y="0"/>
            <a:chExt cx="27495267" cy="13760333"/>
          </a:xfrm>
        </p:grpSpPr>
        <p:sp>
          <p:nvSpPr>
            <p:cNvPr name="Freeform 3" id="3"/>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216792">
            <a:off x="-883649" y="9273391"/>
            <a:ext cx="20621450" cy="10320250"/>
            <a:chOff x="0" y="0"/>
            <a:chExt cx="27495267" cy="13760333"/>
          </a:xfrm>
        </p:grpSpPr>
        <p:sp>
          <p:nvSpPr>
            <p:cNvPr name="Freeform 6" id="6"/>
            <p:cNvSpPr/>
            <p:nvPr/>
          </p:nvSpPr>
          <p:spPr>
            <a:xfrm flipH="false" flipV="false" rot="0">
              <a:off x="0" y="0"/>
              <a:ext cx="13760333" cy="13760333"/>
            </a:xfrm>
            <a:custGeom>
              <a:avLst/>
              <a:gdLst/>
              <a:ahLst/>
              <a:cxnLst/>
              <a:rect r="r" b="b" t="t" l="l"/>
              <a:pathLst>
                <a:path h="13760333" w="13760333">
                  <a:moveTo>
                    <a:pt x="0" y="0"/>
                  </a:moveTo>
                  <a:lnTo>
                    <a:pt x="13760333" y="0"/>
                  </a:lnTo>
                  <a:lnTo>
                    <a:pt x="13760333"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734933" y="0"/>
              <a:ext cx="13760333" cy="13760333"/>
            </a:xfrm>
            <a:custGeom>
              <a:avLst/>
              <a:gdLst/>
              <a:ahLst/>
              <a:cxnLst/>
              <a:rect r="r" b="b" t="t" l="l"/>
              <a:pathLst>
                <a:path h="13760333" w="13760333">
                  <a:moveTo>
                    <a:pt x="0" y="0"/>
                  </a:moveTo>
                  <a:lnTo>
                    <a:pt x="13760334" y="0"/>
                  </a:lnTo>
                  <a:lnTo>
                    <a:pt x="13760334" y="13760333"/>
                  </a:lnTo>
                  <a:lnTo>
                    <a:pt x="0" y="13760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8" id="8"/>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9" id="9"/>
          <p:cNvGrpSpPr/>
          <p:nvPr/>
        </p:nvGrpSpPr>
        <p:grpSpPr>
          <a:xfrm rot="-577747">
            <a:off x="-1286473" y="8720319"/>
            <a:ext cx="5062044" cy="3536331"/>
            <a:chOff x="0" y="0"/>
            <a:chExt cx="1333213" cy="931379"/>
          </a:xfrm>
        </p:grpSpPr>
        <p:sp>
          <p:nvSpPr>
            <p:cNvPr name="Freeform 10" id="10"/>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1" id="11"/>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77747">
            <a:off x="-472602" y="8931281"/>
            <a:ext cx="945204" cy="3536331"/>
            <a:chOff x="0" y="0"/>
            <a:chExt cx="248943" cy="931379"/>
          </a:xfrm>
        </p:grpSpPr>
        <p:sp>
          <p:nvSpPr>
            <p:cNvPr name="Freeform 13" id="13"/>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14" id="14"/>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5400000">
            <a:off x="6435161" y="1408996"/>
            <a:ext cx="5417678" cy="9158456"/>
          </a:xfrm>
          <a:custGeom>
            <a:avLst/>
            <a:gdLst/>
            <a:ahLst/>
            <a:cxnLst/>
            <a:rect r="r" b="b" t="t" l="l"/>
            <a:pathLst>
              <a:path h="9158456" w="5417678">
                <a:moveTo>
                  <a:pt x="0" y="0"/>
                </a:moveTo>
                <a:lnTo>
                  <a:pt x="5417678" y="0"/>
                </a:lnTo>
                <a:lnTo>
                  <a:pt x="5417678" y="9158456"/>
                </a:lnTo>
                <a:lnTo>
                  <a:pt x="0" y="9158456"/>
                </a:lnTo>
                <a:lnTo>
                  <a:pt x="0" y="0"/>
                </a:lnTo>
                <a:close/>
              </a:path>
            </a:pathLst>
          </a:custGeom>
          <a:blipFill>
            <a:blip r:embed="rId5"/>
            <a:stretch>
              <a:fillRect l="0" t="0" r="0" b="0"/>
            </a:stretch>
          </a:blipFill>
        </p:spPr>
      </p:sp>
      <p:grpSp>
        <p:nvGrpSpPr>
          <p:cNvPr name="Group 16" id="16"/>
          <p:cNvGrpSpPr/>
          <p:nvPr/>
        </p:nvGrpSpPr>
        <p:grpSpPr>
          <a:xfrm rot="0">
            <a:off x="4735651" y="3509628"/>
            <a:ext cx="8717980" cy="4895632"/>
            <a:chOff x="0" y="0"/>
            <a:chExt cx="2296093" cy="1289384"/>
          </a:xfrm>
        </p:grpSpPr>
        <p:sp>
          <p:nvSpPr>
            <p:cNvPr name="Freeform 17" id="17"/>
            <p:cNvSpPr/>
            <p:nvPr/>
          </p:nvSpPr>
          <p:spPr>
            <a:xfrm flipH="false" flipV="false" rot="0">
              <a:off x="0" y="0"/>
              <a:ext cx="2296093" cy="1289384"/>
            </a:xfrm>
            <a:custGeom>
              <a:avLst/>
              <a:gdLst/>
              <a:ahLst/>
              <a:cxnLst/>
              <a:rect r="r" b="b" t="t" l="l"/>
              <a:pathLst>
                <a:path h="1289384" w="2296093">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name="TextBox 18" id="18"/>
            <p:cNvSpPr txBox="true"/>
            <p:nvPr/>
          </p:nvSpPr>
          <p:spPr>
            <a:xfrm>
              <a:off x="0" y="-38100"/>
              <a:ext cx="2296093" cy="1327484"/>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2064628" y="182654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6230600" y="429046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571633">
            <a:off x="677126" y="8895708"/>
            <a:ext cx="2571750" cy="2057400"/>
          </a:xfrm>
          <a:custGeom>
            <a:avLst/>
            <a:gdLst/>
            <a:ahLst/>
            <a:cxnLst/>
            <a:rect r="r" b="b" t="t" l="l"/>
            <a:pathLst>
              <a:path h="2057400" w="2571750">
                <a:moveTo>
                  <a:pt x="0" y="0"/>
                </a:moveTo>
                <a:lnTo>
                  <a:pt x="2571750" y="0"/>
                </a:lnTo>
                <a:lnTo>
                  <a:pt x="25717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true" flipV="false" rot="-596799">
            <a:off x="14451146" y="-139853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23" id="23"/>
          <p:cNvGrpSpPr/>
          <p:nvPr/>
        </p:nvGrpSpPr>
        <p:grpSpPr>
          <a:xfrm rot="-577747">
            <a:off x="15023718" y="2393479"/>
            <a:ext cx="5062044" cy="603669"/>
            <a:chOff x="0" y="0"/>
            <a:chExt cx="1333213" cy="158991"/>
          </a:xfrm>
        </p:grpSpPr>
        <p:sp>
          <p:nvSpPr>
            <p:cNvPr name="Freeform 24" id="24"/>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25" id="25"/>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577747">
            <a:off x="14688055" y="-1026276"/>
            <a:ext cx="5062044" cy="3536331"/>
            <a:chOff x="0" y="0"/>
            <a:chExt cx="1333213" cy="931379"/>
          </a:xfrm>
        </p:grpSpPr>
        <p:sp>
          <p:nvSpPr>
            <p:cNvPr name="Freeform 27" id="27"/>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8" id="28"/>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603642">
            <a:off x="15570084" y="161694"/>
            <a:ext cx="2044933" cy="2201004"/>
          </a:xfrm>
          <a:custGeom>
            <a:avLst/>
            <a:gdLst/>
            <a:ahLst/>
            <a:cxnLst/>
            <a:rect r="r" b="b" t="t" l="l"/>
            <a:pathLst>
              <a:path h="2201004" w="2044933">
                <a:moveTo>
                  <a:pt x="0" y="0"/>
                </a:moveTo>
                <a:lnTo>
                  <a:pt x="2044932" y="0"/>
                </a:lnTo>
                <a:lnTo>
                  <a:pt x="2044932" y="2201004"/>
                </a:lnTo>
                <a:lnTo>
                  <a:pt x="0" y="22010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0" id="30"/>
          <p:cNvSpPr txBox="true"/>
          <p:nvPr/>
        </p:nvSpPr>
        <p:spPr>
          <a:xfrm rot="0">
            <a:off x="4915070" y="1750583"/>
            <a:ext cx="8457861" cy="1395941"/>
          </a:xfrm>
          <a:prstGeom prst="rect">
            <a:avLst/>
          </a:prstGeom>
        </p:spPr>
        <p:txBody>
          <a:bodyPr anchor="t" rtlCol="false" tIns="0" lIns="0" bIns="0" rIns="0">
            <a:spAutoFit/>
          </a:bodyPr>
          <a:lstStyle/>
          <a:p>
            <a:pPr algn="ctr">
              <a:lnSpc>
                <a:spcPts val="9999"/>
              </a:lnSpc>
            </a:pPr>
            <a:r>
              <a:rPr lang="en-US" b="true" sz="9999" spc="199">
                <a:solidFill>
                  <a:srgbClr val="F8F3ED"/>
                </a:solidFill>
                <a:latin typeface="Sugo Classic Bold"/>
                <a:ea typeface="Sugo Classic Bold"/>
                <a:cs typeface="Sugo Classic Bold"/>
                <a:sym typeface="Sugo Classic Bold"/>
              </a:rPr>
              <a:t>CONCLUSION</a:t>
            </a:r>
          </a:p>
        </p:txBody>
      </p:sp>
      <p:sp>
        <p:nvSpPr>
          <p:cNvPr name="TextBox 31" id="31"/>
          <p:cNvSpPr txBox="true"/>
          <p:nvPr/>
        </p:nvSpPr>
        <p:spPr>
          <a:xfrm rot="0">
            <a:off x="4915070" y="3855366"/>
            <a:ext cx="8528786" cy="3795176"/>
          </a:xfrm>
          <a:prstGeom prst="rect">
            <a:avLst/>
          </a:prstGeom>
        </p:spPr>
        <p:txBody>
          <a:bodyPr anchor="t" rtlCol="false" tIns="0" lIns="0" bIns="0" rIns="0">
            <a:spAutoFit/>
          </a:bodyPr>
          <a:lstStyle/>
          <a:p>
            <a:pPr algn="l">
              <a:lnSpc>
                <a:spcPts val="3336"/>
              </a:lnSpc>
            </a:pPr>
          </a:p>
          <a:p>
            <a:pPr algn="l">
              <a:lnSpc>
                <a:spcPts val="3336"/>
              </a:lnSpc>
            </a:pPr>
            <a:r>
              <a:rPr lang="en-US" sz="2471" spc="148">
                <a:solidFill>
                  <a:srgbClr val="74A8B3"/>
                </a:solidFill>
                <a:latin typeface="Open Sans"/>
                <a:ea typeface="Open Sans"/>
                <a:cs typeface="Open Sans"/>
                <a:sym typeface="Open Sans"/>
              </a:rPr>
              <a:t>Findings</a:t>
            </a:r>
          </a:p>
          <a:p>
            <a:pPr algn="l">
              <a:lnSpc>
                <a:spcPts val="3336"/>
              </a:lnSpc>
            </a:pPr>
            <a:r>
              <a:rPr lang="en-US" sz="2471" spc="148">
                <a:solidFill>
                  <a:srgbClr val="74A8B3"/>
                </a:solidFill>
                <a:latin typeface="Open Sans"/>
                <a:ea typeface="Open Sans"/>
                <a:cs typeface="Open Sans"/>
                <a:sym typeface="Open Sans"/>
              </a:rPr>
              <a:t>Fuzzy logic effectively improves traffic signal control by adapting to real-time conditions.</a:t>
            </a:r>
          </a:p>
          <a:p>
            <a:pPr algn="l">
              <a:lnSpc>
                <a:spcPts val="3336"/>
              </a:lnSpc>
            </a:pPr>
            <a:r>
              <a:rPr lang="en-US" sz="2471" spc="148">
                <a:solidFill>
                  <a:srgbClr val="74A8B3"/>
                </a:solidFill>
                <a:latin typeface="Open Sans"/>
                <a:ea typeface="Open Sans"/>
                <a:cs typeface="Open Sans"/>
                <a:sym typeface="Open Sans"/>
              </a:rPr>
              <a:t>Contributions</a:t>
            </a:r>
          </a:p>
          <a:p>
            <a:pPr algn="l" marL="533602" indent="-266801" lvl="1">
              <a:lnSpc>
                <a:spcPts val="3336"/>
              </a:lnSpc>
              <a:buFont typeface="Arial"/>
              <a:buChar char="•"/>
            </a:pPr>
            <a:r>
              <a:rPr lang="en-US" sz="2471" spc="148">
                <a:solidFill>
                  <a:srgbClr val="74A8B3"/>
                </a:solidFill>
                <a:latin typeface="Open Sans"/>
                <a:ea typeface="Open Sans"/>
                <a:cs typeface="Open Sans"/>
                <a:sym typeface="Open Sans"/>
              </a:rPr>
              <a:t>Intelligent traffic management</a:t>
            </a:r>
          </a:p>
          <a:p>
            <a:pPr algn="l" marL="533602" indent="-266801" lvl="1">
              <a:lnSpc>
                <a:spcPts val="3336"/>
              </a:lnSpc>
              <a:buFont typeface="Arial"/>
              <a:buChar char="•"/>
            </a:pPr>
            <a:r>
              <a:rPr lang="en-US" sz="2471" spc="148">
                <a:solidFill>
                  <a:srgbClr val="74A8B3"/>
                </a:solidFill>
                <a:latin typeface="Open Sans"/>
                <a:ea typeface="Open Sans"/>
                <a:cs typeface="Open Sans"/>
                <a:sym typeface="Open Sans"/>
              </a:rPr>
              <a:t>Reduced congestion</a:t>
            </a:r>
          </a:p>
          <a:p>
            <a:pPr algn="l" marL="533602" indent="-266801" lvl="1">
              <a:lnSpc>
                <a:spcPts val="3336"/>
              </a:lnSpc>
              <a:buFont typeface="Arial"/>
              <a:buChar char="•"/>
            </a:pPr>
            <a:r>
              <a:rPr lang="en-US" sz="2471" spc="148">
                <a:solidFill>
                  <a:srgbClr val="74A8B3"/>
                </a:solidFill>
                <a:latin typeface="Open Sans"/>
                <a:ea typeface="Open Sans"/>
                <a:cs typeface="Open Sans"/>
                <a:sym typeface="Open Sans"/>
              </a:rPr>
              <a:t>Practical application of soft computing</a:t>
            </a:r>
          </a:p>
          <a:p>
            <a:pPr algn="l">
              <a:lnSpc>
                <a:spcPts val="333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4A8B3"/>
        </a:solidFill>
      </p:bgPr>
    </p:bg>
    <p:spTree>
      <p:nvGrpSpPr>
        <p:cNvPr id="1" name=""/>
        <p:cNvGrpSpPr/>
        <p:nvPr/>
      </p:nvGrpSpPr>
      <p:grpSpPr>
        <a:xfrm>
          <a:off x="0" y="0"/>
          <a:ext cx="0" cy="0"/>
          <a:chOff x="0" y="0"/>
          <a:chExt cx="0" cy="0"/>
        </a:xfrm>
      </p:grpSpPr>
      <p:sp>
        <p:nvSpPr>
          <p:cNvPr name="Freeform 2" id="2"/>
          <p:cNvSpPr/>
          <p:nvPr/>
        </p:nvSpPr>
        <p:spPr>
          <a:xfrm flipH="false" flipV="false" rot="0">
            <a:off x="14085623" y="-135779"/>
            <a:ext cx="10558558" cy="10558558"/>
          </a:xfrm>
          <a:custGeom>
            <a:avLst/>
            <a:gdLst/>
            <a:ahLst/>
            <a:cxnLst/>
            <a:rect r="r" b="b" t="t" l="l"/>
            <a:pathLst>
              <a:path h="10558558" w="10558558">
                <a:moveTo>
                  <a:pt x="0" y="0"/>
                </a:moveTo>
                <a:lnTo>
                  <a:pt x="10558558" y="0"/>
                </a:lnTo>
                <a:lnTo>
                  <a:pt x="10558558" y="10558558"/>
                </a:lnTo>
                <a:lnTo>
                  <a:pt x="0" y="10558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96799">
            <a:off x="13636910" y="5279113"/>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4" id="4"/>
          <p:cNvGrpSpPr/>
          <p:nvPr/>
        </p:nvGrpSpPr>
        <p:grpSpPr>
          <a:xfrm rot="-577747">
            <a:off x="13912200" y="5536870"/>
            <a:ext cx="5062044" cy="4189837"/>
            <a:chOff x="0" y="0"/>
            <a:chExt cx="1333213" cy="1103496"/>
          </a:xfrm>
        </p:grpSpPr>
        <p:sp>
          <p:nvSpPr>
            <p:cNvPr name="Freeform 5" id="5"/>
            <p:cNvSpPr/>
            <p:nvPr/>
          </p:nvSpPr>
          <p:spPr>
            <a:xfrm flipH="false" flipV="false" rot="0">
              <a:off x="0" y="0"/>
              <a:ext cx="1333213" cy="1103496"/>
            </a:xfrm>
            <a:custGeom>
              <a:avLst/>
              <a:gdLst/>
              <a:ahLst/>
              <a:cxnLst/>
              <a:rect r="r" b="b" t="t" l="l"/>
              <a:pathLst>
                <a:path h="1103496" w="1333213">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6" id="6"/>
            <p:cNvSpPr txBox="true"/>
            <p:nvPr/>
          </p:nvSpPr>
          <p:spPr>
            <a:xfrm>
              <a:off x="0" y="-38100"/>
              <a:ext cx="1333213" cy="1141596"/>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true" flipV="false" rot="-596799">
            <a:off x="14910558" y="30965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8" id="8"/>
          <p:cNvGrpSpPr/>
          <p:nvPr/>
        </p:nvGrpSpPr>
        <p:grpSpPr>
          <a:xfrm rot="-577747">
            <a:off x="15483130" y="4101669"/>
            <a:ext cx="5062044" cy="603669"/>
            <a:chOff x="0" y="0"/>
            <a:chExt cx="1333213" cy="158991"/>
          </a:xfrm>
        </p:grpSpPr>
        <p:sp>
          <p:nvSpPr>
            <p:cNvPr name="Freeform 9" id="9"/>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10" id="10"/>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77747">
            <a:off x="15147467" y="681914"/>
            <a:ext cx="5062044" cy="3536331"/>
            <a:chOff x="0" y="0"/>
            <a:chExt cx="1333213" cy="931379"/>
          </a:xfrm>
        </p:grpSpPr>
        <p:sp>
          <p:nvSpPr>
            <p:cNvPr name="Freeform 12" id="12"/>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3" id="13"/>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400175" y="1750583"/>
            <a:ext cx="6441589" cy="1395941"/>
          </a:xfrm>
          <a:prstGeom prst="rect">
            <a:avLst/>
          </a:prstGeom>
        </p:spPr>
        <p:txBody>
          <a:bodyPr anchor="t" rtlCol="false" tIns="0" lIns="0" bIns="0" rIns="0">
            <a:spAutoFit/>
          </a:bodyPr>
          <a:lstStyle/>
          <a:p>
            <a:pPr algn="l">
              <a:lnSpc>
                <a:spcPts val="9999"/>
              </a:lnSpc>
            </a:pPr>
            <a:r>
              <a:rPr lang="en-US" b="true" sz="9999" spc="199">
                <a:solidFill>
                  <a:srgbClr val="F8F3ED"/>
                </a:solidFill>
                <a:latin typeface="Sugo Classic Bold"/>
                <a:ea typeface="Sugo Classic Bold"/>
                <a:cs typeface="Sugo Classic Bold"/>
                <a:sym typeface="Sugo Classic Bold"/>
              </a:rPr>
              <a:t>FUTURE SCOPE</a:t>
            </a:r>
          </a:p>
        </p:txBody>
      </p:sp>
      <p:sp>
        <p:nvSpPr>
          <p:cNvPr name="Freeform 15" id="15"/>
          <p:cNvSpPr/>
          <p:nvPr/>
        </p:nvSpPr>
        <p:spPr>
          <a:xfrm flipH="false" flipV="false" rot="0">
            <a:off x="-2057400" y="-219317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57225" y="89645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571633">
            <a:off x="15973425" y="1675256"/>
            <a:ext cx="2571750" cy="2057400"/>
          </a:xfrm>
          <a:custGeom>
            <a:avLst/>
            <a:gdLst/>
            <a:ahLst/>
            <a:cxnLst/>
            <a:rect r="r" b="b" t="t" l="l"/>
            <a:pathLst>
              <a:path h="2057400" w="2571750">
                <a:moveTo>
                  <a:pt x="0" y="0"/>
                </a:moveTo>
                <a:lnTo>
                  <a:pt x="2571750" y="0"/>
                </a:lnTo>
                <a:lnTo>
                  <a:pt x="2571750"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519783">
            <a:off x="15113738" y="6229800"/>
            <a:ext cx="2769097" cy="2836133"/>
          </a:xfrm>
          <a:custGeom>
            <a:avLst/>
            <a:gdLst/>
            <a:ahLst/>
            <a:cxnLst/>
            <a:rect r="r" b="b" t="t" l="l"/>
            <a:pathLst>
              <a:path h="2836133" w="2769097">
                <a:moveTo>
                  <a:pt x="0" y="0"/>
                </a:moveTo>
                <a:lnTo>
                  <a:pt x="2769098" y="0"/>
                </a:lnTo>
                <a:lnTo>
                  <a:pt x="2769098" y="2836133"/>
                </a:lnTo>
                <a:lnTo>
                  <a:pt x="0" y="28361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1400175" y="3433210"/>
            <a:ext cx="9475067" cy="4110990"/>
          </a:xfrm>
          <a:prstGeom prst="rect">
            <a:avLst/>
          </a:prstGeom>
        </p:spPr>
        <p:txBody>
          <a:bodyPr anchor="t" rtlCol="false" tIns="0" lIns="0" bIns="0" rIns="0">
            <a:spAutoFit/>
          </a:bodyPr>
          <a:lstStyle/>
          <a:p>
            <a:pPr algn="l">
              <a:lnSpc>
                <a:spcPts val="3644"/>
              </a:lnSpc>
            </a:pPr>
          </a:p>
          <a:p>
            <a:pPr algn="l">
              <a:lnSpc>
                <a:spcPts val="3644"/>
              </a:lnSpc>
            </a:pPr>
            <a:r>
              <a:rPr lang="en-US" sz="2699" spc="161">
                <a:solidFill>
                  <a:srgbClr val="F8F3ED"/>
                </a:solidFill>
                <a:latin typeface="Open Sans"/>
                <a:ea typeface="Open Sans"/>
                <a:cs typeface="Open Sans"/>
                <a:sym typeface="Open Sans"/>
              </a:rPr>
              <a:t>Enhancements</a:t>
            </a:r>
          </a:p>
          <a:p>
            <a:pPr algn="l" marL="582925" indent="-291463" lvl="1">
              <a:lnSpc>
                <a:spcPts val="3644"/>
              </a:lnSpc>
              <a:buFont typeface="Arial"/>
              <a:buChar char="•"/>
            </a:pPr>
            <a:r>
              <a:rPr lang="en-US" sz="2699" spc="161">
                <a:solidFill>
                  <a:srgbClr val="F8F3ED"/>
                </a:solidFill>
                <a:latin typeface="Open Sans"/>
                <a:ea typeface="Open Sans"/>
                <a:cs typeface="Open Sans"/>
                <a:sym typeface="Open Sans"/>
              </a:rPr>
              <a:t>Integration with IoT sensors</a:t>
            </a:r>
          </a:p>
          <a:p>
            <a:pPr algn="l" marL="582925" indent="-291463" lvl="1">
              <a:lnSpc>
                <a:spcPts val="3644"/>
              </a:lnSpc>
              <a:buFont typeface="Arial"/>
              <a:buChar char="•"/>
            </a:pPr>
            <a:r>
              <a:rPr lang="en-US" sz="2699" spc="161">
                <a:solidFill>
                  <a:srgbClr val="F8F3ED"/>
                </a:solidFill>
                <a:latin typeface="Open Sans"/>
                <a:ea typeface="Open Sans"/>
                <a:cs typeface="Open Sans"/>
                <a:sym typeface="Open Sans"/>
              </a:rPr>
              <a:t>AI-based learning systems</a:t>
            </a:r>
          </a:p>
          <a:p>
            <a:pPr algn="l" marL="582925" indent="-291463" lvl="1">
              <a:lnSpc>
                <a:spcPts val="3644"/>
              </a:lnSpc>
              <a:buFont typeface="Arial"/>
              <a:buChar char="•"/>
            </a:pPr>
            <a:r>
              <a:rPr lang="en-US" sz="2699" spc="161">
                <a:solidFill>
                  <a:srgbClr val="F8F3ED"/>
                </a:solidFill>
                <a:latin typeface="Open Sans"/>
                <a:ea typeface="Open Sans"/>
                <a:cs typeface="Open Sans"/>
                <a:sym typeface="Open Sans"/>
              </a:rPr>
              <a:t>Smart city implementation</a:t>
            </a:r>
          </a:p>
          <a:p>
            <a:pPr algn="l">
              <a:lnSpc>
                <a:spcPts val="3644"/>
              </a:lnSpc>
            </a:pPr>
            <a:r>
              <a:rPr lang="en-US" sz="2699" spc="161">
                <a:solidFill>
                  <a:srgbClr val="F8F3ED"/>
                </a:solidFill>
                <a:latin typeface="Open Sans"/>
                <a:ea typeface="Open Sans"/>
                <a:cs typeface="Open Sans"/>
                <a:sym typeface="Open Sans"/>
              </a:rPr>
              <a:t>Further Research</a:t>
            </a:r>
          </a:p>
          <a:p>
            <a:pPr algn="l" marL="582925" indent="-291463" lvl="1">
              <a:lnSpc>
                <a:spcPts val="3644"/>
              </a:lnSpc>
              <a:buFont typeface="Arial"/>
              <a:buChar char="•"/>
            </a:pPr>
            <a:r>
              <a:rPr lang="en-US" sz="2699" spc="161">
                <a:solidFill>
                  <a:srgbClr val="F8F3ED"/>
                </a:solidFill>
                <a:latin typeface="Open Sans"/>
                <a:ea typeface="Open Sans"/>
                <a:cs typeface="Open Sans"/>
                <a:sym typeface="Open Sans"/>
              </a:rPr>
              <a:t>Multi-junction coordination</a:t>
            </a:r>
          </a:p>
          <a:p>
            <a:pPr algn="l" marL="582925" indent="-291463" lvl="1">
              <a:lnSpc>
                <a:spcPts val="3644"/>
              </a:lnSpc>
              <a:buFont typeface="Arial"/>
              <a:buChar char="•"/>
            </a:pPr>
            <a:r>
              <a:rPr lang="en-US" sz="2699" spc="161">
                <a:solidFill>
                  <a:srgbClr val="F8F3ED"/>
                </a:solidFill>
                <a:latin typeface="Open Sans"/>
                <a:ea typeface="Open Sans"/>
                <a:cs typeface="Open Sans"/>
                <a:sym typeface="Open Sans"/>
              </a:rPr>
              <a:t>Emergency vehicle prioritization</a:t>
            </a:r>
          </a:p>
          <a:p>
            <a:pPr algn="l">
              <a:lnSpc>
                <a:spcPts val="3644"/>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false" rot="0">
            <a:off x="-7732786" y="-16625"/>
            <a:ext cx="10320250" cy="10320250"/>
          </a:xfrm>
          <a:custGeom>
            <a:avLst/>
            <a:gdLst/>
            <a:ahLst/>
            <a:cxnLst/>
            <a:rect r="r" b="b" t="t" l="l"/>
            <a:pathLst>
              <a:path h="10320250" w="10320250">
                <a:moveTo>
                  <a:pt x="0" y="0"/>
                </a:moveTo>
                <a:lnTo>
                  <a:pt x="10320251" y="0"/>
                </a:lnTo>
                <a:lnTo>
                  <a:pt x="10320251" y="10320250"/>
                </a:lnTo>
                <a:lnTo>
                  <a:pt x="0" y="10320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96990" y="5143500"/>
            <a:ext cx="10320250" cy="10320250"/>
          </a:xfrm>
          <a:custGeom>
            <a:avLst/>
            <a:gdLst/>
            <a:ahLst/>
            <a:cxnLst/>
            <a:rect r="r" b="b" t="t" l="l"/>
            <a:pathLst>
              <a:path h="10320250" w="10320250">
                <a:moveTo>
                  <a:pt x="10320251" y="0"/>
                </a:moveTo>
                <a:lnTo>
                  <a:pt x="0" y="0"/>
                </a:lnTo>
                <a:lnTo>
                  <a:pt x="0" y="10320250"/>
                </a:lnTo>
                <a:lnTo>
                  <a:pt x="10320251" y="10320250"/>
                </a:lnTo>
                <a:lnTo>
                  <a:pt x="10320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596799">
            <a:off x="15660170" y="4752790"/>
            <a:ext cx="7673707" cy="4514852"/>
          </a:xfrm>
          <a:custGeom>
            <a:avLst/>
            <a:gdLst/>
            <a:ahLst/>
            <a:cxnLst/>
            <a:rect r="r" b="b" t="t" l="l"/>
            <a:pathLst>
              <a:path h="4514852" w="7673707">
                <a:moveTo>
                  <a:pt x="7673707" y="0"/>
                </a:moveTo>
                <a:lnTo>
                  <a:pt x="0" y="0"/>
                </a:lnTo>
                <a:lnTo>
                  <a:pt x="0" y="4514852"/>
                </a:lnTo>
                <a:lnTo>
                  <a:pt x="7673707" y="4514852"/>
                </a:lnTo>
                <a:lnTo>
                  <a:pt x="7673707" y="0"/>
                </a:lnTo>
                <a:close/>
              </a:path>
            </a:pathLst>
          </a:custGeom>
          <a:blipFill>
            <a:blip r:embed="rId4"/>
            <a:stretch>
              <a:fillRect l="0" t="0" r="0" b="0"/>
            </a:stretch>
          </a:blipFill>
        </p:spPr>
      </p:sp>
      <p:grpSp>
        <p:nvGrpSpPr>
          <p:cNvPr name="Group 5" id="5"/>
          <p:cNvGrpSpPr/>
          <p:nvPr/>
        </p:nvGrpSpPr>
        <p:grpSpPr>
          <a:xfrm rot="-577747">
            <a:off x="15935459" y="5010547"/>
            <a:ext cx="5062044" cy="4189837"/>
            <a:chOff x="0" y="0"/>
            <a:chExt cx="1333213" cy="1103496"/>
          </a:xfrm>
        </p:grpSpPr>
        <p:sp>
          <p:nvSpPr>
            <p:cNvPr name="Freeform 6" id="6"/>
            <p:cNvSpPr/>
            <p:nvPr/>
          </p:nvSpPr>
          <p:spPr>
            <a:xfrm flipH="false" flipV="false" rot="0">
              <a:off x="0" y="0"/>
              <a:ext cx="1333213" cy="1103496"/>
            </a:xfrm>
            <a:custGeom>
              <a:avLst/>
              <a:gdLst/>
              <a:ahLst/>
              <a:cxnLst/>
              <a:rect r="r" b="b" t="t" l="l"/>
              <a:pathLst>
                <a:path h="1103496" w="1333213">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7" id="7"/>
            <p:cNvSpPr txBox="true"/>
            <p:nvPr/>
          </p:nvSpPr>
          <p:spPr>
            <a:xfrm>
              <a:off x="0" y="-38100"/>
              <a:ext cx="1333213" cy="114159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596799">
            <a:off x="14910558" y="309655"/>
            <a:ext cx="7673707" cy="4514852"/>
          </a:xfrm>
          <a:custGeom>
            <a:avLst/>
            <a:gdLst/>
            <a:ahLst/>
            <a:cxnLst/>
            <a:rect r="r" b="b" t="t" l="l"/>
            <a:pathLst>
              <a:path h="4514852" w="7673707">
                <a:moveTo>
                  <a:pt x="7673708" y="0"/>
                </a:moveTo>
                <a:lnTo>
                  <a:pt x="0" y="0"/>
                </a:lnTo>
                <a:lnTo>
                  <a:pt x="0" y="4514852"/>
                </a:lnTo>
                <a:lnTo>
                  <a:pt x="7673708" y="4514852"/>
                </a:lnTo>
                <a:lnTo>
                  <a:pt x="7673708" y="0"/>
                </a:lnTo>
                <a:close/>
              </a:path>
            </a:pathLst>
          </a:custGeom>
          <a:blipFill>
            <a:blip r:embed="rId4"/>
            <a:stretch>
              <a:fillRect l="0" t="0" r="0" b="0"/>
            </a:stretch>
          </a:blipFill>
        </p:spPr>
      </p:sp>
      <p:grpSp>
        <p:nvGrpSpPr>
          <p:cNvPr name="Group 9" id="9"/>
          <p:cNvGrpSpPr/>
          <p:nvPr/>
        </p:nvGrpSpPr>
        <p:grpSpPr>
          <a:xfrm rot="-577747">
            <a:off x="15483130" y="4101669"/>
            <a:ext cx="5062044" cy="603669"/>
            <a:chOff x="0" y="0"/>
            <a:chExt cx="1333213" cy="158991"/>
          </a:xfrm>
        </p:grpSpPr>
        <p:sp>
          <p:nvSpPr>
            <p:cNvPr name="Freeform 10" id="10"/>
            <p:cNvSpPr/>
            <p:nvPr/>
          </p:nvSpPr>
          <p:spPr>
            <a:xfrm flipH="false" flipV="false" rot="0">
              <a:off x="0" y="0"/>
              <a:ext cx="1333213" cy="158991"/>
            </a:xfrm>
            <a:custGeom>
              <a:avLst/>
              <a:gdLst/>
              <a:ahLst/>
              <a:cxnLst/>
              <a:rect r="r" b="b" t="t" l="l"/>
              <a:pathLst>
                <a:path h="158991" w="1333213">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name="TextBox 11" id="11"/>
            <p:cNvSpPr txBox="true"/>
            <p:nvPr/>
          </p:nvSpPr>
          <p:spPr>
            <a:xfrm>
              <a:off x="0" y="-38100"/>
              <a:ext cx="1333213" cy="197091"/>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77747">
            <a:off x="15147467" y="681914"/>
            <a:ext cx="5062044" cy="3536331"/>
            <a:chOff x="0" y="0"/>
            <a:chExt cx="1333213" cy="931379"/>
          </a:xfrm>
        </p:grpSpPr>
        <p:sp>
          <p:nvSpPr>
            <p:cNvPr name="Freeform 13" id="13"/>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4" id="14"/>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596799">
            <a:off x="-2596120" y="8669762"/>
            <a:ext cx="6622704" cy="3896490"/>
          </a:xfrm>
          <a:custGeom>
            <a:avLst/>
            <a:gdLst/>
            <a:ahLst/>
            <a:cxnLst/>
            <a:rect r="r" b="b" t="t" l="l"/>
            <a:pathLst>
              <a:path h="3896490" w="6622704">
                <a:moveTo>
                  <a:pt x="0" y="0"/>
                </a:moveTo>
                <a:lnTo>
                  <a:pt x="6622704" y="0"/>
                </a:lnTo>
                <a:lnTo>
                  <a:pt x="6622704" y="3896490"/>
                </a:lnTo>
                <a:lnTo>
                  <a:pt x="0" y="3896490"/>
                </a:lnTo>
                <a:lnTo>
                  <a:pt x="0" y="0"/>
                </a:lnTo>
                <a:close/>
              </a:path>
            </a:pathLst>
          </a:custGeom>
          <a:blipFill>
            <a:blip r:embed="rId4"/>
            <a:stretch>
              <a:fillRect l="0" t="0" r="0" b="0"/>
            </a:stretch>
          </a:blipFill>
        </p:spPr>
      </p:sp>
      <p:grpSp>
        <p:nvGrpSpPr>
          <p:cNvPr name="Group 16" id="16"/>
          <p:cNvGrpSpPr/>
          <p:nvPr/>
        </p:nvGrpSpPr>
        <p:grpSpPr>
          <a:xfrm rot="-577747">
            <a:off x="-1286473" y="8720319"/>
            <a:ext cx="5062044" cy="3536331"/>
            <a:chOff x="0" y="0"/>
            <a:chExt cx="1333213" cy="931379"/>
          </a:xfrm>
        </p:grpSpPr>
        <p:sp>
          <p:nvSpPr>
            <p:cNvPr name="Freeform 17" id="17"/>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18" id="18"/>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596799">
            <a:off x="-3308549" y="4321770"/>
            <a:ext cx="6622704" cy="3896490"/>
          </a:xfrm>
          <a:custGeom>
            <a:avLst/>
            <a:gdLst/>
            <a:ahLst/>
            <a:cxnLst/>
            <a:rect r="r" b="b" t="t" l="l"/>
            <a:pathLst>
              <a:path h="3896490" w="6622704">
                <a:moveTo>
                  <a:pt x="0" y="0"/>
                </a:moveTo>
                <a:lnTo>
                  <a:pt x="6622703" y="0"/>
                </a:lnTo>
                <a:lnTo>
                  <a:pt x="6622703" y="3896490"/>
                </a:lnTo>
                <a:lnTo>
                  <a:pt x="0" y="3896490"/>
                </a:lnTo>
                <a:lnTo>
                  <a:pt x="0" y="0"/>
                </a:lnTo>
                <a:close/>
              </a:path>
            </a:pathLst>
          </a:custGeom>
          <a:blipFill>
            <a:blip r:embed="rId4"/>
            <a:stretch>
              <a:fillRect l="0" t="0" r="0" b="0"/>
            </a:stretch>
          </a:blipFill>
        </p:spPr>
      </p:sp>
      <p:grpSp>
        <p:nvGrpSpPr>
          <p:cNvPr name="Group 20" id="20"/>
          <p:cNvGrpSpPr/>
          <p:nvPr/>
        </p:nvGrpSpPr>
        <p:grpSpPr>
          <a:xfrm rot="-577747">
            <a:off x="-2002207" y="4339457"/>
            <a:ext cx="5062044" cy="3536331"/>
            <a:chOff x="0" y="0"/>
            <a:chExt cx="1333213" cy="931379"/>
          </a:xfrm>
        </p:grpSpPr>
        <p:sp>
          <p:nvSpPr>
            <p:cNvPr name="Freeform 21" id="21"/>
            <p:cNvSpPr/>
            <p:nvPr/>
          </p:nvSpPr>
          <p:spPr>
            <a:xfrm flipH="false" flipV="false" rot="0">
              <a:off x="0" y="0"/>
              <a:ext cx="1333213" cy="931379"/>
            </a:xfrm>
            <a:custGeom>
              <a:avLst/>
              <a:gdLst/>
              <a:ahLst/>
              <a:cxnLst/>
              <a:rect r="r" b="b" t="t" l="l"/>
              <a:pathLst>
                <a:path h="931379" w="1333213">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name="TextBox 22" id="22"/>
            <p:cNvSpPr txBox="true"/>
            <p:nvPr/>
          </p:nvSpPr>
          <p:spPr>
            <a:xfrm>
              <a:off x="0" y="-38100"/>
              <a:ext cx="133321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577747">
            <a:off x="2085632" y="3995145"/>
            <a:ext cx="945204" cy="3536331"/>
            <a:chOff x="0" y="0"/>
            <a:chExt cx="248943" cy="931379"/>
          </a:xfrm>
        </p:grpSpPr>
        <p:sp>
          <p:nvSpPr>
            <p:cNvPr name="Freeform 24" id="24"/>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25" id="25"/>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577747">
            <a:off x="-472602" y="8931281"/>
            <a:ext cx="945204" cy="3536331"/>
            <a:chOff x="0" y="0"/>
            <a:chExt cx="248943" cy="931379"/>
          </a:xfrm>
        </p:grpSpPr>
        <p:sp>
          <p:nvSpPr>
            <p:cNvPr name="Freeform 27" id="27"/>
            <p:cNvSpPr/>
            <p:nvPr/>
          </p:nvSpPr>
          <p:spPr>
            <a:xfrm flipH="false" flipV="false" rot="0">
              <a:off x="0" y="0"/>
              <a:ext cx="248943" cy="931379"/>
            </a:xfrm>
            <a:custGeom>
              <a:avLst/>
              <a:gdLst/>
              <a:ahLst/>
              <a:cxnLst/>
              <a:rect r="r" b="b" t="t" l="l"/>
              <a:pathLst>
                <a:path h="931379" w="248943">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name="TextBox 28" id="28"/>
            <p:cNvSpPr txBox="true"/>
            <p:nvPr/>
          </p:nvSpPr>
          <p:spPr>
            <a:xfrm>
              <a:off x="0" y="-38100"/>
              <a:ext cx="248943" cy="969479"/>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0">
            <a:off x="2870483" y="-238508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0" id="30"/>
          <p:cNvSpPr/>
          <p:nvPr/>
        </p:nvSpPr>
        <p:spPr>
          <a:xfrm flipH="false" flipV="false" rot="0">
            <a:off x="11693998" y="827424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590405">
            <a:off x="16012484" y="1844786"/>
            <a:ext cx="2493633" cy="1718340"/>
          </a:xfrm>
          <a:custGeom>
            <a:avLst/>
            <a:gdLst/>
            <a:ahLst/>
            <a:cxnLst/>
            <a:rect r="r" b="b" t="t" l="l"/>
            <a:pathLst>
              <a:path h="1718340" w="2493633">
                <a:moveTo>
                  <a:pt x="0" y="0"/>
                </a:moveTo>
                <a:lnTo>
                  <a:pt x="2493632" y="0"/>
                </a:lnTo>
                <a:lnTo>
                  <a:pt x="2493632" y="1718339"/>
                </a:lnTo>
                <a:lnTo>
                  <a:pt x="0" y="17183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2" id="32"/>
          <p:cNvSpPr/>
          <p:nvPr/>
        </p:nvSpPr>
        <p:spPr>
          <a:xfrm flipH="false" flipV="false" rot="-704435">
            <a:off x="1174237" y="9021508"/>
            <a:ext cx="1566579" cy="1435556"/>
          </a:xfrm>
          <a:custGeom>
            <a:avLst/>
            <a:gdLst/>
            <a:ahLst/>
            <a:cxnLst/>
            <a:rect r="r" b="b" t="t" l="l"/>
            <a:pathLst>
              <a:path h="1435556" w="1566579">
                <a:moveTo>
                  <a:pt x="0" y="0"/>
                </a:moveTo>
                <a:lnTo>
                  <a:pt x="1566579" y="0"/>
                </a:lnTo>
                <a:lnTo>
                  <a:pt x="1566579" y="1435556"/>
                </a:lnTo>
                <a:lnTo>
                  <a:pt x="0" y="143555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3" id="33"/>
          <p:cNvSpPr/>
          <p:nvPr/>
        </p:nvSpPr>
        <p:spPr>
          <a:xfrm flipH="false" flipV="false" rot="-655974">
            <a:off x="-548486" y="5131342"/>
            <a:ext cx="2374977" cy="1990663"/>
          </a:xfrm>
          <a:custGeom>
            <a:avLst/>
            <a:gdLst/>
            <a:ahLst/>
            <a:cxnLst/>
            <a:rect r="r" b="b" t="t" l="l"/>
            <a:pathLst>
              <a:path h="1990663" w="2374977">
                <a:moveTo>
                  <a:pt x="0" y="0"/>
                </a:moveTo>
                <a:lnTo>
                  <a:pt x="2374978" y="0"/>
                </a:lnTo>
                <a:lnTo>
                  <a:pt x="2374978" y="1990662"/>
                </a:lnTo>
                <a:lnTo>
                  <a:pt x="0" y="199066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4" id="34"/>
          <p:cNvSpPr/>
          <p:nvPr/>
        </p:nvSpPr>
        <p:spPr>
          <a:xfrm flipH="false" flipV="false" rot="-602952">
            <a:off x="16484083" y="5961322"/>
            <a:ext cx="2479202" cy="2384541"/>
          </a:xfrm>
          <a:custGeom>
            <a:avLst/>
            <a:gdLst/>
            <a:ahLst/>
            <a:cxnLst/>
            <a:rect r="r" b="b" t="t" l="l"/>
            <a:pathLst>
              <a:path h="2384541" w="2479202">
                <a:moveTo>
                  <a:pt x="0" y="0"/>
                </a:moveTo>
                <a:lnTo>
                  <a:pt x="2479202" y="0"/>
                </a:lnTo>
                <a:lnTo>
                  <a:pt x="2479202" y="2384542"/>
                </a:lnTo>
                <a:lnTo>
                  <a:pt x="0" y="23845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5" id="35"/>
          <p:cNvSpPr txBox="true"/>
          <p:nvPr/>
        </p:nvSpPr>
        <p:spPr>
          <a:xfrm rot="0">
            <a:off x="4927883" y="2807565"/>
            <a:ext cx="8432234" cy="2791249"/>
          </a:xfrm>
          <a:prstGeom prst="rect">
            <a:avLst/>
          </a:prstGeom>
        </p:spPr>
        <p:txBody>
          <a:bodyPr anchor="t" rtlCol="false" tIns="0" lIns="0" bIns="0" rIns="0">
            <a:spAutoFit/>
          </a:bodyPr>
          <a:lstStyle/>
          <a:p>
            <a:pPr algn="ctr">
              <a:lnSpc>
                <a:spcPts val="20000"/>
              </a:lnSpc>
            </a:pPr>
            <a:r>
              <a:rPr lang="en-US" b="true" sz="20000" spc="400">
                <a:solidFill>
                  <a:srgbClr val="74A8B3"/>
                </a:solidFill>
                <a:latin typeface="Sugo Classic Bold"/>
                <a:ea typeface="Sugo Classic Bold"/>
                <a:cs typeface="Sugo Classic Bold"/>
                <a:sym typeface="Sugo Classic Bold"/>
              </a:rPr>
              <a:t>THANK</a:t>
            </a:r>
          </a:p>
        </p:txBody>
      </p:sp>
      <p:sp>
        <p:nvSpPr>
          <p:cNvPr name="TextBox 36" id="36"/>
          <p:cNvSpPr txBox="true"/>
          <p:nvPr/>
        </p:nvSpPr>
        <p:spPr>
          <a:xfrm rot="0">
            <a:off x="3400635" y="4945361"/>
            <a:ext cx="11486731" cy="2791249"/>
          </a:xfrm>
          <a:prstGeom prst="rect">
            <a:avLst/>
          </a:prstGeom>
        </p:spPr>
        <p:txBody>
          <a:bodyPr anchor="t" rtlCol="false" tIns="0" lIns="0" bIns="0" rIns="0">
            <a:spAutoFit/>
          </a:bodyPr>
          <a:lstStyle/>
          <a:p>
            <a:pPr algn="ctr">
              <a:lnSpc>
                <a:spcPts val="20000"/>
              </a:lnSpc>
            </a:pPr>
            <a:r>
              <a:rPr lang="en-US" b="true" sz="20000" spc="400">
                <a:solidFill>
                  <a:srgbClr val="74A8B3"/>
                </a:solidFill>
                <a:latin typeface="Sugo Classic Bold"/>
                <a:ea typeface="Sugo Classic Bold"/>
                <a:cs typeface="Sugo Classic Bold"/>
                <a:sym typeface="Sugo Classic Bold"/>
              </a:rPr>
              <a:t>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DAG_DxW_bec</dc:identifier>
  <dcterms:modified xsi:type="dcterms:W3CDTF">2011-08-01T06:04:30Z</dcterms:modified>
  <cp:revision>1</cp:revision>
  <dc:title>TrafficIq</dc:title>
</cp:coreProperties>
</file>