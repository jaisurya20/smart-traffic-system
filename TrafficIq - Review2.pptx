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Open Sans" panose="020B0606030504020204" pitchFamily="34" charset="0"/>
      <p:regular r:id="rId15"/>
    </p:embeddedFont>
    <p:embeddedFont>
      <p:font typeface="Sugo Classic" panose="020B0604020202020204" charset="0"/>
      <p:regular r:id="rId16"/>
    </p:embeddedFont>
    <p:embeddedFont>
      <p:font typeface="Sugo Classic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1296"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2.png"/><Relationship Id="rId7"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8.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7.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png"/><Relationship Id="rId7" Type="http://schemas.openxmlformats.org/officeDocument/2006/relationships/image" Target="../media/image19.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3.svg"/><Relationship Id="rId4" Type="http://schemas.openxmlformats.org/officeDocument/2006/relationships/image" Target="../media/image14.sv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png"/><Relationship Id="rId7" Type="http://schemas.openxmlformats.org/officeDocument/2006/relationships/image" Target="../media/image1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png"/><Relationship Id="rId7" Type="http://schemas.openxmlformats.org/officeDocument/2006/relationships/image" Target="../media/image24.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3.sv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png"/><Relationship Id="rId7" Type="http://schemas.openxmlformats.org/officeDocument/2006/relationships/image" Target="../media/image19.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3.svg"/><Relationship Id="rId10" Type="http://schemas.openxmlformats.org/officeDocument/2006/relationships/image" Target="../media/image26.png"/><Relationship Id="rId4" Type="http://schemas.openxmlformats.org/officeDocument/2006/relationships/image" Target="../media/image14.svg"/><Relationship Id="rId9"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sv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0.svg"/><Relationship Id="rId2"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8.sv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png"/><Relationship Id="rId7"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8.sv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png"/><Relationship Id="rId7" Type="http://schemas.openxmlformats.org/officeDocument/2006/relationships/image" Target="../media/image1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3.sv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png"/><Relationship Id="rId7" Type="http://schemas.openxmlformats.org/officeDocument/2006/relationships/image" Target="../media/image35.svg"/><Relationship Id="rId2"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 Id="rId9"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7819166" y="-162910"/>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5696990" y="5229225"/>
            <a:ext cx="10320250" cy="10320250"/>
          </a:xfrm>
          <a:custGeom>
            <a:avLst/>
            <a:gdLst/>
            <a:ahLst/>
            <a:cxnLst/>
            <a:rect l="l" t="t" r="r" b="b"/>
            <a:pathLst>
              <a:path w="10320250" h="10320250">
                <a:moveTo>
                  <a:pt x="10320251" y="0"/>
                </a:moveTo>
                <a:lnTo>
                  <a:pt x="0" y="0"/>
                </a:lnTo>
                <a:lnTo>
                  <a:pt x="0" y="10320250"/>
                </a:lnTo>
                <a:lnTo>
                  <a:pt x="10320251" y="10320250"/>
                </a:lnTo>
                <a:lnTo>
                  <a:pt x="10320251"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96799" flipH="1">
            <a:off x="15660170" y="4752790"/>
            <a:ext cx="7673707" cy="4514852"/>
          </a:xfrm>
          <a:custGeom>
            <a:avLst/>
            <a:gdLst/>
            <a:ahLst/>
            <a:cxnLst/>
            <a:rect l="l" t="t" r="r" b="b"/>
            <a:pathLst>
              <a:path w="7673707" h="4514852">
                <a:moveTo>
                  <a:pt x="7673707" y="0"/>
                </a:moveTo>
                <a:lnTo>
                  <a:pt x="0" y="0"/>
                </a:lnTo>
                <a:lnTo>
                  <a:pt x="0" y="4514852"/>
                </a:lnTo>
                <a:lnTo>
                  <a:pt x="7673707" y="4514852"/>
                </a:lnTo>
                <a:lnTo>
                  <a:pt x="7673707" y="0"/>
                </a:lnTo>
                <a:close/>
              </a:path>
            </a:pathLst>
          </a:custGeom>
          <a:blipFill>
            <a:blip r:embed="rId3"/>
            <a:stretch>
              <a:fillRect/>
            </a:stretch>
          </a:blipFill>
        </p:spPr>
      </p:sp>
      <p:grpSp>
        <p:nvGrpSpPr>
          <p:cNvPr id="5" name="Group 5"/>
          <p:cNvGrpSpPr/>
          <p:nvPr/>
        </p:nvGrpSpPr>
        <p:grpSpPr>
          <a:xfrm rot="-577747">
            <a:off x="15935459" y="5010547"/>
            <a:ext cx="5062044" cy="4189837"/>
            <a:chOff x="0" y="0"/>
            <a:chExt cx="1333213" cy="1103496"/>
          </a:xfrm>
        </p:grpSpPr>
        <p:sp>
          <p:nvSpPr>
            <p:cNvPr id="6" name="Freeform 6"/>
            <p:cNvSpPr/>
            <p:nvPr/>
          </p:nvSpPr>
          <p:spPr>
            <a:xfrm>
              <a:off x="0" y="0"/>
              <a:ext cx="1333213" cy="1103496"/>
            </a:xfrm>
            <a:custGeom>
              <a:avLst/>
              <a:gdLst/>
              <a:ahLst/>
              <a:cxnLst/>
              <a:rect l="l" t="t" r="r" b="b"/>
              <a:pathLst>
                <a:path w="1333213" h="1103496">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7" name="TextBox 7"/>
            <p:cNvSpPr txBox="1"/>
            <p:nvPr/>
          </p:nvSpPr>
          <p:spPr>
            <a:xfrm>
              <a:off x="0" y="-38100"/>
              <a:ext cx="1333213" cy="114159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96799" flipH="1">
            <a:off x="14910558" y="30965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9" name="Group 9"/>
          <p:cNvGrpSpPr/>
          <p:nvPr/>
        </p:nvGrpSpPr>
        <p:grpSpPr>
          <a:xfrm rot="-577747">
            <a:off x="15483130" y="4101669"/>
            <a:ext cx="5062044" cy="603669"/>
            <a:chOff x="0" y="0"/>
            <a:chExt cx="1333213" cy="158991"/>
          </a:xfrm>
        </p:grpSpPr>
        <p:sp>
          <p:nvSpPr>
            <p:cNvPr id="10" name="Freeform 10"/>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11" name="TextBox 11"/>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77747">
            <a:off x="15147467" y="681914"/>
            <a:ext cx="5062044" cy="3536331"/>
            <a:chOff x="0" y="0"/>
            <a:chExt cx="1333213" cy="931379"/>
          </a:xfrm>
        </p:grpSpPr>
        <p:sp>
          <p:nvSpPr>
            <p:cNvPr id="13" name="Freeform 13"/>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4" name="TextBox 14"/>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rot="-596799">
            <a:off x="-2596120" y="866976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sp>
        <p:nvSpPr>
          <p:cNvPr id="16" name="Freeform 16"/>
          <p:cNvSpPr/>
          <p:nvPr/>
        </p:nvSpPr>
        <p:spPr>
          <a:xfrm rot="-596799">
            <a:off x="-3308549" y="4321770"/>
            <a:ext cx="6622704" cy="3896490"/>
          </a:xfrm>
          <a:custGeom>
            <a:avLst/>
            <a:gdLst/>
            <a:ahLst/>
            <a:cxnLst/>
            <a:rect l="l" t="t" r="r" b="b"/>
            <a:pathLst>
              <a:path w="6622704" h="3896490">
                <a:moveTo>
                  <a:pt x="0" y="0"/>
                </a:moveTo>
                <a:lnTo>
                  <a:pt x="6622703" y="0"/>
                </a:lnTo>
                <a:lnTo>
                  <a:pt x="6622703" y="3896490"/>
                </a:lnTo>
                <a:lnTo>
                  <a:pt x="0" y="3896490"/>
                </a:lnTo>
                <a:lnTo>
                  <a:pt x="0" y="0"/>
                </a:lnTo>
                <a:close/>
              </a:path>
            </a:pathLst>
          </a:custGeom>
          <a:blipFill>
            <a:blip r:embed="rId3"/>
            <a:stretch>
              <a:fillRect/>
            </a:stretch>
          </a:blipFill>
        </p:spPr>
      </p:sp>
      <p:grpSp>
        <p:nvGrpSpPr>
          <p:cNvPr id="17" name="Group 17"/>
          <p:cNvGrpSpPr/>
          <p:nvPr/>
        </p:nvGrpSpPr>
        <p:grpSpPr>
          <a:xfrm rot="-577747">
            <a:off x="-2002207" y="4339457"/>
            <a:ext cx="5062044" cy="3536331"/>
            <a:chOff x="0" y="0"/>
            <a:chExt cx="1333213" cy="931379"/>
          </a:xfrm>
        </p:grpSpPr>
        <p:sp>
          <p:nvSpPr>
            <p:cNvPr id="18" name="Freeform 18"/>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9" name="TextBox 19"/>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rot="-577747">
            <a:off x="2085632" y="3995145"/>
            <a:ext cx="945204" cy="3536331"/>
            <a:chOff x="0" y="0"/>
            <a:chExt cx="248943" cy="931379"/>
          </a:xfrm>
        </p:grpSpPr>
        <p:sp>
          <p:nvSpPr>
            <p:cNvPr id="21" name="Freeform 21"/>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22" name="TextBox 22"/>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rot="-577747">
            <a:off x="-472602" y="8931281"/>
            <a:ext cx="945204" cy="3536331"/>
            <a:chOff x="0" y="0"/>
            <a:chExt cx="248943" cy="931379"/>
          </a:xfrm>
        </p:grpSpPr>
        <p:sp>
          <p:nvSpPr>
            <p:cNvPr id="24" name="Freeform 24"/>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25" name="TextBox 25"/>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26" name="Freeform 26"/>
          <p:cNvSpPr/>
          <p:nvPr/>
        </p:nvSpPr>
        <p:spPr>
          <a:xfrm>
            <a:off x="2870483" y="-238508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7" name="Freeform 27"/>
          <p:cNvSpPr/>
          <p:nvPr/>
        </p:nvSpPr>
        <p:spPr>
          <a:xfrm rot="-575343">
            <a:off x="1387755" y="9016268"/>
            <a:ext cx="1532051" cy="1847869"/>
          </a:xfrm>
          <a:custGeom>
            <a:avLst/>
            <a:gdLst/>
            <a:ahLst/>
            <a:cxnLst/>
            <a:rect l="l" t="t" r="r" b="b"/>
            <a:pathLst>
              <a:path w="1532051" h="1847869">
                <a:moveTo>
                  <a:pt x="0" y="0"/>
                </a:moveTo>
                <a:lnTo>
                  <a:pt x="1532051" y="0"/>
                </a:lnTo>
                <a:lnTo>
                  <a:pt x="1532051" y="1847869"/>
                </a:lnTo>
                <a:lnTo>
                  <a:pt x="0" y="184786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8" name="Freeform 28"/>
          <p:cNvSpPr/>
          <p:nvPr/>
        </p:nvSpPr>
        <p:spPr>
          <a:xfrm rot="-594577">
            <a:off x="16482659" y="6391188"/>
            <a:ext cx="1725499" cy="2072105"/>
          </a:xfrm>
          <a:custGeom>
            <a:avLst/>
            <a:gdLst/>
            <a:ahLst/>
            <a:cxnLst/>
            <a:rect l="l" t="t" r="r" b="b"/>
            <a:pathLst>
              <a:path w="1725499" h="2072105">
                <a:moveTo>
                  <a:pt x="0" y="0"/>
                </a:moveTo>
                <a:lnTo>
                  <a:pt x="1725499" y="0"/>
                </a:lnTo>
                <a:lnTo>
                  <a:pt x="1725499" y="2072105"/>
                </a:lnTo>
                <a:lnTo>
                  <a:pt x="0" y="20721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9" name="Freeform 29"/>
          <p:cNvSpPr/>
          <p:nvPr/>
        </p:nvSpPr>
        <p:spPr>
          <a:xfrm rot="-587736">
            <a:off x="15990606" y="1645372"/>
            <a:ext cx="2122833" cy="2130580"/>
          </a:xfrm>
          <a:custGeom>
            <a:avLst/>
            <a:gdLst/>
            <a:ahLst/>
            <a:cxnLst/>
            <a:rect l="l" t="t" r="r" b="b"/>
            <a:pathLst>
              <a:path w="2122833" h="2130580">
                <a:moveTo>
                  <a:pt x="0" y="0"/>
                </a:moveTo>
                <a:lnTo>
                  <a:pt x="2122833" y="0"/>
                </a:lnTo>
                <a:lnTo>
                  <a:pt x="2122833" y="2130581"/>
                </a:lnTo>
                <a:lnTo>
                  <a:pt x="0" y="213058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0" name="Freeform 30"/>
          <p:cNvSpPr/>
          <p:nvPr/>
        </p:nvSpPr>
        <p:spPr>
          <a:xfrm rot="-559738">
            <a:off x="-428731" y="5071976"/>
            <a:ext cx="1988721" cy="2140502"/>
          </a:xfrm>
          <a:custGeom>
            <a:avLst/>
            <a:gdLst/>
            <a:ahLst/>
            <a:cxnLst/>
            <a:rect l="l" t="t" r="r" b="b"/>
            <a:pathLst>
              <a:path w="1988721" h="2140502">
                <a:moveTo>
                  <a:pt x="0" y="0"/>
                </a:moveTo>
                <a:lnTo>
                  <a:pt x="1988721" y="0"/>
                </a:lnTo>
                <a:lnTo>
                  <a:pt x="1988721" y="2140502"/>
                </a:lnTo>
                <a:lnTo>
                  <a:pt x="0" y="21405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1" name="TextBox 31"/>
          <p:cNvSpPr txBox="1"/>
          <p:nvPr/>
        </p:nvSpPr>
        <p:spPr>
          <a:xfrm>
            <a:off x="2870483" y="2044041"/>
            <a:ext cx="12016882" cy="1336675"/>
          </a:xfrm>
          <a:prstGeom prst="rect">
            <a:avLst/>
          </a:prstGeom>
        </p:spPr>
        <p:txBody>
          <a:bodyPr lIns="0" tIns="0" rIns="0" bIns="0" rtlCol="0" anchor="t">
            <a:spAutoFit/>
          </a:bodyPr>
          <a:lstStyle/>
          <a:p>
            <a:pPr algn="ctr">
              <a:lnSpc>
                <a:spcPts val="5000"/>
              </a:lnSpc>
            </a:pPr>
            <a:r>
              <a:rPr lang="en-US" sz="5000" b="1" spc="100">
                <a:solidFill>
                  <a:srgbClr val="F8F3ED"/>
                </a:solidFill>
                <a:latin typeface="Sugo Classic Bold"/>
                <a:ea typeface="Sugo Classic Bold"/>
                <a:cs typeface="Sugo Classic Bold"/>
                <a:sym typeface="Sugo Classic Bold"/>
              </a:rPr>
              <a:t>TRAFFICIQ - WEB‑BASED INTELLIGENT TRAFFIC LIGHT CONTROL USING FUZZY LOGIC</a:t>
            </a:r>
          </a:p>
        </p:txBody>
      </p:sp>
      <p:sp>
        <p:nvSpPr>
          <p:cNvPr id="32" name="TextBox 32"/>
          <p:cNvSpPr txBox="1"/>
          <p:nvPr/>
        </p:nvSpPr>
        <p:spPr>
          <a:xfrm>
            <a:off x="4075220" y="8084065"/>
            <a:ext cx="11486731" cy="2073275"/>
          </a:xfrm>
          <a:prstGeom prst="rect">
            <a:avLst/>
          </a:prstGeom>
        </p:spPr>
        <p:txBody>
          <a:bodyPr lIns="0" tIns="0" rIns="0" bIns="0" rtlCol="0" anchor="t">
            <a:spAutoFit/>
          </a:bodyPr>
          <a:lstStyle/>
          <a:p>
            <a:pPr algn="l">
              <a:lnSpc>
                <a:spcPts val="3999"/>
              </a:lnSpc>
            </a:pPr>
            <a:r>
              <a:rPr lang="en-US" sz="3999" b="1" spc="79">
                <a:solidFill>
                  <a:srgbClr val="F8F3ED"/>
                </a:solidFill>
                <a:latin typeface="Sugo Classic Bold"/>
                <a:ea typeface="Sugo Classic Bold"/>
                <a:cs typeface="Sugo Classic Bold"/>
                <a:sym typeface="Sugo Classic Bold"/>
              </a:rPr>
              <a:t>DEPARTMENT - INTEGRATED MTECH COMPUTER SCIENCE / DATA SCIENCE</a:t>
            </a:r>
          </a:p>
          <a:p>
            <a:pPr algn="l">
              <a:lnSpc>
                <a:spcPts val="3999"/>
              </a:lnSpc>
            </a:pPr>
            <a:r>
              <a:rPr lang="en-US" sz="3999" b="1" spc="79">
                <a:solidFill>
                  <a:srgbClr val="F8F3ED"/>
                </a:solidFill>
                <a:latin typeface="Sugo Classic Bold"/>
                <a:ea typeface="Sugo Classic Bold"/>
                <a:cs typeface="Sugo Classic Bold"/>
                <a:sym typeface="Sugo Classic Bold"/>
              </a:rPr>
              <a:t>INSTITUTION:VELLORE INSTITUTE OF TECHNOLOGY</a:t>
            </a:r>
          </a:p>
          <a:p>
            <a:pPr algn="l">
              <a:lnSpc>
                <a:spcPts val="3999"/>
              </a:lnSpc>
            </a:pPr>
            <a:r>
              <a:rPr lang="en-US" sz="3999" b="1" spc="79">
                <a:solidFill>
                  <a:srgbClr val="F8F3ED"/>
                </a:solidFill>
                <a:latin typeface="Sugo Classic Bold"/>
                <a:ea typeface="Sugo Classic Bold"/>
                <a:cs typeface="Sugo Classic Bold"/>
                <a:sym typeface="Sugo Classic Bold"/>
              </a:rPr>
              <a:t>ACADEMIC YEAR 2023-2028</a:t>
            </a:r>
          </a:p>
        </p:txBody>
      </p:sp>
      <p:sp>
        <p:nvSpPr>
          <p:cNvPr id="33" name="TextBox 33"/>
          <p:cNvSpPr txBox="1"/>
          <p:nvPr/>
        </p:nvSpPr>
        <p:spPr>
          <a:xfrm>
            <a:off x="1592481" y="3683258"/>
            <a:ext cx="14104510" cy="4092294"/>
          </a:xfrm>
          <a:prstGeom prst="rect">
            <a:avLst/>
          </a:prstGeom>
        </p:spPr>
        <p:txBody>
          <a:bodyPr lIns="0" tIns="0" rIns="0" bIns="0" rtlCol="0" anchor="t">
            <a:spAutoFit/>
          </a:bodyPr>
          <a:lstStyle/>
          <a:p>
            <a:pPr algn="ctr">
              <a:lnSpc>
                <a:spcPts val="3999"/>
              </a:lnSpc>
            </a:pPr>
            <a:r>
              <a:rPr lang="en-US" sz="3999" spc="79">
                <a:solidFill>
                  <a:srgbClr val="F8F3ED"/>
                </a:solidFill>
                <a:latin typeface="Sugo Classic"/>
                <a:ea typeface="Sugo Classic"/>
                <a:cs typeface="Sugo Classic"/>
                <a:sym typeface="Sugo Classic"/>
              </a:rPr>
              <a:t>Jaisurya S - 23MIC0103</a:t>
            </a:r>
          </a:p>
          <a:p>
            <a:pPr algn="ctr">
              <a:lnSpc>
                <a:spcPts val="3999"/>
              </a:lnSpc>
            </a:pPr>
            <a:r>
              <a:rPr lang="en-US" sz="3999" spc="79">
                <a:solidFill>
                  <a:srgbClr val="F8F3ED"/>
                </a:solidFill>
                <a:latin typeface="Sugo Classic"/>
                <a:ea typeface="Sugo Classic"/>
                <a:cs typeface="Sugo Classic"/>
                <a:sym typeface="Sugo Classic"/>
              </a:rPr>
              <a:t>Kaleeshwar K - 23MID011</a:t>
            </a:r>
          </a:p>
          <a:p>
            <a:pPr algn="ctr">
              <a:lnSpc>
                <a:spcPts val="3999"/>
              </a:lnSpc>
            </a:pPr>
            <a:r>
              <a:rPr lang="en-US" sz="3999" spc="79">
                <a:solidFill>
                  <a:srgbClr val="F8F3ED"/>
                </a:solidFill>
                <a:latin typeface="Sugo Classic"/>
                <a:ea typeface="Sugo Classic"/>
                <a:cs typeface="Sugo Classic"/>
                <a:sym typeface="Sugo Classic"/>
              </a:rPr>
              <a:t>Sankavi M - 23MIC0126</a:t>
            </a:r>
          </a:p>
          <a:p>
            <a:pPr algn="ctr">
              <a:lnSpc>
                <a:spcPts val="3999"/>
              </a:lnSpc>
            </a:pPr>
            <a:r>
              <a:rPr lang="en-US" sz="3999" spc="79">
                <a:solidFill>
                  <a:srgbClr val="F8F3ED"/>
                </a:solidFill>
                <a:latin typeface="Sugo Classic"/>
                <a:ea typeface="Sugo Classic"/>
                <a:cs typeface="Sugo Classic"/>
                <a:sym typeface="Sugo Classic"/>
              </a:rPr>
              <a:t>Monika G K - 23MID002</a:t>
            </a:r>
          </a:p>
          <a:p>
            <a:pPr algn="ctr">
              <a:lnSpc>
                <a:spcPts val="3999"/>
              </a:lnSpc>
            </a:pPr>
            <a:r>
              <a:rPr lang="en-US" sz="3999" spc="79">
                <a:solidFill>
                  <a:srgbClr val="F8F3ED"/>
                </a:solidFill>
                <a:latin typeface="Sugo Classic"/>
                <a:ea typeface="Sugo Classic"/>
                <a:cs typeface="Sugo Classic"/>
                <a:sym typeface="Sugo Classic"/>
              </a:rPr>
              <a:t>Team - SJT04</a:t>
            </a:r>
          </a:p>
          <a:p>
            <a:pPr algn="ctr">
              <a:lnSpc>
                <a:spcPts val="3999"/>
              </a:lnSpc>
            </a:pPr>
            <a:endParaRPr lang="en-US" sz="3999" spc="79">
              <a:solidFill>
                <a:srgbClr val="F8F3ED"/>
              </a:solidFill>
              <a:latin typeface="Sugo Classic"/>
              <a:ea typeface="Sugo Classic"/>
              <a:cs typeface="Sugo Classic"/>
              <a:sym typeface="Sugo Classic"/>
            </a:endParaRPr>
          </a:p>
          <a:p>
            <a:pPr algn="ctr">
              <a:lnSpc>
                <a:spcPts val="3999"/>
              </a:lnSpc>
            </a:pPr>
            <a:r>
              <a:rPr lang="en-US" sz="3999" spc="79">
                <a:solidFill>
                  <a:srgbClr val="F8F3ED"/>
                </a:solidFill>
                <a:latin typeface="Sugo Classic"/>
                <a:ea typeface="Sugo Classic"/>
                <a:cs typeface="Sugo Classic"/>
                <a:sym typeface="Sugo Classic"/>
              </a:rPr>
              <a:t>Under the guidance of </a:t>
            </a:r>
          </a:p>
          <a:p>
            <a:pPr algn="ctr">
              <a:lnSpc>
                <a:spcPts val="3999"/>
              </a:lnSpc>
            </a:pPr>
            <a:r>
              <a:rPr lang="en-US" sz="3999" spc="79">
                <a:solidFill>
                  <a:srgbClr val="F8F3ED"/>
                </a:solidFill>
                <a:latin typeface="Sugo Classic"/>
                <a:ea typeface="Sugo Classic"/>
                <a:cs typeface="Sugo Classic"/>
                <a:sym typeface="Sugo Classic"/>
              </a:rPr>
              <a:t>Prof Sudhakar Pandian R / Professor - Scope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6211307" y="-62913"/>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96799">
            <a:off x="-3311352" y="-33101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4" name="Group 4"/>
          <p:cNvGrpSpPr/>
          <p:nvPr/>
        </p:nvGrpSpPr>
        <p:grpSpPr>
          <a:xfrm rot="-577747">
            <a:off x="-2005009" y="-313325"/>
            <a:ext cx="5062044" cy="3536331"/>
            <a:chOff x="0" y="0"/>
            <a:chExt cx="1333213" cy="931379"/>
          </a:xfrm>
        </p:grpSpPr>
        <p:sp>
          <p:nvSpPr>
            <p:cNvPr id="5" name="Freeform 5"/>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6" name="TextBox 6"/>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577747">
            <a:off x="2082829" y="-657637"/>
            <a:ext cx="945204" cy="3536331"/>
            <a:chOff x="0" y="0"/>
            <a:chExt cx="248943" cy="931379"/>
          </a:xfrm>
        </p:grpSpPr>
        <p:sp>
          <p:nvSpPr>
            <p:cNvPr id="8" name="Freeform 8"/>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9" name="TextBox 9"/>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rot="-596799">
            <a:off x="-2596120" y="866976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11" name="Group 11"/>
          <p:cNvGrpSpPr/>
          <p:nvPr/>
        </p:nvGrpSpPr>
        <p:grpSpPr>
          <a:xfrm rot="-577747">
            <a:off x="-1286473" y="8720319"/>
            <a:ext cx="5062044" cy="3536331"/>
            <a:chOff x="0" y="0"/>
            <a:chExt cx="1333213" cy="931379"/>
          </a:xfrm>
        </p:grpSpPr>
        <p:sp>
          <p:nvSpPr>
            <p:cNvPr id="12" name="Freeform 12"/>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3" name="TextBox 13"/>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577747">
            <a:off x="-472602" y="8931281"/>
            <a:ext cx="945204" cy="3536331"/>
            <a:chOff x="0" y="0"/>
            <a:chExt cx="248943" cy="931379"/>
          </a:xfrm>
        </p:grpSpPr>
        <p:sp>
          <p:nvSpPr>
            <p:cNvPr id="15" name="Freeform 15"/>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16" name="TextBox 16"/>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rot="-596799">
            <a:off x="-1976365" y="3913436"/>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18" name="Group 18"/>
          <p:cNvGrpSpPr/>
          <p:nvPr/>
        </p:nvGrpSpPr>
        <p:grpSpPr>
          <a:xfrm rot="-577747">
            <a:off x="-670023" y="3931123"/>
            <a:ext cx="5062044" cy="3536331"/>
            <a:chOff x="0" y="0"/>
            <a:chExt cx="1333213" cy="931379"/>
          </a:xfrm>
        </p:grpSpPr>
        <p:sp>
          <p:nvSpPr>
            <p:cNvPr id="19" name="Freeform 19"/>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0" name="TextBox 20"/>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1" name="Group 21"/>
          <p:cNvGrpSpPr/>
          <p:nvPr/>
        </p:nvGrpSpPr>
        <p:grpSpPr>
          <a:xfrm rot="4821976">
            <a:off x="2005816" y="4782749"/>
            <a:ext cx="433804" cy="4854674"/>
            <a:chOff x="0" y="0"/>
            <a:chExt cx="114253" cy="1278597"/>
          </a:xfrm>
        </p:grpSpPr>
        <p:sp>
          <p:nvSpPr>
            <p:cNvPr id="22" name="Freeform 22"/>
            <p:cNvSpPr/>
            <p:nvPr/>
          </p:nvSpPr>
          <p:spPr>
            <a:xfrm>
              <a:off x="0" y="0"/>
              <a:ext cx="114253" cy="1278597"/>
            </a:xfrm>
            <a:custGeom>
              <a:avLst/>
              <a:gdLst/>
              <a:ahLst/>
              <a:cxnLst/>
              <a:rect l="l" t="t" r="r" b="b"/>
              <a:pathLst>
                <a:path w="114253" h="1278597">
                  <a:moveTo>
                    <a:pt x="57127" y="0"/>
                  </a:moveTo>
                  <a:lnTo>
                    <a:pt x="57127" y="0"/>
                  </a:lnTo>
                  <a:cubicBezTo>
                    <a:pt x="72277" y="0"/>
                    <a:pt x="86808" y="6019"/>
                    <a:pt x="97521" y="16732"/>
                  </a:cubicBezTo>
                  <a:cubicBezTo>
                    <a:pt x="108234" y="27445"/>
                    <a:pt x="114253" y="41976"/>
                    <a:pt x="114253" y="57127"/>
                  </a:cubicBezTo>
                  <a:lnTo>
                    <a:pt x="114253" y="1221471"/>
                  </a:lnTo>
                  <a:cubicBezTo>
                    <a:pt x="114253" y="1253021"/>
                    <a:pt x="88677" y="1278597"/>
                    <a:pt x="57127" y="1278597"/>
                  </a:cubicBezTo>
                  <a:lnTo>
                    <a:pt x="57127" y="1278597"/>
                  </a:lnTo>
                  <a:cubicBezTo>
                    <a:pt x="25576" y="1278597"/>
                    <a:pt x="0" y="1253021"/>
                    <a:pt x="0" y="1221471"/>
                  </a:cubicBezTo>
                  <a:lnTo>
                    <a:pt x="0" y="57127"/>
                  </a:lnTo>
                  <a:cubicBezTo>
                    <a:pt x="0" y="25576"/>
                    <a:pt x="25576" y="0"/>
                    <a:pt x="57127" y="0"/>
                  </a:cubicBezTo>
                  <a:close/>
                </a:path>
              </a:pathLst>
            </a:custGeom>
            <a:solidFill>
              <a:srgbClr val="D8DCA6"/>
            </a:solidFill>
          </p:spPr>
        </p:sp>
        <p:sp>
          <p:nvSpPr>
            <p:cNvPr id="23" name="TextBox 23"/>
            <p:cNvSpPr txBox="1"/>
            <p:nvPr/>
          </p:nvSpPr>
          <p:spPr>
            <a:xfrm>
              <a:off x="0" y="-38100"/>
              <a:ext cx="114253" cy="1316697"/>
            </a:xfrm>
            <a:prstGeom prst="rect">
              <a:avLst/>
            </a:prstGeom>
          </p:spPr>
          <p:txBody>
            <a:bodyPr lIns="50800" tIns="50800" rIns="50800" bIns="50800" rtlCol="0" anchor="ctr"/>
            <a:lstStyle/>
            <a:p>
              <a:pPr algn="ctr">
                <a:lnSpc>
                  <a:spcPts val="2659"/>
                </a:lnSpc>
                <a:spcBef>
                  <a:spcPct val="0"/>
                </a:spcBef>
              </a:pPr>
              <a:endParaRPr/>
            </a:p>
          </p:txBody>
        </p:sp>
      </p:grpSp>
      <p:sp>
        <p:nvSpPr>
          <p:cNvPr id="24" name="Freeform 24"/>
          <p:cNvSpPr/>
          <p:nvPr/>
        </p:nvSpPr>
        <p:spPr>
          <a:xfrm>
            <a:off x="15635662" y="-173546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5" name="Freeform 25"/>
          <p:cNvSpPr/>
          <p:nvPr/>
        </p:nvSpPr>
        <p:spPr>
          <a:xfrm>
            <a:off x="15635662" y="835763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6" name="Freeform 26"/>
          <p:cNvSpPr/>
          <p:nvPr/>
        </p:nvSpPr>
        <p:spPr>
          <a:xfrm rot="-516964">
            <a:off x="323777" y="4450669"/>
            <a:ext cx="2936620" cy="2103688"/>
          </a:xfrm>
          <a:custGeom>
            <a:avLst/>
            <a:gdLst/>
            <a:ahLst/>
            <a:cxnLst/>
            <a:rect l="l" t="t" r="r" b="b"/>
            <a:pathLst>
              <a:path w="2936620" h="2103688">
                <a:moveTo>
                  <a:pt x="0" y="0"/>
                </a:moveTo>
                <a:lnTo>
                  <a:pt x="2936620" y="0"/>
                </a:lnTo>
                <a:lnTo>
                  <a:pt x="2936620" y="2103688"/>
                </a:lnTo>
                <a:lnTo>
                  <a:pt x="0" y="210368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7" name="Freeform 27"/>
          <p:cNvSpPr/>
          <p:nvPr/>
        </p:nvSpPr>
        <p:spPr>
          <a:xfrm rot="-546715">
            <a:off x="94271" y="407295"/>
            <a:ext cx="1241921" cy="2057400"/>
          </a:xfrm>
          <a:custGeom>
            <a:avLst/>
            <a:gdLst/>
            <a:ahLst/>
            <a:cxnLst/>
            <a:rect l="l" t="t" r="r" b="b"/>
            <a:pathLst>
              <a:path w="1241921" h="2057400">
                <a:moveTo>
                  <a:pt x="0" y="0"/>
                </a:moveTo>
                <a:lnTo>
                  <a:pt x="1241922" y="0"/>
                </a:lnTo>
                <a:lnTo>
                  <a:pt x="1241922" y="2057400"/>
                </a:lnTo>
                <a:lnTo>
                  <a:pt x="0" y="20574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8" name="Freeform 28"/>
          <p:cNvSpPr/>
          <p:nvPr/>
        </p:nvSpPr>
        <p:spPr>
          <a:xfrm rot="-543533">
            <a:off x="975643" y="8961508"/>
            <a:ext cx="2171960" cy="1544066"/>
          </a:xfrm>
          <a:custGeom>
            <a:avLst/>
            <a:gdLst/>
            <a:ahLst/>
            <a:cxnLst/>
            <a:rect l="l" t="t" r="r" b="b"/>
            <a:pathLst>
              <a:path w="2171960" h="1544066">
                <a:moveTo>
                  <a:pt x="0" y="0"/>
                </a:moveTo>
                <a:lnTo>
                  <a:pt x="2171959" y="0"/>
                </a:lnTo>
                <a:lnTo>
                  <a:pt x="2171959" y="1544066"/>
                </a:lnTo>
                <a:lnTo>
                  <a:pt x="0" y="154406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9" name="TextBox 29"/>
          <p:cNvSpPr txBox="1"/>
          <p:nvPr/>
        </p:nvSpPr>
        <p:spPr>
          <a:xfrm>
            <a:off x="7177802" y="3442735"/>
            <a:ext cx="10515261" cy="3571066"/>
          </a:xfrm>
          <a:prstGeom prst="rect">
            <a:avLst/>
          </a:prstGeom>
        </p:spPr>
        <p:txBody>
          <a:bodyPr lIns="0" tIns="0" rIns="0" bIns="0" rtlCol="0" anchor="t">
            <a:spAutoFit/>
          </a:bodyPr>
          <a:lstStyle/>
          <a:p>
            <a:pPr algn="l">
              <a:lnSpc>
                <a:spcPts val="3220"/>
              </a:lnSpc>
            </a:pPr>
            <a:r>
              <a:rPr lang="en-US" sz="2385" spc="143">
                <a:solidFill>
                  <a:srgbClr val="F8F3ED"/>
                </a:solidFill>
                <a:latin typeface="Open Sans"/>
                <a:ea typeface="Open Sans"/>
                <a:cs typeface="Open Sans"/>
                <a:sym typeface="Open Sans"/>
              </a:rPr>
              <a:t>Traffic congestion is a major problem in urban areas due to increasing vehicle population.</a:t>
            </a:r>
          </a:p>
          <a:p>
            <a:pPr algn="l">
              <a:lnSpc>
                <a:spcPts val="3220"/>
              </a:lnSpc>
            </a:pPr>
            <a:endParaRPr lang="en-US" sz="2385" spc="143">
              <a:solidFill>
                <a:srgbClr val="F8F3ED"/>
              </a:solidFill>
              <a:latin typeface="Open Sans"/>
              <a:ea typeface="Open Sans"/>
              <a:cs typeface="Open Sans"/>
              <a:sym typeface="Open Sans"/>
            </a:endParaRPr>
          </a:p>
          <a:p>
            <a:pPr algn="l">
              <a:lnSpc>
                <a:spcPts val="3220"/>
              </a:lnSpc>
            </a:pPr>
            <a:r>
              <a:rPr lang="en-US" sz="2385" spc="143">
                <a:solidFill>
                  <a:srgbClr val="F8F3ED"/>
                </a:solidFill>
                <a:latin typeface="Open Sans"/>
                <a:ea typeface="Open Sans"/>
                <a:cs typeface="Open Sans"/>
                <a:sym typeface="Open Sans"/>
              </a:rPr>
              <a:t>Traditional traffic light systems use fixed-time signals, which are inefficient during varying traffic conditions.</a:t>
            </a:r>
          </a:p>
          <a:p>
            <a:pPr algn="l">
              <a:lnSpc>
                <a:spcPts val="3220"/>
              </a:lnSpc>
            </a:pPr>
            <a:r>
              <a:rPr lang="en-US" sz="2385" spc="143">
                <a:solidFill>
                  <a:srgbClr val="F8F3ED"/>
                </a:solidFill>
                <a:latin typeface="Open Sans"/>
                <a:ea typeface="Open Sans"/>
                <a:cs typeface="Open Sans"/>
                <a:sym typeface="Open Sans"/>
              </a:rPr>
              <a:t>To overcome this issue, fuzzy logic is used to design an intelligent traffic light controller that adapts signal timing based on real-time traffic density, similar to human decision-making.</a:t>
            </a:r>
          </a:p>
          <a:p>
            <a:pPr algn="l">
              <a:lnSpc>
                <a:spcPts val="3220"/>
              </a:lnSpc>
            </a:pPr>
            <a:endParaRPr lang="en-US" sz="2385" spc="143">
              <a:solidFill>
                <a:srgbClr val="F8F3ED"/>
              </a:solidFill>
              <a:latin typeface="Open Sans"/>
              <a:ea typeface="Open Sans"/>
              <a:cs typeface="Open Sans"/>
              <a:sym typeface="Open Sans"/>
            </a:endParaRPr>
          </a:p>
        </p:txBody>
      </p:sp>
      <p:sp>
        <p:nvSpPr>
          <p:cNvPr id="30" name="TextBox 30"/>
          <p:cNvSpPr txBox="1"/>
          <p:nvPr/>
        </p:nvSpPr>
        <p:spPr>
          <a:xfrm>
            <a:off x="7177802" y="1750583"/>
            <a:ext cx="6441589" cy="1390861"/>
          </a:xfrm>
          <a:prstGeom prst="rect">
            <a:avLst/>
          </a:prstGeom>
        </p:spPr>
        <p:txBody>
          <a:bodyPr lIns="0" tIns="0" rIns="0" bIns="0" rtlCol="0" anchor="t">
            <a:spAutoFit/>
          </a:bodyPr>
          <a:lstStyle/>
          <a:p>
            <a:pPr algn="l">
              <a:lnSpc>
                <a:spcPts val="9999"/>
              </a:lnSpc>
            </a:pPr>
            <a:r>
              <a:rPr lang="en-US" sz="9999" b="1" spc="199">
                <a:solidFill>
                  <a:srgbClr val="F8F3ED"/>
                </a:solidFill>
                <a:latin typeface="Sugo Classic Bold"/>
                <a:ea typeface="Sugo Classic Bold"/>
                <a:cs typeface="Sugo Classic Bold"/>
                <a:sym typeface="Sugo Classic Bold"/>
              </a:rPr>
              <a:t>INTRODUCTION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14085623" y="-135779"/>
            <a:ext cx="10558558" cy="10558558"/>
          </a:xfrm>
          <a:custGeom>
            <a:avLst/>
            <a:gdLst/>
            <a:ahLst/>
            <a:cxnLst/>
            <a:rect l="l" t="t" r="r" b="b"/>
            <a:pathLst>
              <a:path w="10558558" h="10558558">
                <a:moveTo>
                  <a:pt x="0" y="0"/>
                </a:moveTo>
                <a:lnTo>
                  <a:pt x="10558558" y="0"/>
                </a:lnTo>
                <a:lnTo>
                  <a:pt x="10558558" y="10558558"/>
                </a:lnTo>
                <a:lnTo>
                  <a:pt x="0" y="1055855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96799" flipH="1">
            <a:off x="13636910" y="5279113"/>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4" name="Group 4"/>
          <p:cNvGrpSpPr/>
          <p:nvPr/>
        </p:nvGrpSpPr>
        <p:grpSpPr>
          <a:xfrm rot="-577747">
            <a:off x="13912200" y="5536870"/>
            <a:ext cx="5062044" cy="4189837"/>
            <a:chOff x="0" y="0"/>
            <a:chExt cx="1333213" cy="1103496"/>
          </a:xfrm>
        </p:grpSpPr>
        <p:sp>
          <p:nvSpPr>
            <p:cNvPr id="5" name="Freeform 5"/>
            <p:cNvSpPr/>
            <p:nvPr/>
          </p:nvSpPr>
          <p:spPr>
            <a:xfrm>
              <a:off x="0" y="0"/>
              <a:ext cx="1333213" cy="1103496"/>
            </a:xfrm>
            <a:custGeom>
              <a:avLst/>
              <a:gdLst/>
              <a:ahLst/>
              <a:cxnLst/>
              <a:rect l="l" t="t" r="r" b="b"/>
              <a:pathLst>
                <a:path w="1333213" h="1103496">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6" name="TextBox 6"/>
            <p:cNvSpPr txBox="1"/>
            <p:nvPr/>
          </p:nvSpPr>
          <p:spPr>
            <a:xfrm>
              <a:off x="0" y="-38100"/>
              <a:ext cx="1333213" cy="1141596"/>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596799" flipH="1">
            <a:off x="14910558" y="30965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8" name="Group 8"/>
          <p:cNvGrpSpPr/>
          <p:nvPr/>
        </p:nvGrpSpPr>
        <p:grpSpPr>
          <a:xfrm rot="-577747">
            <a:off x="15483130" y="4101669"/>
            <a:ext cx="5062044" cy="603669"/>
            <a:chOff x="0" y="0"/>
            <a:chExt cx="1333213" cy="158991"/>
          </a:xfrm>
        </p:grpSpPr>
        <p:sp>
          <p:nvSpPr>
            <p:cNvPr id="9" name="Freeform 9"/>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10" name="TextBox 10"/>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577747">
            <a:off x="15147467" y="681914"/>
            <a:ext cx="5062044" cy="3536331"/>
            <a:chOff x="0" y="0"/>
            <a:chExt cx="1333213" cy="931379"/>
          </a:xfrm>
        </p:grpSpPr>
        <p:sp>
          <p:nvSpPr>
            <p:cNvPr id="12" name="Freeform 12"/>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3" name="TextBox 13"/>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400175" y="1750583"/>
            <a:ext cx="6441589" cy="1395941"/>
          </a:xfrm>
          <a:prstGeom prst="rect">
            <a:avLst/>
          </a:prstGeom>
        </p:spPr>
        <p:txBody>
          <a:bodyPr lIns="0" tIns="0" rIns="0" bIns="0" rtlCol="0" anchor="t">
            <a:spAutoFit/>
          </a:bodyPr>
          <a:lstStyle/>
          <a:p>
            <a:pPr algn="l">
              <a:lnSpc>
                <a:spcPts val="9999"/>
              </a:lnSpc>
            </a:pPr>
            <a:r>
              <a:rPr lang="en-US" sz="9999" b="1" spc="199">
                <a:solidFill>
                  <a:srgbClr val="F8F3ED"/>
                </a:solidFill>
                <a:latin typeface="Sugo Classic Bold"/>
                <a:ea typeface="Sugo Classic Bold"/>
                <a:cs typeface="Sugo Classic Bold"/>
                <a:sym typeface="Sugo Classic Bold"/>
              </a:rPr>
              <a:t>ABSTRACT</a:t>
            </a:r>
          </a:p>
        </p:txBody>
      </p:sp>
      <p:sp>
        <p:nvSpPr>
          <p:cNvPr id="15" name="Freeform 15"/>
          <p:cNvSpPr/>
          <p:nvPr/>
        </p:nvSpPr>
        <p:spPr>
          <a:xfrm>
            <a:off x="-2057400" y="-219317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a:off x="-657225" y="89645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rot="-571633">
            <a:off x="15973425" y="1675256"/>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rot="-519783">
            <a:off x="15113738" y="6229800"/>
            <a:ext cx="2769097" cy="2836133"/>
          </a:xfrm>
          <a:custGeom>
            <a:avLst/>
            <a:gdLst/>
            <a:ahLst/>
            <a:cxnLst/>
            <a:rect l="l" t="t" r="r" b="b"/>
            <a:pathLst>
              <a:path w="2769097" h="2836133">
                <a:moveTo>
                  <a:pt x="0" y="0"/>
                </a:moveTo>
                <a:lnTo>
                  <a:pt x="2769098" y="0"/>
                </a:lnTo>
                <a:lnTo>
                  <a:pt x="2769098" y="2836133"/>
                </a:lnTo>
                <a:lnTo>
                  <a:pt x="0" y="283613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1400175" y="3452260"/>
            <a:ext cx="10559318" cy="4774143"/>
          </a:xfrm>
          <a:prstGeom prst="rect">
            <a:avLst/>
          </a:prstGeom>
        </p:spPr>
        <p:txBody>
          <a:bodyPr lIns="0" tIns="0" rIns="0" bIns="0" rtlCol="0" anchor="t">
            <a:spAutoFit/>
          </a:bodyPr>
          <a:lstStyle/>
          <a:p>
            <a:pPr algn="l">
              <a:lnSpc>
                <a:spcPts val="3233"/>
              </a:lnSpc>
            </a:pPr>
            <a:endParaRPr/>
          </a:p>
          <a:p>
            <a:pPr algn="l">
              <a:lnSpc>
                <a:spcPts val="3233"/>
              </a:lnSpc>
            </a:pPr>
            <a:r>
              <a:rPr lang="en-US" sz="2395" spc="143">
                <a:solidFill>
                  <a:srgbClr val="F8F3ED"/>
                </a:solidFill>
                <a:latin typeface="Open Sans"/>
                <a:ea typeface="Open Sans"/>
                <a:cs typeface="Open Sans"/>
                <a:sym typeface="Open Sans"/>
              </a:rPr>
              <a:t> This project presents a Fuzzy Logic–based Traffic Light Control System that dynamically adjusts green signal duration according to traffic density. Unlike conventional fixed-time systems, the fuzzy controller uses linguistic variables such as low, medium, and high traffic to make intelligent decisions. The system improves traffic flow, reduces waiting time, and enhances overall traffic efficiency.</a:t>
            </a:r>
          </a:p>
          <a:p>
            <a:pPr algn="l">
              <a:lnSpc>
                <a:spcPts val="3233"/>
              </a:lnSpc>
            </a:pPr>
            <a:r>
              <a:rPr lang="en-US" sz="2395" spc="143">
                <a:solidFill>
                  <a:srgbClr val="F8F3ED"/>
                </a:solidFill>
                <a:latin typeface="Open Sans"/>
                <a:ea typeface="Open Sans"/>
                <a:cs typeface="Open Sans"/>
                <a:sym typeface="Open Sans"/>
              </a:rPr>
              <a:t>Keywords:</a:t>
            </a:r>
          </a:p>
          <a:p>
            <a:pPr algn="l">
              <a:lnSpc>
                <a:spcPts val="3233"/>
              </a:lnSpc>
            </a:pPr>
            <a:r>
              <a:rPr lang="en-US" sz="2395" spc="143">
                <a:solidFill>
                  <a:srgbClr val="F8F3ED"/>
                </a:solidFill>
                <a:latin typeface="Open Sans"/>
                <a:ea typeface="Open Sans"/>
                <a:cs typeface="Open Sans"/>
                <a:sym typeface="Open Sans"/>
              </a:rPr>
              <a:t> Fuzzy Logic, Traffic Control System, Intelligent Systems, Soft Computing, Signal Optimization</a:t>
            </a:r>
          </a:p>
          <a:p>
            <a:pPr algn="l">
              <a:lnSpc>
                <a:spcPts val="3233"/>
              </a:lnSpc>
            </a:pPr>
            <a:endParaRPr lang="en-US" sz="2395" spc="143">
              <a:solidFill>
                <a:srgbClr val="F8F3ED"/>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grpSp>
        <p:nvGrpSpPr>
          <p:cNvPr id="2" name="Group 2"/>
          <p:cNvGrpSpPr/>
          <p:nvPr/>
        </p:nvGrpSpPr>
        <p:grpSpPr>
          <a:xfrm rot="-181154">
            <a:off x="-175010" y="8458500"/>
            <a:ext cx="20621450" cy="10320250"/>
            <a:chOff x="0" y="0"/>
            <a:chExt cx="27495267" cy="13760333"/>
          </a:xfrm>
        </p:grpSpPr>
        <p:sp>
          <p:nvSpPr>
            <p:cNvPr id="3" name="Freeform 3"/>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rot="5428">
            <a:off x="1021137" y="8365667"/>
            <a:ext cx="5062044" cy="603669"/>
            <a:chOff x="0" y="0"/>
            <a:chExt cx="1333213" cy="158991"/>
          </a:xfrm>
        </p:grpSpPr>
        <p:sp>
          <p:nvSpPr>
            <p:cNvPr id="6" name="Freeform 6"/>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F6CEAD"/>
            </a:solidFill>
          </p:spPr>
        </p:sp>
        <p:sp>
          <p:nvSpPr>
            <p:cNvPr id="7" name="TextBox 7"/>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5428">
            <a:off x="1020083" y="4917282"/>
            <a:ext cx="5062044" cy="3536331"/>
            <a:chOff x="0" y="0"/>
            <a:chExt cx="1333213" cy="931379"/>
          </a:xfrm>
        </p:grpSpPr>
        <p:sp>
          <p:nvSpPr>
            <p:cNvPr id="9" name="Freeform 9"/>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0" name="TextBox 10"/>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5428">
            <a:off x="6607716" y="8365667"/>
            <a:ext cx="5062044" cy="603669"/>
            <a:chOff x="0" y="0"/>
            <a:chExt cx="1333213" cy="158991"/>
          </a:xfrm>
        </p:grpSpPr>
        <p:sp>
          <p:nvSpPr>
            <p:cNvPr id="12" name="Freeform 12"/>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F6CEAD"/>
            </a:solidFill>
          </p:spPr>
        </p:sp>
        <p:sp>
          <p:nvSpPr>
            <p:cNvPr id="13" name="TextBox 13"/>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5428">
            <a:off x="6610032" y="4917282"/>
            <a:ext cx="5062044" cy="3536331"/>
            <a:chOff x="0" y="0"/>
            <a:chExt cx="1333213" cy="931379"/>
          </a:xfrm>
        </p:grpSpPr>
        <p:sp>
          <p:nvSpPr>
            <p:cNvPr id="15" name="Freeform 15"/>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6" name="TextBox 16"/>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rot="5428">
            <a:off x="12196783" y="8461605"/>
            <a:ext cx="5062044" cy="603669"/>
            <a:chOff x="0" y="0"/>
            <a:chExt cx="1333213" cy="158991"/>
          </a:xfrm>
        </p:grpSpPr>
        <p:sp>
          <p:nvSpPr>
            <p:cNvPr id="18" name="Freeform 18"/>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F6CEAD"/>
            </a:solidFill>
          </p:spPr>
        </p:sp>
        <p:sp>
          <p:nvSpPr>
            <p:cNvPr id="19" name="TextBox 19"/>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rot="5428">
            <a:off x="12086811" y="4917282"/>
            <a:ext cx="5062044" cy="3536331"/>
            <a:chOff x="0" y="0"/>
            <a:chExt cx="1333213" cy="931379"/>
          </a:xfrm>
        </p:grpSpPr>
        <p:sp>
          <p:nvSpPr>
            <p:cNvPr id="21" name="Freeform 21"/>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2" name="TextBox 22"/>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rot="-204695">
            <a:off x="-1866489" y="-9488422"/>
            <a:ext cx="20621450" cy="10320250"/>
            <a:chOff x="0" y="0"/>
            <a:chExt cx="27495267" cy="13760333"/>
          </a:xfrm>
        </p:grpSpPr>
        <p:sp>
          <p:nvSpPr>
            <p:cNvPr id="24" name="Freeform 24"/>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5" name="Freeform 25"/>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26" name="Freeform 26"/>
          <p:cNvSpPr/>
          <p:nvPr/>
        </p:nvSpPr>
        <p:spPr>
          <a:xfrm>
            <a:off x="-2512533" y="1729716"/>
            <a:ext cx="3413784" cy="3413784"/>
          </a:xfrm>
          <a:custGeom>
            <a:avLst/>
            <a:gdLst/>
            <a:ahLst/>
            <a:cxnLst/>
            <a:rect l="l" t="t" r="r" b="b"/>
            <a:pathLst>
              <a:path w="3413784" h="3413784">
                <a:moveTo>
                  <a:pt x="0" y="0"/>
                </a:moveTo>
                <a:lnTo>
                  <a:pt x="3413783" y="0"/>
                </a:lnTo>
                <a:lnTo>
                  <a:pt x="3413783" y="3413784"/>
                </a:lnTo>
                <a:lnTo>
                  <a:pt x="0" y="341378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7" name="Freeform 27"/>
          <p:cNvSpPr/>
          <p:nvPr/>
        </p:nvSpPr>
        <p:spPr>
          <a:xfrm>
            <a:off x="16853481" y="1028700"/>
            <a:ext cx="2869039" cy="2869039"/>
          </a:xfrm>
          <a:custGeom>
            <a:avLst/>
            <a:gdLst/>
            <a:ahLst/>
            <a:cxnLst/>
            <a:rect l="l" t="t" r="r" b="b"/>
            <a:pathLst>
              <a:path w="2869039" h="2869039">
                <a:moveTo>
                  <a:pt x="0" y="0"/>
                </a:moveTo>
                <a:lnTo>
                  <a:pt x="2869038" y="0"/>
                </a:lnTo>
                <a:lnTo>
                  <a:pt x="2869038" y="2869039"/>
                </a:lnTo>
                <a:lnTo>
                  <a:pt x="0" y="28690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8" name="Freeform 28"/>
          <p:cNvSpPr/>
          <p:nvPr/>
        </p:nvSpPr>
        <p:spPr>
          <a:xfrm>
            <a:off x="2696163" y="3436608"/>
            <a:ext cx="1862463" cy="2236582"/>
          </a:xfrm>
          <a:custGeom>
            <a:avLst/>
            <a:gdLst/>
            <a:ahLst/>
            <a:cxnLst/>
            <a:rect l="l" t="t" r="r" b="b"/>
            <a:pathLst>
              <a:path w="1862463" h="2236582">
                <a:moveTo>
                  <a:pt x="0" y="0"/>
                </a:moveTo>
                <a:lnTo>
                  <a:pt x="1862463" y="0"/>
                </a:lnTo>
                <a:lnTo>
                  <a:pt x="1862463" y="2236582"/>
                </a:lnTo>
                <a:lnTo>
                  <a:pt x="0" y="223658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9" name="Freeform 29"/>
          <p:cNvSpPr/>
          <p:nvPr/>
        </p:nvSpPr>
        <p:spPr>
          <a:xfrm>
            <a:off x="8202014" y="3816733"/>
            <a:ext cx="1880603" cy="1926130"/>
          </a:xfrm>
          <a:custGeom>
            <a:avLst/>
            <a:gdLst/>
            <a:ahLst/>
            <a:cxnLst/>
            <a:rect l="l" t="t" r="r" b="b"/>
            <a:pathLst>
              <a:path w="1880603" h="1926130">
                <a:moveTo>
                  <a:pt x="0" y="0"/>
                </a:moveTo>
                <a:lnTo>
                  <a:pt x="1880603" y="0"/>
                </a:lnTo>
                <a:lnTo>
                  <a:pt x="1880603" y="1926130"/>
                </a:lnTo>
                <a:lnTo>
                  <a:pt x="0" y="192613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0" name="Freeform 30"/>
          <p:cNvSpPr/>
          <p:nvPr/>
        </p:nvSpPr>
        <p:spPr>
          <a:xfrm>
            <a:off x="13789415" y="4019896"/>
            <a:ext cx="1656836" cy="1786784"/>
          </a:xfrm>
          <a:custGeom>
            <a:avLst/>
            <a:gdLst/>
            <a:ahLst/>
            <a:cxnLst/>
            <a:rect l="l" t="t" r="r" b="b"/>
            <a:pathLst>
              <a:path w="1656836" h="1786784">
                <a:moveTo>
                  <a:pt x="0" y="0"/>
                </a:moveTo>
                <a:lnTo>
                  <a:pt x="1656836" y="0"/>
                </a:lnTo>
                <a:lnTo>
                  <a:pt x="1656836" y="1786784"/>
                </a:lnTo>
                <a:lnTo>
                  <a:pt x="0" y="178678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1" name="TextBox 31"/>
          <p:cNvSpPr txBox="1"/>
          <p:nvPr/>
        </p:nvSpPr>
        <p:spPr>
          <a:xfrm>
            <a:off x="1518239" y="5698584"/>
            <a:ext cx="4223490" cy="3032760"/>
          </a:xfrm>
          <a:prstGeom prst="rect">
            <a:avLst/>
          </a:prstGeom>
        </p:spPr>
        <p:txBody>
          <a:bodyPr lIns="0" tIns="0" rIns="0" bIns="0" rtlCol="0" anchor="t">
            <a:spAutoFit/>
          </a:bodyPr>
          <a:lstStyle/>
          <a:p>
            <a:pPr algn="ctr">
              <a:lnSpc>
                <a:spcPts val="2430"/>
              </a:lnSpc>
            </a:pPr>
            <a:r>
              <a:rPr lang="en-US" sz="1800" spc="108">
                <a:solidFill>
                  <a:srgbClr val="74A8B3"/>
                </a:solidFill>
                <a:latin typeface="Open Sans"/>
                <a:ea typeface="Open Sans"/>
                <a:cs typeface="Open Sans"/>
                <a:sym typeface="Open Sans"/>
              </a:rPr>
              <a:t>Key Studies</a:t>
            </a:r>
          </a:p>
          <a:p>
            <a:pPr marL="388622" lvl="1" indent="-194311" algn="ctr">
              <a:lnSpc>
                <a:spcPts val="2430"/>
              </a:lnSpc>
              <a:buFont typeface="Arial"/>
              <a:buChar char="•"/>
            </a:pPr>
            <a:r>
              <a:rPr lang="en-US" sz="1800" spc="108">
                <a:solidFill>
                  <a:srgbClr val="74A8B3"/>
                </a:solidFill>
                <a:latin typeface="Open Sans"/>
                <a:ea typeface="Open Sans"/>
                <a:cs typeface="Open Sans"/>
                <a:sym typeface="Open Sans"/>
              </a:rPr>
              <a:t>Zadeh (1965) – Introduced the concept of Fuzzy Logic</a:t>
            </a:r>
          </a:p>
          <a:p>
            <a:pPr marL="388622" lvl="1" indent="-194311" algn="ctr">
              <a:lnSpc>
                <a:spcPts val="2430"/>
              </a:lnSpc>
              <a:buFont typeface="Arial"/>
              <a:buChar char="•"/>
            </a:pPr>
            <a:r>
              <a:rPr lang="en-US" sz="1800" spc="108">
                <a:solidFill>
                  <a:srgbClr val="74A8B3"/>
                </a:solidFill>
                <a:latin typeface="Open Sans"/>
                <a:ea typeface="Open Sans"/>
                <a:cs typeface="Open Sans"/>
                <a:sym typeface="Open Sans"/>
              </a:rPr>
              <a:t>Pappis &amp; Mamdani (1977) – Applied fuzzy logic to traffic signal control</a:t>
            </a:r>
          </a:p>
          <a:p>
            <a:pPr marL="388622" lvl="1" indent="-194311" algn="ctr">
              <a:lnSpc>
                <a:spcPts val="2430"/>
              </a:lnSpc>
              <a:buFont typeface="Arial"/>
              <a:buChar char="•"/>
            </a:pPr>
            <a:r>
              <a:rPr lang="en-US" sz="1800" spc="108">
                <a:solidFill>
                  <a:srgbClr val="74A8B3"/>
                </a:solidFill>
                <a:latin typeface="Open Sans"/>
                <a:ea typeface="Open Sans"/>
                <a:cs typeface="Open Sans"/>
                <a:sym typeface="Open Sans"/>
              </a:rPr>
              <a:t>Kaur et al. (2019) – Proposed adaptive fuzzy traffic systems for urban roads</a:t>
            </a:r>
          </a:p>
          <a:p>
            <a:pPr algn="ctr">
              <a:lnSpc>
                <a:spcPts val="2430"/>
              </a:lnSpc>
            </a:pPr>
            <a:endParaRPr lang="en-US" sz="1800" spc="108">
              <a:solidFill>
                <a:srgbClr val="74A8B3"/>
              </a:solidFill>
              <a:latin typeface="Open Sans"/>
              <a:ea typeface="Open Sans"/>
              <a:cs typeface="Open Sans"/>
              <a:sym typeface="Open Sans"/>
            </a:endParaRPr>
          </a:p>
        </p:txBody>
      </p:sp>
      <p:sp>
        <p:nvSpPr>
          <p:cNvPr id="32" name="TextBox 32"/>
          <p:cNvSpPr txBox="1"/>
          <p:nvPr/>
        </p:nvSpPr>
        <p:spPr>
          <a:xfrm>
            <a:off x="4116951" y="1162050"/>
            <a:ext cx="10050728" cy="1395941"/>
          </a:xfrm>
          <a:prstGeom prst="rect">
            <a:avLst/>
          </a:prstGeom>
        </p:spPr>
        <p:txBody>
          <a:bodyPr lIns="0" tIns="0" rIns="0" bIns="0" rtlCol="0" anchor="t">
            <a:spAutoFit/>
          </a:bodyPr>
          <a:lstStyle/>
          <a:p>
            <a:pPr algn="ctr">
              <a:lnSpc>
                <a:spcPts val="9999"/>
              </a:lnSpc>
            </a:pPr>
            <a:r>
              <a:rPr lang="en-US" sz="9999" b="1" spc="199">
                <a:solidFill>
                  <a:srgbClr val="F8F3ED"/>
                </a:solidFill>
                <a:latin typeface="Sugo Classic Bold"/>
                <a:ea typeface="Sugo Classic Bold"/>
                <a:cs typeface="Sugo Classic Bold"/>
                <a:sym typeface="Sugo Classic Bold"/>
              </a:rPr>
              <a:t>LITERATURE REVIEW</a:t>
            </a:r>
          </a:p>
        </p:txBody>
      </p:sp>
      <p:sp>
        <p:nvSpPr>
          <p:cNvPr id="33" name="TextBox 33"/>
          <p:cNvSpPr txBox="1"/>
          <p:nvPr/>
        </p:nvSpPr>
        <p:spPr>
          <a:xfrm>
            <a:off x="7030570" y="6400208"/>
            <a:ext cx="4223490" cy="1371600"/>
          </a:xfrm>
          <a:prstGeom prst="rect">
            <a:avLst/>
          </a:prstGeom>
        </p:spPr>
        <p:txBody>
          <a:bodyPr lIns="0" tIns="0" rIns="0" bIns="0" rtlCol="0" anchor="t">
            <a:spAutoFit/>
          </a:bodyPr>
          <a:lstStyle/>
          <a:p>
            <a:pPr algn="ctr">
              <a:lnSpc>
                <a:spcPts val="2700"/>
              </a:lnSpc>
            </a:pPr>
            <a:r>
              <a:rPr lang="en-US" sz="2000" spc="120">
                <a:solidFill>
                  <a:srgbClr val="74A8B3"/>
                </a:solidFill>
                <a:latin typeface="Open Sans"/>
                <a:ea typeface="Open Sans"/>
                <a:cs typeface="Open Sans"/>
                <a:sym typeface="Open Sans"/>
              </a:rPr>
              <a:t>Journal References:</a:t>
            </a:r>
          </a:p>
          <a:p>
            <a:pPr algn="ctr">
              <a:lnSpc>
                <a:spcPts val="2700"/>
              </a:lnSpc>
            </a:pPr>
            <a:r>
              <a:rPr lang="en-US" sz="2000" spc="120">
                <a:solidFill>
                  <a:srgbClr val="74A8B3"/>
                </a:solidFill>
                <a:latin typeface="Open Sans"/>
                <a:ea typeface="Open Sans"/>
                <a:cs typeface="Open Sans"/>
                <a:sym typeface="Open Sans"/>
              </a:rPr>
              <a:t> IEEE Transactions, International Journal of Soft Computing, Springer Journals</a:t>
            </a:r>
          </a:p>
        </p:txBody>
      </p:sp>
      <p:sp>
        <p:nvSpPr>
          <p:cNvPr id="34" name="TextBox 34"/>
          <p:cNvSpPr txBox="1"/>
          <p:nvPr/>
        </p:nvSpPr>
        <p:spPr>
          <a:xfrm>
            <a:off x="12441181" y="5919274"/>
            <a:ext cx="4573248" cy="2844165"/>
          </a:xfrm>
          <a:prstGeom prst="rect">
            <a:avLst/>
          </a:prstGeom>
        </p:spPr>
        <p:txBody>
          <a:bodyPr lIns="0" tIns="0" rIns="0" bIns="0" rtlCol="0" anchor="t">
            <a:spAutoFit/>
          </a:bodyPr>
          <a:lstStyle/>
          <a:p>
            <a:pPr algn="ctr">
              <a:lnSpc>
                <a:spcPts val="2295"/>
              </a:lnSpc>
            </a:pPr>
            <a:r>
              <a:rPr lang="en-US" sz="1700" spc="102">
                <a:solidFill>
                  <a:srgbClr val="74A8B3"/>
                </a:solidFill>
                <a:latin typeface="Open Sans"/>
                <a:ea typeface="Open Sans"/>
                <a:cs typeface="Open Sans"/>
                <a:sym typeface="Open Sans"/>
              </a:rPr>
              <a:t>Research Gaps:</a:t>
            </a:r>
          </a:p>
          <a:p>
            <a:pPr marL="367031" lvl="1" indent="-183515" algn="ctr">
              <a:lnSpc>
                <a:spcPts val="2295"/>
              </a:lnSpc>
              <a:buFont typeface="Arial"/>
              <a:buChar char="•"/>
            </a:pPr>
            <a:r>
              <a:rPr lang="en-US" sz="1700" spc="102">
                <a:solidFill>
                  <a:srgbClr val="74A8B3"/>
                </a:solidFill>
                <a:latin typeface="Open Sans"/>
                <a:ea typeface="Open Sans"/>
                <a:cs typeface="Open Sans"/>
                <a:sym typeface="Open Sans"/>
              </a:rPr>
              <a:t>Fixed-time signals lack adaptability</a:t>
            </a:r>
          </a:p>
          <a:p>
            <a:pPr marL="367031" lvl="1" indent="-183515" algn="ctr">
              <a:lnSpc>
                <a:spcPts val="2295"/>
              </a:lnSpc>
              <a:buFont typeface="Arial"/>
              <a:buChar char="•"/>
            </a:pPr>
            <a:r>
              <a:rPr lang="en-US" sz="1700" spc="102">
                <a:solidFill>
                  <a:srgbClr val="74A8B3"/>
                </a:solidFill>
                <a:latin typeface="Open Sans"/>
                <a:ea typeface="Open Sans"/>
                <a:cs typeface="Open Sans"/>
                <a:sym typeface="Open Sans"/>
              </a:rPr>
              <a:t>High congestion during peak hours</a:t>
            </a:r>
          </a:p>
          <a:p>
            <a:pPr marL="367031" lvl="1" indent="-183515" algn="ctr">
              <a:lnSpc>
                <a:spcPts val="2295"/>
              </a:lnSpc>
              <a:buFont typeface="Arial"/>
              <a:buChar char="•"/>
            </a:pPr>
            <a:r>
              <a:rPr lang="en-US" sz="1700" spc="102">
                <a:solidFill>
                  <a:srgbClr val="74A8B3"/>
                </a:solidFill>
                <a:latin typeface="Open Sans"/>
                <a:ea typeface="Open Sans"/>
                <a:cs typeface="Open Sans"/>
                <a:sym typeface="Open Sans"/>
              </a:rPr>
              <a:t>Poor utilization of green time</a:t>
            </a:r>
          </a:p>
          <a:p>
            <a:pPr algn="ctr">
              <a:lnSpc>
                <a:spcPts val="2295"/>
              </a:lnSpc>
            </a:pPr>
            <a:r>
              <a:rPr lang="en-US" sz="1700" spc="102">
                <a:solidFill>
                  <a:srgbClr val="74A8B3"/>
                </a:solidFill>
                <a:latin typeface="Open Sans"/>
                <a:ea typeface="Open Sans"/>
                <a:cs typeface="Open Sans"/>
                <a:sym typeface="Open Sans"/>
              </a:rPr>
              <a:t>Summary:</a:t>
            </a:r>
          </a:p>
          <a:p>
            <a:pPr algn="ctr">
              <a:lnSpc>
                <a:spcPts val="2295"/>
              </a:lnSpc>
            </a:pPr>
            <a:r>
              <a:rPr lang="en-US" sz="1700" spc="102">
                <a:solidFill>
                  <a:srgbClr val="74A8B3"/>
                </a:solidFill>
                <a:latin typeface="Open Sans"/>
                <a:ea typeface="Open Sans"/>
                <a:cs typeface="Open Sans"/>
                <a:sym typeface="Open Sans"/>
              </a:rPr>
              <a:t> Existing systems do not effectively adapt to real-time traffic conditions. Fuzzy logic provides a flexible and intelligent solution.</a:t>
            </a:r>
          </a:p>
          <a:p>
            <a:pPr algn="ctr">
              <a:lnSpc>
                <a:spcPts val="2295"/>
              </a:lnSpc>
            </a:pPr>
            <a:endParaRPr lang="en-US" sz="1700" spc="102">
              <a:solidFill>
                <a:srgbClr val="74A8B3"/>
              </a:solidFill>
              <a:latin typeface="Open Sans"/>
              <a:ea typeface="Open Sans"/>
              <a:cs typeface="Open Sans"/>
              <a:sym typeface="Open Sans"/>
            </a:endParaRPr>
          </a:p>
        </p:txBody>
      </p:sp>
      <p:sp>
        <p:nvSpPr>
          <p:cNvPr id="35" name="TextBox 35"/>
          <p:cNvSpPr txBox="1"/>
          <p:nvPr/>
        </p:nvSpPr>
        <p:spPr>
          <a:xfrm>
            <a:off x="2833376" y="2519891"/>
            <a:ext cx="12724077" cy="989965"/>
          </a:xfrm>
          <a:prstGeom prst="rect">
            <a:avLst/>
          </a:prstGeom>
        </p:spPr>
        <p:txBody>
          <a:bodyPr lIns="0" tIns="0" rIns="0" bIns="0" rtlCol="0" anchor="t">
            <a:spAutoFit/>
          </a:bodyPr>
          <a:lstStyle/>
          <a:p>
            <a:pPr algn="ctr">
              <a:lnSpc>
                <a:spcPts val="2659"/>
              </a:lnSpc>
            </a:pPr>
            <a:r>
              <a:rPr lang="en-US" sz="1899">
                <a:solidFill>
                  <a:srgbClr val="F8F3ED"/>
                </a:solidFill>
                <a:latin typeface="Open Sans"/>
                <a:ea typeface="Open Sans"/>
                <a:cs typeface="Open Sans"/>
                <a:sym typeface="Open Sans"/>
              </a:rPr>
              <a:t>Several researchers have proposed intelligent traffic control systems using fuzzy logic to overcome the limitations</a:t>
            </a:r>
          </a:p>
          <a:p>
            <a:pPr algn="ctr">
              <a:lnSpc>
                <a:spcPts val="2659"/>
              </a:lnSpc>
            </a:pPr>
            <a:r>
              <a:rPr lang="en-US" sz="1899">
                <a:solidFill>
                  <a:srgbClr val="F8F3ED"/>
                </a:solidFill>
                <a:latin typeface="Open Sans"/>
                <a:ea typeface="Open Sans"/>
                <a:cs typeface="Open Sans"/>
                <a:sym typeface="Open Sans"/>
              </a:rPr>
              <a:t> of traditional traffic signals. Fuzzy logic is widely used because it handles uncertainty and</a:t>
            </a:r>
          </a:p>
          <a:p>
            <a:pPr algn="ctr">
              <a:lnSpc>
                <a:spcPts val="2659"/>
              </a:lnSpc>
              <a:spcBef>
                <a:spcPct val="0"/>
              </a:spcBef>
            </a:pPr>
            <a:r>
              <a:rPr lang="en-US" sz="1899">
                <a:solidFill>
                  <a:srgbClr val="F8F3ED"/>
                </a:solidFill>
                <a:latin typeface="Open Sans"/>
                <a:ea typeface="Open Sans"/>
                <a:cs typeface="Open Sans"/>
                <a:sym typeface="Open Sans"/>
              </a:rPr>
              <a:t> imprecision effectively and mimics human reasoning.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8402999" y="-150522"/>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68949" y="134814"/>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47552" flipH="1">
            <a:off x="15145341" y="-684370"/>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5" name="Group 5"/>
          <p:cNvGrpSpPr/>
          <p:nvPr/>
        </p:nvGrpSpPr>
        <p:grpSpPr>
          <a:xfrm rot="-28500">
            <a:off x="15435094" y="2967601"/>
            <a:ext cx="5062044" cy="603669"/>
            <a:chOff x="0" y="0"/>
            <a:chExt cx="1333213" cy="158991"/>
          </a:xfrm>
        </p:grpSpPr>
        <p:sp>
          <p:nvSpPr>
            <p:cNvPr id="6" name="Freeform 6"/>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7" name="TextBox 7"/>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8500">
            <a:off x="15414478" y="-480676"/>
            <a:ext cx="5062044" cy="3536331"/>
            <a:chOff x="0" y="0"/>
            <a:chExt cx="1333213" cy="931379"/>
          </a:xfrm>
        </p:grpSpPr>
        <p:sp>
          <p:nvSpPr>
            <p:cNvPr id="9" name="Freeform 9"/>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0" name="TextBox 10"/>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rot="11331">
            <a:off x="-3413250" y="4293011"/>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12" name="Group 12"/>
          <p:cNvGrpSpPr/>
          <p:nvPr/>
        </p:nvGrpSpPr>
        <p:grpSpPr>
          <a:xfrm rot="30383">
            <a:off x="-2086539" y="4405799"/>
            <a:ext cx="5062044" cy="3536331"/>
            <a:chOff x="0" y="0"/>
            <a:chExt cx="1333213" cy="931379"/>
          </a:xfrm>
        </p:grpSpPr>
        <p:sp>
          <p:nvSpPr>
            <p:cNvPr id="13" name="Freeform 13"/>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4" name="TextBox 14"/>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rot="30383">
            <a:off x="2030220" y="4423991"/>
            <a:ext cx="945204" cy="3536331"/>
            <a:chOff x="0" y="0"/>
            <a:chExt cx="248943" cy="931379"/>
          </a:xfrm>
        </p:grpSpPr>
        <p:sp>
          <p:nvSpPr>
            <p:cNvPr id="16" name="Freeform 16"/>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17" name="TextBox 17"/>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rot="11331">
            <a:off x="-3477085" y="8698520"/>
            <a:ext cx="6622704" cy="3896490"/>
          </a:xfrm>
          <a:custGeom>
            <a:avLst/>
            <a:gdLst/>
            <a:ahLst/>
            <a:cxnLst/>
            <a:rect l="l" t="t" r="r" b="b"/>
            <a:pathLst>
              <a:path w="6622704" h="3896490">
                <a:moveTo>
                  <a:pt x="0" y="0"/>
                </a:moveTo>
                <a:lnTo>
                  <a:pt x="6622704" y="0"/>
                </a:lnTo>
                <a:lnTo>
                  <a:pt x="6622704" y="3896491"/>
                </a:lnTo>
                <a:lnTo>
                  <a:pt x="0" y="3896491"/>
                </a:lnTo>
                <a:lnTo>
                  <a:pt x="0" y="0"/>
                </a:lnTo>
                <a:close/>
              </a:path>
            </a:pathLst>
          </a:custGeom>
          <a:blipFill>
            <a:blip r:embed="rId3"/>
            <a:stretch>
              <a:fillRect/>
            </a:stretch>
          </a:blipFill>
        </p:spPr>
      </p:sp>
      <p:grpSp>
        <p:nvGrpSpPr>
          <p:cNvPr id="19" name="Group 19"/>
          <p:cNvGrpSpPr/>
          <p:nvPr/>
        </p:nvGrpSpPr>
        <p:grpSpPr>
          <a:xfrm rot="30383">
            <a:off x="-2152906" y="8844247"/>
            <a:ext cx="5062044" cy="3536331"/>
            <a:chOff x="0" y="0"/>
            <a:chExt cx="1333213" cy="931379"/>
          </a:xfrm>
        </p:grpSpPr>
        <p:sp>
          <p:nvSpPr>
            <p:cNvPr id="20" name="Freeform 20"/>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1" name="TextBox 21"/>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22" name="Freeform 22"/>
          <p:cNvSpPr/>
          <p:nvPr/>
        </p:nvSpPr>
        <p:spPr>
          <a:xfrm>
            <a:off x="2870483" y="-2385084"/>
            <a:ext cx="3413784" cy="3413784"/>
          </a:xfrm>
          <a:custGeom>
            <a:avLst/>
            <a:gdLst/>
            <a:ahLst/>
            <a:cxnLst/>
            <a:rect l="l" t="t" r="r" b="b"/>
            <a:pathLst>
              <a:path w="3413784" h="3413784">
                <a:moveTo>
                  <a:pt x="0" y="0"/>
                </a:moveTo>
                <a:lnTo>
                  <a:pt x="3413784" y="0"/>
                </a:lnTo>
                <a:lnTo>
                  <a:pt x="3413784" y="3413784"/>
                </a:lnTo>
                <a:lnTo>
                  <a:pt x="0" y="341378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3" name="Freeform 23"/>
          <p:cNvSpPr/>
          <p:nvPr/>
        </p:nvSpPr>
        <p:spPr>
          <a:xfrm>
            <a:off x="12364795" y="8999528"/>
            <a:ext cx="3609139" cy="3609139"/>
          </a:xfrm>
          <a:custGeom>
            <a:avLst/>
            <a:gdLst/>
            <a:ahLst/>
            <a:cxnLst/>
            <a:rect l="l" t="t" r="r" b="b"/>
            <a:pathLst>
              <a:path w="3609139" h="3609139">
                <a:moveTo>
                  <a:pt x="0" y="0"/>
                </a:moveTo>
                <a:lnTo>
                  <a:pt x="3609139" y="0"/>
                </a:lnTo>
                <a:lnTo>
                  <a:pt x="3609139" y="3609139"/>
                </a:lnTo>
                <a:lnTo>
                  <a:pt x="0" y="360913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4" name="Freeform 24"/>
          <p:cNvSpPr/>
          <p:nvPr/>
        </p:nvSpPr>
        <p:spPr>
          <a:xfrm>
            <a:off x="16178915" y="689158"/>
            <a:ext cx="2109085" cy="1767797"/>
          </a:xfrm>
          <a:custGeom>
            <a:avLst/>
            <a:gdLst/>
            <a:ahLst/>
            <a:cxnLst/>
            <a:rect l="l" t="t" r="r" b="b"/>
            <a:pathLst>
              <a:path w="2109085" h="1767797">
                <a:moveTo>
                  <a:pt x="0" y="0"/>
                </a:moveTo>
                <a:lnTo>
                  <a:pt x="2109085" y="0"/>
                </a:lnTo>
                <a:lnTo>
                  <a:pt x="2109085" y="1767797"/>
                </a:lnTo>
                <a:lnTo>
                  <a:pt x="0" y="176779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5" name="Freeform 25"/>
          <p:cNvSpPr/>
          <p:nvPr/>
        </p:nvSpPr>
        <p:spPr>
          <a:xfrm>
            <a:off x="-1574722" y="5227708"/>
            <a:ext cx="3149444" cy="2027096"/>
          </a:xfrm>
          <a:custGeom>
            <a:avLst/>
            <a:gdLst/>
            <a:ahLst/>
            <a:cxnLst/>
            <a:rect l="l" t="t" r="r" b="b"/>
            <a:pathLst>
              <a:path w="3149444" h="2027096">
                <a:moveTo>
                  <a:pt x="0" y="0"/>
                </a:moveTo>
                <a:lnTo>
                  <a:pt x="3149444" y="0"/>
                </a:lnTo>
                <a:lnTo>
                  <a:pt x="3149444" y="2027096"/>
                </a:lnTo>
                <a:lnTo>
                  <a:pt x="0" y="202709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6" name="TextBox 26"/>
          <p:cNvSpPr txBox="1"/>
          <p:nvPr/>
        </p:nvSpPr>
        <p:spPr>
          <a:xfrm>
            <a:off x="4035676" y="3563668"/>
            <a:ext cx="10034165" cy="3020490"/>
          </a:xfrm>
          <a:prstGeom prst="rect">
            <a:avLst/>
          </a:prstGeom>
        </p:spPr>
        <p:txBody>
          <a:bodyPr lIns="0" tIns="0" rIns="0" bIns="0" rtlCol="0" anchor="t">
            <a:spAutoFit/>
          </a:bodyPr>
          <a:lstStyle/>
          <a:p>
            <a:pPr algn="l">
              <a:lnSpc>
                <a:spcPts val="3072"/>
              </a:lnSpc>
            </a:pPr>
            <a:r>
              <a:rPr lang="en-US" sz="2276" spc="136">
                <a:solidFill>
                  <a:srgbClr val="F8F3ED"/>
                </a:solidFill>
                <a:latin typeface="Open Sans"/>
                <a:ea typeface="Open Sans"/>
                <a:cs typeface="Open Sans"/>
                <a:sym typeface="Open Sans"/>
              </a:rPr>
              <a:t>Background:</a:t>
            </a:r>
          </a:p>
          <a:p>
            <a:pPr algn="l">
              <a:lnSpc>
                <a:spcPts val="3072"/>
              </a:lnSpc>
            </a:pPr>
            <a:r>
              <a:rPr lang="en-US" sz="2276" spc="136">
                <a:solidFill>
                  <a:srgbClr val="F8F3ED"/>
                </a:solidFill>
                <a:latin typeface="Open Sans"/>
                <a:ea typeface="Open Sans"/>
                <a:cs typeface="Open Sans"/>
                <a:sym typeface="Open Sans"/>
              </a:rPr>
              <a:t>Increasing traffic density leads to congestion, delays, fuel wastage, and pollution.</a:t>
            </a:r>
          </a:p>
          <a:p>
            <a:pPr algn="l">
              <a:lnSpc>
                <a:spcPts val="3072"/>
              </a:lnSpc>
            </a:pPr>
            <a:r>
              <a:rPr lang="en-US" sz="2276" spc="136">
                <a:solidFill>
                  <a:srgbClr val="F8F3ED"/>
                </a:solidFill>
                <a:latin typeface="Open Sans"/>
                <a:ea typeface="Open Sans"/>
                <a:cs typeface="Open Sans"/>
                <a:sym typeface="Open Sans"/>
              </a:rPr>
              <a:t>Problem Definition:</a:t>
            </a:r>
          </a:p>
          <a:p>
            <a:pPr algn="l">
              <a:lnSpc>
                <a:spcPts val="3072"/>
              </a:lnSpc>
            </a:pPr>
            <a:r>
              <a:rPr lang="en-US" sz="2276" spc="136">
                <a:solidFill>
                  <a:srgbClr val="F8F3ED"/>
                </a:solidFill>
                <a:latin typeface="Open Sans"/>
                <a:ea typeface="Open Sans"/>
                <a:cs typeface="Open Sans"/>
                <a:sym typeface="Open Sans"/>
              </a:rPr>
              <a:t>Traditional traffic signals operate with fixed timings, which do not respond to real-time traffic variations, resulting in inefficient traffic management.</a:t>
            </a:r>
          </a:p>
          <a:p>
            <a:pPr algn="l">
              <a:lnSpc>
                <a:spcPts val="3072"/>
              </a:lnSpc>
            </a:pPr>
            <a:endParaRPr lang="en-US" sz="2276" spc="136">
              <a:solidFill>
                <a:srgbClr val="F8F3ED"/>
              </a:solidFill>
              <a:latin typeface="Open Sans"/>
              <a:ea typeface="Open Sans"/>
              <a:cs typeface="Open Sans"/>
              <a:sym typeface="Open Sans"/>
            </a:endParaRPr>
          </a:p>
        </p:txBody>
      </p:sp>
      <p:sp>
        <p:nvSpPr>
          <p:cNvPr id="27" name="Freeform 27"/>
          <p:cNvSpPr/>
          <p:nvPr/>
        </p:nvSpPr>
        <p:spPr>
          <a:xfrm>
            <a:off x="42718" y="9223399"/>
            <a:ext cx="1971964" cy="2368079"/>
          </a:xfrm>
          <a:custGeom>
            <a:avLst/>
            <a:gdLst/>
            <a:ahLst/>
            <a:cxnLst/>
            <a:rect l="l" t="t" r="r" b="b"/>
            <a:pathLst>
              <a:path w="1971964" h="2368079">
                <a:moveTo>
                  <a:pt x="0" y="0"/>
                </a:moveTo>
                <a:lnTo>
                  <a:pt x="1971964" y="0"/>
                </a:lnTo>
                <a:lnTo>
                  <a:pt x="1971964" y="2368079"/>
                </a:lnTo>
                <a:lnTo>
                  <a:pt x="0" y="2368079"/>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8" name="TextBox 28"/>
          <p:cNvSpPr txBox="1"/>
          <p:nvPr/>
        </p:nvSpPr>
        <p:spPr>
          <a:xfrm>
            <a:off x="4386531" y="1825659"/>
            <a:ext cx="9514937" cy="1395941"/>
          </a:xfrm>
          <a:prstGeom prst="rect">
            <a:avLst/>
          </a:prstGeom>
        </p:spPr>
        <p:txBody>
          <a:bodyPr lIns="0" tIns="0" rIns="0" bIns="0" rtlCol="0" anchor="t">
            <a:spAutoFit/>
          </a:bodyPr>
          <a:lstStyle/>
          <a:p>
            <a:pPr algn="ctr">
              <a:lnSpc>
                <a:spcPts val="9999"/>
              </a:lnSpc>
            </a:pPr>
            <a:r>
              <a:rPr lang="en-US" sz="9999" b="1" spc="199">
                <a:solidFill>
                  <a:srgbClr val="F8F3ED"/>
                </a:solidFill>
                <a:latin typeface="Sugo Classic Bold"/>
                <a:ea typeface="Sugo Classic Bold"/>
                <a:cs typeface="Sugo Classic Bold"/>
                <a:sym typeface="Sugo Classic Bold"/>
              </a:rPr>
              <a:t>PROBLEM STATEMENT</a:t>
            </a:r>
          </a:p>
        </p:txBody>
      </p:sp>
      <p:sp>
        <p:nvSpPr>
          <p:cNvPr id="29" name="Freeform 29"/>
          <p:cNvSpPr/>
          <p:nvPr/>
        </p:nvSpPr>
        <p:spPr>
          <a:xfrm rot="-10761537">
            <a:off x="15233935" y="3727511"/>
            <a:ext cx="6622704" cy="3896490"/>
          </a:xfrm>
          <a:custGeom>
            <a:avLst/>
            <a:gdLst/>
            <a:ahLst/>
            <a:cxnLst/>
            <a:rect l="l" t="t" r="r" b="b"/>
            <a:pathLst>
              <a:path w="6622704" h="3896490">
                <a:moveTo>
                  <a:pt x="0" y="0"/>
                </a:moveTo>
                <a:lnTo>
                  <a:pt x="6622703" y="0"/>
                </a:lnTo>
                <a:lnTo>
                  <a:pt x="6622703" y="3896490"/>
                </a:lnTo>
                <a:lnTo>
                  <a:pt x="0" y="3896490"/>
                </a:lnTo>
                <a:lnTo>
                  <a:pt x="0" y="0"/>
                </a:lnTo>
                <a:close/>
              </a:path>
            </a:pathLst>
          </a:custGeom>
          <a:blipFill>
            <a:blip r:embed="rId3"/>
            <a:stretch>
              <a:fillRect/>
            </a:stretch>
          </a:blipFill>
        </p:spPr>
      </p:sp>
      <p:grpSp>
        <p:nvGrpSpPr>
          <p:cNvPr id="30" name="Group 30"/>
          <p:cNvGrpSpPr/>
          <p:nvPr/>
        </p:nvGrpSpPr>
        <p:grpSpPr>
          <a:xfrm rot="-10742485">
            <a:off x="15467369" y="3970568"/>
            <a:ext cx="5062044" cy="3536331"/>
            <a:chOff x="0" y="0"/>
            <a:chExt cx="1333213" cy="931379"/>
          </a:xfrm>
        </p:grpSpPr>
        <p:sp>
          <p:nvSpPr>
            <p:cNvPr id="31" name="Freeform 31"/>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32" name="TextBox 32"/>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33" name="Freeform 33"/>
          <p:cNvSpPr/>
          <p:nvPr/>
        </p:nvSpPr>
        <p:spPr>
          <a:xfrm>
            <a:off x="16268949" y="4619257"/>
            <a:ext cx="2276337" cy="2314206"/>
          </a:xfrm>
          <a:custGeom>
            <a:avLst/>
            <a:gdLst/>
            <a:ahLst/>
            <a:cxnLst/>
            <a:rect l="l" t="t" r="r" b="b"/>
            <a:pathLst>
              <a:path w="2276337" h="2314206">
                <a:moveTo>
                  <a:pt x="0" y="0"/>
                </a:moveTo>
                <a:lnTo>
                  <a:pt x="2276337" y="0"/>
                </a:lnTo>
                <a:lnTo>
                  <a:pt x="2276337" y="2314206"/>
                </a:lnTo>
                <a:lnTo>
                  <a:pt x="0" y="2314206"/>
                </a:lnTo>
                <a:lnTo>
                  <a:pt x="0" y="0"/>
                </a:lnTo>
                <a:close/>
              </a:path>
            </a:pathLst>
          </a:custGeom>
          <a:blipFill>
            <a:blip>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grpSp>
        <p:nvGrpSpPr>
          <p:cNvPr id="2" name="Group 2"/>
          <p:cNvGrpSpPr/>
          <p:nvPr/>
        </p:nvGrpSpPr>
        <p:grpSpPr>
          <a:xfrm rot="227353">
            <a:off x="-842297" y="-9163825"/>
            <a:ext cx="20621450" cy="10320250"/>
            <a:chOff x="0" y="0"/>
            <a:chExt cx="27495267" cy="13760333"/>
          </a:xfrm>
        </p:grpSpPr>
        <p:sp>
          <p:nvSpPr>
            <p:cNvPr id="3" name="Freeform 3"/>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rot="216792">
            <a:off x="-883649" y="9273391"/>
            <a:ext cx="20621450" cy="10320250"/>
            <a:chOff x="0" y="0"/>
            <a:chExt cx="27495267" cy="13760333"/>
          </a:xfrm>
        </p:grpSpPr>
        <p:sp>
          <p:nvSpPr>
            <p:cNvPr id="6" name="Freeform 6"/>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8" name="Freeform 8"/>
          <p:cNvSpPr/>
          <p:nvPr/>
        </p:nvSpPr>
        <p:spPr>
          <a:xfrm rot="-596799">
            <a:off x="-2596120" y="866976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9" name="Group 9"/>
          <p:cNvGrpSpPr/>
          <p:nvPr/>
        </p:nvGrpSpPr>
        <p:grpSpPr>
          <a:xfrm rot="-577747">
            <a:off x="-1286473" y="8720319"/>
            <a:ext cx="5062044" cy="3536331"/>
            <a:chOff x="0" y="0"/>
            <a:chExt cx="1333213" cy="931379"/>
          </a:xfrm>
        </p:grpSpPr>
        <p:sp>
          <p:nvSpPr>
            <p:cNvPr id="10" name="Freeform 10"/>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1" name="TextBox 11"/>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77747">
            <a:off x="-472602" y="8931281"/>
            <a:ext cx="945204" cy="3536331"/>
            <a:chOff x="0" y="0"/>
            <a:chExt cx="248943" cy="931379"/>
          </a:xfrm>
        </p:grpSpPr>
        <p:sp>
          <p:nvSpPr>
            <p:cNvPr id="13" name="Freeform 13"/>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14" name="TextBox 14"/>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rot="-5400000">
            <a:off x="6435161" y="1408996"/>
            <a:ext cx="5417678" cy="9158456"/>
          </a:xfrm>
          <a:custGeom>
            <a:avLst/>
            <a:gdLst/>
            <a:ahLst/>
            <a:cxnLst/>
            <a:rect l="l" t="t" r="r" b="b"/>
            <a:pathLst>
              <a:path w="5417678" h="9158456">
                <a:moveTo>
                  <a:pt x="0" y="0"/>
                </a:moveTo>
                <a:lnTo>
                  <a:pt x="5417678" y="0"/>
                </a:lnTo>
                <a:lnTo>
                  <a:pt x="5417678" y="9158456"/>
                </a:lnTo>
                <a:lnTo>
                  <a:pt x="0" y="9158456"/>
                </a:lnTo>
                <a:lnTo>
                  <a:pt x="0" y="0"/>
                </a:lnTo>
                <a:close/>
              </a:path>
            </a:pathLst>
          </a:custGeom>
          <a:blipFill>
            <a:blip r:embed="rId4"/>
            <a:stretch>
              <a:fillRect/>
            </a:stretch>
          </a:blipFill>
        </p:spPr>
      </p:sp>
      <p:grpSp>
        <p:nvGrpSpPr>
          <p:cNvPr id="16" name="Group 16"/>
          <p:cNvGrpSpPr/>
          <p:nvPr/>
        </p:nvGrpSpPr>
        <p:grpSpPr>
          <a:xfrm>
            <a:off x="4735651" y="3509628"/>
            <a:ext cx="8717980" cy="4895632"/>
            <a:chOff x="0" y="0"/>
            <a:chExt cx="2296093" cy="1289384"/>
          </a:xfrm>
        </p:grpSpPr>
        <p:sp>
          <p:nvSpPr>
            <p:cNvPr id="17" name="Freeform 17"/>
            <p:cNvSpPr/>
            <p:nvPr/>
          </p:nvSpPr>
          <p:spPr>
            <a:xfrm>
              <a:off x="0" y="0"/>
              <a:ext cx="2296093" cy="1289384"/>
            </a:xfrm>
            <a:custGeom>
              <a:avLst/>
              <a:gdLst/>
              <a:ahLst/>
              <a:cxnLst/>
              <a:rect l="l" t="t" r="r" b="b"/>
              <a:pathLst>
                <a:path w="2296093" h="1289384">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id="18" name="TextBox 18"/>
            <p:cNvSpPr txBox="1"/>
            <p:nvPr/>
          </p:nvSpPr>
          <p:spPr>
            <a:xfrm>
              <a:off x="0" y="-38100"/>
              <a:ext cx="2296093" cy="1327484"/>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2064628" y="182654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0" name="Freeform 20"/>
          <p:cNvSpPr/>
          <p:nvPr/>
        </p:nvSpPr>
        <p:spPr>
          <a:xfrm>
            <a:off x="16230600" y="42904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Freeform 21"/>
          <p:cNvSpPr/>
          <p:nvPr/>
        </p:nvSpPr>
        <p:spPr>
          <a:xfrm rot="-571633">
            <a:off x="677126" y="8895708"/>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2" name="Freeform 22"/>
          <p:cNvSpPr/>
          <p:nvPr/>
        </p:nvSpPr>
        <p:spPr>
          <a:xfrm rot="-596799" flipH="1">
            <a:off x="14451146" y="-139853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23" name="Group 23"/>
          <p:cNvGrpSpPr/>
          <p:nvPr/>
        </p:nvGrpSpPr>
        <p:grpSpPr>
          <a:xfrm rot="-577747">
            <a:off x="15023718" y="2393479"/>
            <a:ext cx="5062044" cy="603669"/>
            <a:chOff x="0" y="0"/>
            <a:chExt cx="1333213" cy="158991"/>
          </a:xfrm>
        </p:grpSpPr>
        <p:sp>
          <p:nvSpPr>
            <p:cNvPr id="24" name="Freeform 24"/>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25" name="TextBox 25"/>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rot="-577747">
            <a:off x="14688055" y="-1026276"/>
            <a:ext cx="5062044" cy="3536331"/>
            <a:chOff x="0" y="0"/>
            <a:chExt cx="1333213" cy="931379"/>
          </a:xfrm>
        </p:grpSpPr>
        <p:sp>
          <p:nvSpPr>
            <p:cNvPr id="27" name="Freeform 27"/>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8" name="TextBox 28"/>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29" name="Freeform 29"/>
          <p:cNvSpPr/>
          <p:nvPr/>
        </p:nvSpPr>
        <p:spPr>
          <a:xfrm rot="-603642">
            <a:off x="15570084" y="161694"/>
            <a:ext cx="2044933" cy="2201004"/>
          </a:xfrm>
          <a:custGeom>
            <a:avLst/>
            <a:gdLst/>
            <a:ahLst/>
            <a:cxnLst/>
            <a:rect l="l" t="t" r="r" b="b"/>
            <a:pathLst>
              <a:path w="2044933" h="2201004">
                <a:moveTo>
                  <a:pt x="0" y="0"/>
                </a:moveTo>
                <a:lnTo>
                  <a:pt x="2044932" y="0"/>
                </a:lnTo>
                <a:lnTo>
                  <a:pt x="2044932" y="2201004"/>
                </a:lnTo>
                <a:lnTo>
                  <a:pt x="0" y="220100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0" name="TextBox 30"/>
          <p:cNvSpPr txBox="1"/>
          <p:nvPr/>
        </p:nvSpPr>
        <p:spPr>
          <a:xfrm>
            <a:off x="4915070" y="1750583"/>
            <a:ext cx="8457861" cy="1395941"/>
          </a:xfrm>
          <a:prstGeom prst="rect">
            <a:avLst/>
          </a:prstGeom>
        </p:spPr>
        <p:txBody>
          <a:bodyPr lIns="0" tIns="0" rIns="0" bIns="0" rtlCol="0" anchor="t">
            <a:spAutoFit/>
          </a:bodyPr>
          <a:lstStyle/>
          <a:p>
            <a:pPr algn="ctr">
              <a:lnSpc>
                <a:spcPts val="9999"/>
              </a:lnSpc>
            </a:pPr>
            <a:r>
              <a:rPr lang="en-US" sz="9999" b="1" spc="199">
                <a:solidFill>
                  <a:srgbClr val="F8F3ED"/>
                </a:solidFill>
                <a:latin typeface="Sugo Classic Bold"/>
                <a:ea typeface="Sugo Classic Bold"/>
                <a:cs typeface="Sugo Classic Bold"/>
                <a:sym typeface="Sugo Classic Bold"/>
              </a:rPr>
              <a:t>OBJECTIVES</a:t>
            </a:r>
          </a:p>
        </p:txBody>
      </p:sp>
      <p:sp>
        <p:nvSpPr>
          <p:cNvPr id="31" name="TextBox 31"/>
          <p:cNvSpPr txBox="1"/>
          <p:nvPr/>
        </p:nvSpPr>
        <p:spPr>
          <a:xfrm>
            <a:off x="4915070" y="3855366"/>
            <a:ext cx="8457861" cy="3343634"/>
          </a:xfrm>
          <a:prstGeom prst="rect">
            <a:avLst/>
          </a:prstGeom>
        </p:spPr>
        <p:txBody>
          <a:bodyPr lIns="0" tIns="0" rIns="0" bIns="0" rtlCol="0" anchor="t">
            <a:spAutoFit/>
          </a:bodyPr>
          <a:lstStyle/>
          <a:p>
            <a:pPr marL="529165" lvl="1" indent="-264583" algn="l">
              <a:lnSpc>
                <a:spcPts val="3308"/>
              </a:lnSpc>
              <a:buFont typeface="Arial"/>
              <a:buChar char="•"/>
            </a:pPr>
            <a:r>
              <a:rPr lang="en-US" sz="2450" spc="147">
                <a:solidFill>
                  <a:srgbClr val="74A8B3"/>
                </a:solidFill>
                <a:latin typeface="Open Sans"/>
                <a:ea typeface="Open Sans"/>
                <a:cs typeface="Open Sans"/>
                <a:sym typeface="Open Sans"/>
              </a:rPr>
              <a:t>To design an intelligent traffic signal using fuzzy logic</a:t>
            </a:r>
          </a:p>
          <a:p>
            <a:pPr marL="529165" lvl="1" indent="-264583" algn="l">
              <a:lnSpc>
                <a:spcPts val="3308"/>
              </a:lnSpc>
              <a:buFont typeface="Arial"/>
              <a:buChar char="•"/>
            </a:pPr>
            <a:r>
              <a:rPr lang="en-US" sz="2450" spc="147">
                <a:solidFill>
                  <a:srgbClr val="74A8B3"/>
                </a:solidFill>
                <a:latin typeface="Open Sans"/>
                <a:ea typeface="Open Sans"/>
                <a:cs typeface="Open Sans"/>
                <a:sym typeface="Open Sans"/>
              </a:rPr>
              <a:t>To reduce traffic congestion and waiting time</a:t>
            </a:r>
          </a:p>
          <a:p>
            <a:pPr marL="529165" lvl="1" indent="-264583" algn="l">
              <a:lnSpc>
                <a:spcPts val="3308"/>
              </a:lnSpc>
              <a:buFont typeface="Arial"/>
              <a:buChar char="•"/>
            </a:pPr>
            <a:r>
              <a:rPr lang="en-US" sz="2450" spc="147">
                <a:solidFill>
                  <a:srgbClr val="74A8B3"/>
                </a:solidFill>
                <a:latin typeface="Open Sans"/>
                <a:ea typeface="Open Sans"/>
                <a:cs typeface="Open Sans"/>
                <a:sym typeface="Open Sans"/>
              </a:rPr>
              <a:t>To optimize green signal duration</a:t>
            </a:r>
          </a:p>
          <a:p>
            <a:pPr marL="529165" lvl="1" indent="-264583" algn="l">
              <a:lnSpc>
                <a:spcPts val="3308"/>
              </a:lnSpc>
              <a:buFont typeface="Arial"/>
              <a:buChar char="•"/>
            </a:pPr>
            <a:r>
              <a:rPr lang="en-US" sz="2450" spc="147">
                <a:solidFill>
                  <a:srgbClr val="74A8B3"/>
                </a:solidFill>
                <a:latin typeface="Open Sans"/>
                <a:ea typeface="Open Sans"/>
                <a:cs typeface="Open Sans"/>
                <a:sym typeface="Open Sans"/>
              </a:rPr>
              <a:t>To improve traffic flow efficiency</a:t>
            </a:r>
          </a:p>
          <a:p>
            <a:pPr marL="529165" lvl="1" indent="-264583" algn="l">
              <a:lnSpc>
                <a:spcPts val="3308"/>
              </a:lnSpc>
              <a:buFont typeface="Arial"/>
              <a:buChar char="•"/>
            </a:pPr>
            <a:r>
              <a:rPr lang="en-US" sz="2450" spc="147">
                <a:solidFill>
                  <a:srgbClr val="74A8B3"/>
                </a:solidFill>
                <a:latin typeface="Open Sans"/>
                <a:ea typeface="Open Sans"/>
                <a:cs typeface="Open Sans"/>
                <a:sym typeface="Open Sans"/>
              </a:rPr>
              <a:t>To demonstrate real-world application of soft computing</a:t>
            </a:r>
          </a:p>
          <a:p>
            <a:pPr algn="l">
              <a:lnSpc>
                <a:spcPts val="3308"/>
              </a:lnSpc>
            </a:pPr>
            <a:endParaRPr lang="en-US" sz="2450" spc="147">
              <a:solidFill>
                <a:srgbClr val="74A8B3"/>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rot="-285484">
            <a:off x="-8434371" y="-806086"/>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96799">
            <a:off x="-2596120" y="866976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4" name="Group 4"/>
          <p:cNvGrpSpPr/>
          <p:nvPr/>
        </p:nvGrpSpPr>
        <p:grpSpPr>
          <a:xfrm rot="-577747">
            <a:off x="-1286473" y="8720319"/>
            <a:ext cx="5062044" cy="3536331"/>
            <a:chOff x="0" y="0"/>
            <a:chExt cx="1333213" cy="931379"/>
          </a:xfrm>
        </p:grpSpPr>
        <p:sp>
          <p:nvSpPr>
            <p:cNvPr id="5" name="Freeform 5"/>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6" name="TextBox 6"/>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rot="-577747">
            <a:off x="-472602" y="8931281"/>
            <a:ext cx="945204" cy="3536331"/>
            <a:chOff x="0" y="0"/>
            <a:chExt cx="248943" cy="931379"/>
          </a:xfrm>
        </p:grpSpPr>
        <p:sp>
          <p:nvSpPr>
            <p:cNvPr id="8" name="Freeform 8"/>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9" name="TextBox 9"/>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rot="-549723">
            <a:off x="15932759" y="-167398"/>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1480104" y="3662136"/>
            <a:ext cx="7441431" cy="4401973"/>
            <a:chOff x="0" y="0"/>
            <a:chExt cx="9921908" cy="5869298"/>
          </a:xfrm>
        </p:grpSpPr>
        <p:sp>
          <p:nvSpPr>
            <p:cNvPr id="12" name="Freeform 12"/>
            <p:cNvSpPr/>
            <p:nvPr/>
          </p:nvSpPr>
          <p:spPr>
            <a:xfrm rot="-5400000">
              <a:off x="2026305" y="-2026305"/>
              <a:ext cx="5869298" cy="9921908"/>
            </a:xfrm>
            <a:custGeom>
              <a:avLst/>
              <a:gdLst/>
              <a:ahLst/>
              <a:cxnLst/>
              <a:rect l="l" t="t" r="r" b="b"/>
              <a:pathLst>
                <a:path w="5869298" h="9921908">
                  <a:moveTo>
                    <a:pt x="0" y="0"/>
                  </a:moveTo>
                  <a:lnTo>
                    <a:pt x="5869298" y="0"/>
                  </a:lnTo>
                  <a:lnTo>
                    <a:pt x="5869298" y="9921908"/>
                  </a:lnTo>
                  <a:lnTo>
                    <a:pt x="0" y="9921908"/>
                  </a:lnTo>
                  <a:lnTo>
                    <a:pt x="0" y="0"/>
                  </a:lnTo>
                  <a:close/>
                </a:path>
              </a:pathLst>
            </a:custGeom>
            <a:blipFill>
              <a:blip r:embed="rId4"/>
              <a:stretch>
                <a:fillRect/>
              </a:stretch>
            </a:blipFill>
          </p:spPr>
        </p:sp>
        <p:grpSp>
          <p:nvGrpSpPr>
            <p:cNvPr id="13" name="Group 13"/>
            <p:cNvGrpSpPr/>
            <p:nvPr/>
          </p:nvGrpSpPr>
          <p:grpSpPr>
            <a:xfrm>
              <a:off x="185123" y="249436"/>
              <a:ext cx="9444713" cy="5303733"/>
              <a:chOff x="0" y="0"/>
              <a:chExt cx="2296093" cy="1289384"/>
            </a:xfrm>
          </p:grpSpPr>
          <p:sp>
            <p:nvSpPr>
              <p:cNvPr id="14" name="Freeform 14"/>
              <p:cNvSpPr/>
              <p:nvPr/>
            </p:nvSpPr>
            <p:spPr>
              <a:xfrm>
                <a:off x="0" y="0"/>
                <a:ext cx="2296093" cy="1289384"/>
              </a:xfrm>
              <a:custGeom>
                <a:avLst/>
                <a:gdLst/>
                <a:ahLst/>
                <a:cxnLst/>
                <a:rect l="l" t="t" r="r" b="b"/>
                <a:pathLst>
                  <a:path w="2296093" h="1289384">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id="15" name="TextBox 15"/>
              <p:cNvSpPr txBox="1"/>
              <p:nvPr/>
            </p:nvSpPr>
            <p:spPr>
              <a:xfrm>
                <a:off x="0" y="-38100"/>
                <a:ext cx="2296093" cy="1327484"/>
              </a:xfrm>
              <a:prstGeom prst="rect">
                <a:avLst/>
              </a:prstGeom>
            </p:spPr>
            <p:txBody>
              <a:bodyPr lIns="50800" tIns="50800" rIns="50800" bIns="50800" rtlCol="0" anchor="ctr"/>
              <a:lstStyle/>
              <a:p>
                <a:pPr algn="ctr">
                  <a:lnSpc>
                    <a:spcPts val="2660"/>
                  </a:lnSpc>
                  <a:spcBef>
                    <a:spcPct val="0"/>
                  </a:spcBef>
                </a:pPr>
                <a:endParaRPr/>
              </a:p>
            </p:txBody>
          </p:sp>
        </p:grpSp>
      </p:grpSp>
      <p:sp>
        <p:nvSpPr>
          <p:cNvPr id="16" name="Freeform 16"/>
          <p:cNvSpPr/>
          <p:nvPr/>
        </p:nvSpPr>
        <p:spPr>
          <a:xfrm>
            <a:off x="2255934" y="-302144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a:off x="9858205" y="856060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rot="-596799" flipH="1">
            <a:off x="14451146" y="-139853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19" name="Group 19"/>
          <p:cNvGrpSpPr/>
          <p:nvPr/>
        </p:nvGrpSpPr>
        <p:grpSpPr>
          <a:xfrm rot="-577747">
            <a:off x="15023718" y="2393479"/>
            <a:ext cx="5062044" cy="603669"/>
            <a:chOff x="0" y="0"/>
            <a:chExt cx="1333213" cy="158991"/>
          </a:xfrm>
        </p:grpSpPr>
        <p:sp>
          <p:nvSpPr>
            <p:cNvPr id="20" name="Freeform 20"/>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21" name="TextBox 21"/>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rot="-577747">
            <a:off x="14688055" y="-1026276"/>
            <a:ext cx="5062044" cy="3536331"/>
            <a:chOff x="0" y="0"/>
            <a:chExt cx="1333213" cy="931379"/>
          </a:xfrm>
        </p:grpSpPr>
        <p:sp>
          <p:nvSpPr>
            <p:cNvPr id="23" name="Freeform 23"/>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4" name="TextBox 24"/>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9351144" y="3725098"/>
            <a:ext cx="7441431" cy="4401973"/>
            <a:chOff x="0" y="0"/>
            <a:chExt cx="9921908" cy="5869298"/>
          </a:xfrm>
        </p:grpSpPr>
        <p:sp>
          <p:nvSpPr>
            <p:cNvPr id="26" name="Freeform 26"/>
            <p:cNvSpPr/>
            <p:nvPr/>
          </p:nvSpPr>
          <p:spPr>
            <a:xfrm rot="-5400000">
              <a:off x="2026305" y="-2026305"/>
              <a:ext cx="5869298" cy="9921908"/>
            </a:xfrm>
            <a:custGeom>
              <a:avLst/>
              <a:gdLst/>
              <a:ahLst/>
              <a:cxnLst/>
              <a:rect l="l" t="t" r="r" b="b"/>
              <a:pathLst>
                <a:path w="5869298" h="9921908">
                  <a:moveTo>
                    <a:pt x="0" y="0"/>
                  </a:moveTo>
                  <a:lnTo>
                    <a:pt x="5869298" y="0"/>
                  </a:lnTo>
                  <a:lnTo>
                    <a:pt x="5869298" y="9921908"/>
                  </a:lnTo>
                  <a:lnTo>
                    <a:pt x="0" y="9921908"/>
                  </a:lnTo>
                  <a:lnTo>
                    <a:pt x="0" y="0"/>
                  </a:lnTo>
                  <a:close/>
                </a:path>
              </a:pathLst>
            </a:custGeom>
            <a:blipFill>
              <a:blip r:embed="rId4"/>
              <a:stretch>
                <a:fillRect/>
              </a:stretch>
            </a:blipFill>
          </p:spPr>
        </p:sp>
        <p:grpSp>
          <p:nvGrpSpPr>
            <p:cNvPr id="27" name="Group 27"/>
            <p:cNvGrpSpPr/>
            <p:nvPr/>
          </p:nvGrpSpPr>
          <p:grpSpPr>
            <a:xfrm>
              <a:off x="185123" y="249436"/>
              <a:ext cx="9444713" cy="5303733"/>
              <a:chOff x="0" y="0"/>
              <a:chExt cx="2296093" cy="1289384"/>
            </a:xfrm>
          </p:grpSpPr>
          <p:sp>
            <p:nvSpPr>
              <p:cNvPr id="28" name="Freeform 28"/>
              <p:cNvSpPr/>
              <p:nvPr/>
            </p:nvSpPr>
            <p:spPr>
              <a:xfrm>
                <a:off x="0" y="0"/>
                <a:ext cx="2296093" cy="1289384"/>
              </a:xfrm>
              <a:custGeom>
                <a:avLst/>
                <a:gdLst/>
                <a:ahLst/>
                <a:cxnLst/>
                <a:rect l="l" t="t" r="r" b="b"/>
                <a:pathLst>
                  <a:path w="2296093" h="1289384">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id="29" name="TextBox 29"/>
              <p:cNvSpPr txBox="1"/>
              <p:nvPr/>
            </p:nvSpPr>
            <p:spPr>
              <a:xfrm>
                <a:off x="0" y="-38100"/>
                <a:ext cx="2296093" cy="1327484"/>
              </a:xfrm>
              <a:prstGeom prst="rect">
                <a:avLst/>
              </a:prstGeom>
            </p:spPr>
            <p:txBody>
              <a:bodyPr lIns="50800" tIns="50800" rIns="50800" bIns="50800" rtlCol="0" anchor="ctr"/>
              <a:lstStyle/>
              <a:p>
                <a:pPr algn="ctr">
                  <a:lnSpc>
                    <a:spcPts val="2660"/>
                  </a:lnSpc>
                  <a:spcBef>
                    <a:spcPct val="0"/>
                  </a:spcBef>
                </a:pPr>
                <a:endParaRPr/>
              </a:p>
            </p:txBody>
          </p:sp>
        </p:grpSp>
      </p:grpSp>
      <p:sp>
        <p:nvSpPr>
          <p:cNvPr id="30" name="Freeform 30"/>
          <p:cNvSpPr/>
          <p:nvPr/>
        </p:nvSpPr>
        <p:spPr>
          <a:xfrm rot="-569513">
            <a:off x="15520768" y="174855"/>
            <a:ext cx="2288521" cy="2022220"/>
          </a:xfrm>
          <a:custGeom>
            <a:avLst/>
            <a:gdLst/>
            <a:ahLst/>
            <a:cxnLst/>
            <a:rect l="l" t="t" r="r" b="b"/>
            <a:pathLst>
              <a:path w="2288521" h="2022220">
                <a:moveTo>
                  <a:pt x="0" y="0"/>
                </a:moveTo>
                <a:lnTo>
                  <a:pt x="2288521" y="0"/>
                </a:lnTo>
                <a:lnTo>
                  <a:pt x="2288521" y="2022220"/>
                </a:lnTo>
                <a:lnTo>
                  <a:pt x="0" y="202222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1" name="Freeform 31"/>
          <p:cNvSpPr/>
          <p:nvPr/>
        </p:nvSpPr>
        <p:spPr>
          <a:xfrm rot="-600923">
            <a:off x="1169306" y="9052585"/>
            <a:ext cx="1445641" cy="1743646"/>
          </a:xfrm>
          <a:custGeom>
            <a:avLst/>
            <a:gdLst/>
            <a:ahLst/>
            <a:cxnLst/>
            <a:rect l="l" t="t" r="r" b="b"/>
            <a:pathLst>
              <a:path w="1445641" h="1743646">
                <a:moveTo>
                  <a:pt x="0" y="0"/>
                </a:moveTo>
                <a:lnTo>
                  <a:pt x="1445641" y="0"/>
                </a:lnTo>
                <a:lnTo>
                  <a:pt x="1445641" y="1743646"/>
                </a:lnTo>
                <a:lnTo>
                  <a:pt x="0" y="174364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2" name="TextBox 32"/>
          <p:cNvSpPr txBox="1"/>
          <p:nvPr/>
        </p:nvSpPr>
        <p:spPr>
          <a:xfrm>
            <a:off x="2112088" y="4353410"/>
            <a:ext cx="7031912" cy="2641610"/>
          </a:xfrm>
          <a:prstGeom prst="rect">
            <a:avLst/>
          </a:prstGeom>
        </p:spPr>
        <p:txBody>
          <a:bodyPr lIns="0" tIns="0" rIns="0" bIns="0" rtlCol="0" anchor="t">
            <a:spAutoFit/>
          </a:bodyPr>
          <a:lstStyle/>
          <a:p>
            <a:pPr algn="l">
              <a:lnSpc>
                <a:spcPts val="3073"/>
              </a:lnSpc>
            </a:pPr>
            <a:r>
              <a:rPr lang="en-US" sz="2276" spc="136">
                <a:solidFill>
                  <a:srgbClr val="74A8B3"/>
                </a:solidFill>
                <a:latin typeface="Open Sans"/>
                <a:ea typeface="Open Sans"/>
                <a:cs typeface="Open Sans"/>
                <a:sym typeface="Open Sans"/>
              </a:rPr>
              <a:t>Process Flow:</a:t>
            </a:r>
          </a:p>
          <a:p>
            <a:pPr marL="491524" lvl="1" indent="-245762" algn="l">
              <a:lnSpc>
                <a:spcPts val="3073"/>
              </a:lnSpc>
              <a:buAutoNum type="arabicPeriod"/>
            </a:pPr>
            <a:r>
              <a:rPr lang="en-US" sz="2276" spc="136">
                <a:solidFill>
                  <a:srgbClr val="74A8B3"/>
                </a:solidFill>
                <a:latin typeface="Open Sans"/>
                <a:ea typeface="Open Sans"/>
                <a:cs typeface="Open Sans"/>
                <a:sym typeface="Open Sans"/>
              </a:rPr>
              <a:t>Measure traffic density</a:t>
            </a:r>
          </a:p>
          <a:p>
            <a:pPr marL="491524" lvl="1" indent="-245762" algn="l">
              <a:lnSpc>
                <a:spcPts val="3073"/>
              </a:lnSpc>
              <a:buAutoNum type="arabicPeriod"/>
            </a:pPr>
            <a:r>
              <a:rPr lang="en-US" sz="2276" spc="136">
                <a:solidFill>
                  <a:srgbClr val="74A8B3"/>
                </a:solidFill>
                <a:latin typeface="Open Sans"/>
                <a:ea typeface="Open Sans"/>
                <a:cs typeface="Open Sans"/>
                <a:sym typeface="Open Sans"/>
              </a:rPr>
              <a:t>Convert values to fuzzy inputs</a:t>
            </a:r>
          </a:p>
          <a:p>
            <a:pPr marL="491524" lvl="1" indent="-245762" algn="l">
              <a:lnSpc>
                <a:spcPts val="3073"/>
              </a:lnSpc>
              <a:buAutoNum type="arabicPeriod"/>
            </a:pPr>
            <a:r>
              <a:rPr lang="en-US" sz="2276" spc="136">
                <a:solidFill>
                  <a:srgbClr val="74A8B3"/>
                </a:solidFill>
                <a:latin typeface="Open Sans"/>
                <a:ea typeface="Open Sans"/>
                <a:cs typeface="Open Sans"/>
                <a:sym typeface="Open Sans"/>
              </a:rPr>
              <a:t>Apply IF–THEN rules</a:t>
            </a:r>
          </a:p>
          <a:p>
            <a:pPr marL="491524" lvl="1" indent="-245762" algn="l">
              <a:lnSpc>
                <a:spcPts val="3073"/>
              </a:lnSpc>
              <a:buAutoNum type="arabicPeriod"/>
            </a:pPr>
            <a:r>
              <a:rPr lang="en-US" sz="2276" spc="136">
                <a:solidFill>
                  <a:srgbClr val="74A8B3"/>
                </a:solidFill>
                <a:latin typeface="Open Sans"/>
                <a:ea typeface="Open Sans"/>
                <a:cs typeface="Open Sans"/>
                <a:sym typeface="Open Sans"/>
              </a:rPr>
              <a:t>Generate fuzzy output</a:t>
            </a:r>
          </a:p>
          <a:p>
            <a:pPr marL="491524" lvl="1" indent="-245762" algn="l">
              <a:lnSpc>
                <a:spcPts val="3073"/>
              </a:lnSpc>
              <a:buAutoNum type="arabicPeriod"/>
            </a:pPr>
            <a:r>
              <a:rPr lang="en-US" sz="2276" spc="136">
                <a:solidFill>
                  <a:srgbClr val="74A8B3"/>
                </a:solidFill>
                <a:latin typeface="Open Sans"/>
                <a:ea typeface="Open Sans"/>
                <a:cs typeface="Open Sans"/>
                <a:sym typeface="Open Sans"/>
              </a:rPr>
              <a:t>Convert to exact green time</a:t>
            </a:r>
          </a:p>
          <a:p>
            <a:pPr algn="l">
              <a:lnSpc>
                <a:spcPts val="3073"/>
              </a:lnSpc>
            </a:pPr>
            <a:endParaRPr lang="en-US" sz="2276" spc="136">
              <a:solidFill>
                <a:srgbClr val="74A8B3"/>
              </a:solidFill>
              <a:latin typeface="Open Sans"/>
              <a:ea typeface="Open Sans"/>
              <a:cs typeface="Open Sans"/>
              <a:sym typeface="Open Sans"/>
            </a:endParaRPr>
          </a:p>
        </p:txBody>
      </p:sp>
      <p:sp>
        <p:nvSpPr>
          <p:cNvPr id="33" name="TextBox 33"/>
          <p:cNvSpPr txBox="1"/>
          <p:nvPr/>
        </p:nvSpPr>
        <p:spPr>
          <a:xfrm>
            <a:off x="9618606" y="4094863"/>
            <a:ext cx="7441431" cy="3749040"/>
          </a:xfrm>
          <a:prstGeom prst="rect">
            <a:avLst/>
          </a:prstGeom>
        </p:spPr>
        <p:txBody>
          <a:bodyPr lIns="0" tIns="0" rIns="0" bIns="0" rtlCol="0" anchor="t">
            <a:spAutoFit/>
          </a:bodyPr>
          <a:lstStyle/>
          <a:p>
            <a:pPr algn="l">
              <a:lnSpc>
                <a:spcPts val="3359"/>
              </a:lnSpc>
            </a:pPr>
            <a:r>
              <a:rPr lang="en-US" sz="2399">
                <a:solidFill>
                  <a:srgbClr val="74A8B3"/>
                </a:solidFill>
                <a:latin typeface="Open Sans"/>
                <a:ea typeface="Open Sans"/>
                <a:cs typeface="Open Sans"/>
                <a:sym typeface="Open Sans"/>
              </a:rPr>
              <a:t>Implementation</a:t>
            </a:r>
          </a:p>
          <a:p>
            <a:pPr algn="l">
              <a:lnSpc>
                <a:spcPts val="3359"/>
              </a:lnSpc>
            </a:pPr>
            <a:r>
              <a:rPr lang="en-US" sz="2399">
                <a:solidFill>
                  <a:srgbClr val="74A8B3"/>
                </a:solidFill>
                <a:latin typeface="Open Sans"/>
                <a:ea typeface="Open Sans"/>
                <a:cs typeface="Open Sans"/>
                <a:sym typeface="Open Sans"/>
              </a:rPr>
              <a:t>Algorithms / Models</a:t>
            </a:r>
          </a:p>
          <a:p>
            <a:pPr marL="518157" lvl="1" indent="-259078" algn="l">
              <a:lnSpc>
                <a:spcPts val="3359"/>
              </a:lnSpc>
              <a:buFont typeface="Arial"/>
              <a:buChar char="•"/>
            </a:pPr>
            <a:r>
              <a:rPr lang="en-US" sz="2399">
                <a:solidFill>
                  <a:srgbClr val="74A8B3"/>
                </a:solidFill>
                <a:latin typeface="Open Sans"/>
                <a:ea typeface="Open Sans"/>
                <a:cs typeface="Open Sans"/>
                <a:sym typeface="Open Sans"/>
              </a:rPr>
              <a:t>Mamdani Fuzzy Inference System</a:t>
            </a:r>
          </a:p>
          <a:p>
            <a:pPr marL="518157" lvl="1" indent="-259078" algn="l">
              <a:lnSpc>
                <a:spcPts val="3359"/>
              </a:lnSpc>
              <a:buFont typeface="Arial"/>
              <a:buChar char="•"/>
            </a:pPr>
            <a:r>
              <a:rPr lang="en-US" sz="2399">
                <a:solidFill>
                  <a:srgbClr val="74A8B3"/>
                </a:solidFill>
                <a:latin typeface="Open Sans"/>
                <a:ea typeface="Open Sans"/>
                <a:cs typeface="Open Sans"/>
                <a:sym typeface="Open Sans"/>
              </a:rPr>
              <a:t>Rule-based decision making</a:t>
            </a:r>
          </a:p>
          <a:p>
            <a:pPr algn="l">
              <a:lnSpc>
                <a:spcPts val="3359"/>
              </a:lnSpc>
            </a:pPr>
            <a:r>
              <a:rPr lang="en-US" sz="2399">
                <a:solidFill>
                  <a:srgbClr val="74A8B3"/>
                </a:solidFill>
                <a:latin typeface="Open Sans"/>
                <a:ea typeface="Open Sans"/>
                <a:cs typeface="Open Sans"/>
                <a:sym typeface="Open Sans"/>
              </a:rPr>
              <a:t>Technologies Used</a:t>
            </a:r>
          </a:p>
          <a:p>
            <a:pPr marL="518157" lvl="1" indent="-259078" algn="l">
              <a:lnSpc>
                <a:spcPts val="3359"/>
              </a:lnSpc>
              <a:buFont typeface="Arial"/>
              <a:buChar char="•"/>
            </a:pPr>
            <a:r>
              <a:rPr lang="en-US" sz="2399">
                <a:solidFill>
                  <a:srgbClr val="74A8B3"/>
                </a:solidFill>
                <a:latin typeface="Open Sans"/>
                <a:ea typeface="Open Sans"/>
                <a:cs typeface="Open Sans"/>
                <a:sym typeface="Open Sans"/>
              </a:rPr>
              <a:t>MATLAB / Python</a:t>
            </a:r>
          </a:p>
          <a:p>
            <a:pPr marL="518157" lvl="1" indent="-259078" algn="l">
              <a:lnSpc>
                <a:spcPts val="3359"/>
              </a:lnSpc>
              <a:buFont typeface="Arial"/>
              <a:buChar char="•"/>
            </a:pPr>
            <a:r>
              <a:rPr lang="en-US" sz="2399">
                <a:solidFill>
                  <a:srgbClr val="74A8B3"/>
                </a:solidFill>
                <a:latin typeface="Open Sans"/>
                <a:ea typeface="Open Sans"/>
                <a:cs typeface="Open Sans"/>
                <a:sym typeface="Open Sans"/>
              </a:rPr>
              <a:t>Fuzzy Logic Toolbox</a:t>
            </a:r>
          </a:p>
          <a:p>
            <a:pPr marL="518157" lvl="1" indent="-259078" algn="l">
              <a:lnSpc>
                <a:spcPts val="3359"/>
              </a:lnSpc>
              <a:buFont typeface="Arial"/>
              <a:buChar char="•"/>
            </a:pPr>
            <a:r>
              <a:rPr lang="en-US" sz="2399">
                <a:solidFill>
                  <a:srgbClr val="74A8B3"/>
                </a:solidFill>
                <a:latin typeface="Open Sans"/>
                <a:ea typeface="Open Sans"/>
                <a:cs typeface="Open Sans"/>
                <a:sym typeface="Open Sans"/>
              </a:rPr>
              <a:t>Simulation tools</a:t>
            </a:r>
          </a:p>
          <a:p>
            <a:pPr algn="l">
              <a:lnSpc>
                <a:spcPts val="3359"/>
              </a:lnSpc>
              <a:spcBef>
                <a:spcPct val="0"/>
              </a:spcBef>
            </a:pPr>
            <a:endParaRPr lang="en-US" sz="2399">
              <a:solidFill>
                <a:srgbClr val="74A8B3"/>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8402999" y="-150522"/>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6268949" y="134814"/>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47552" flipH="1">
            <a:off x="15145341" y="-684370"/>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5" name="Group 5"/>
          <p:cNvGrpSpPr/>
          <p:nvPr/>
        </p:nvGrpSpPr>
        <p:grpSpPr>
          <a:xfrm rot="-28500">
            <a:off x="15435094" y="2967601"/>
            <a:ext cx="5062044" cy="603669"/>
            <a:chOff x="0" y="0"/>
            <a:chExt cx="1333213" cy="158991"/>
          </a:xfrm>
        </p:grpSpPr>
        <p:sp>
          <p:nvSpPr>
            <p:cNvPr id="6" name="Freeform 6"/>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7" name="TextBox 7"/>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rot="-28500">
            <a:off x="15414478" y="-480676"/>
            <a:ext cx="5062044" cy="3536331"/>
            <a:chOff x="0" y="0"/>
            <a:chExt cx="1333213" cy="931379"/>
          </a:xfrm>
        </p:grpSpPr>
        <p:sp>
          <p:nvSpPr>
            <p:cNvPr id="9" name="Freeform 9"/>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0" name="TextBox 10"/>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rot="11331">
            <a:off x="-3413250" y="4293011"/>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12" name="Group 12"/>
          <p:cNvGrpSpPr/>
          <p:nvPr/>
        </p:nvGrpSpPr>
        <p:grpSpPr>
          <a:xfrm rot="30383">
            <a:off x="-2086539" y="4405799"/>
            <a:ext cx="5062044" cy="3536331"/>
            <a:chOff x="0" y="0"/>
            <a:chExt cx="1333213" cy="931379"/>
          </a:xfrm>
        </p:grpSpPr>
        <p:sp>
          <p:nvSpPr>
            <p:cNvPr id="13" name="Freeform 13"/>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4" name="TextBox 14"/>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rot="30383">
            <a:off x="2030220" y="4423991"/>
            <a:ext cx="945204" cy="3536331"/>
            <a:chOff x="0" y="0"/>
            <a:chExt cx="248943" cy="931379"/>
          </a:xfrm>
        </p:grpSpPr>
        <p:sp>
          <p:nvSpPr>
            <p:cNvPr id="16" name="Freeform 16"/>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17" name="TextBox 17"/>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rot="11331">
            <a:off x="-3477085" y="8698520"/>
            <a:ext cx="6622704" cy="3896490"/>
          </a:xfrm>
          <a:custGeom>
            <a:avLst/>
            <a:gdLst/>
            <a:ahLst/>
            <a:cxnLst/>
            <a:rect l="l" t="t" r="r" b="b"/>
            <a:pathLst>
              <a:path w="6622704" h="3896490">
                <a:moveTo>
                  <a:pt x="0" y="0"/>
                </a:moveTo>
                <a:lnTo>
                  <a:pt x="6622704" y="0"/>
                </a:lnTo>
                <a:lnTo>
                  <a:pt x="6622704" y="3896491"/>
                </a:lnTo>
                <a:lnTo>
                  <a:pt x="0" y="3896491"/>
                </a:lnTo>
                <a:lnTo>
                  <a:pt x="0" y="0"/>
                </a:lnTo>
                <a:close/>
              </a:path>
            </a:pathLst>
          </a:custGeom>
          <a:blipFill>
            <a:blip r:embed="rId3"/>
            <a:stretch>
              <a:fillRect/>
            </a:stretch>
          </a:blipFill>
        </p:spPr>
      </p:sp>
      <p:grpSp>
        <p:nvGrpSpPr>
          <p:cNvPr id="19" name="Group 19"/>
          <p:cNvGrpSpPr/>
          <p:nvPr/>
        </p:nvGrpSpPr>
        <p:grpSpPr>
          <a:xfrm rot="30383">
            <a:off x="-2152906" y="8844247"/>
            <a:ext cx="5062044" cy="3536331"/>
            <a:chOff x="0" y="0"/>
            <a:chExt cx="1333213" cy="931379"/>
          </a:xfrm>
        </p:grpSpPr>
        <p:sp>
          <p:nvSpPr>
            <p:cNvPr id="20" name="Freeform 20"/>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1" name="TextBox 21"/>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22" name="Freeform 22"/>
          <p:cNvSpPr/>
          <p:nvPr/>
        </p:nvSpPr>
        <p:spPr>
          <a:xfrm>
            <a:off x="2870483" y="-2385084"/>
            <a:ext cx="3413784" cy="3413784"/>
          </a:xfrm>
          <a:custGeom>
            <a:avLst/>
            <a:gdLst/>
            <a:ahLst/>
            <a:cxnLst/>
            <a:rect l="l" t="t" r="r" b="b"/>
            <a:pathLst>
              <a:path w="3413784" h="3413784">
                <a:moveTo>
                  <a:pt x="0" y="0"/>
                </a:moveTo>
                <a:lnTo>
                  <a:pt x="3413784" y="0"/>
                </a:lnTo>
                <a:lnTo>
                  <a:pt x="3413784" y="3413784"/>
                </a:lnTo>
                <a:lnTo>
                  <a:pt x="0" y="341378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3" name="Freeform 23"/>
          <p:cNvSpPr/>
          <p:nvPr/>
        </p:nvSpPr>
        <p:spPr>
          <a:xfrm>
            <a:off x="12364795" y="8999528"/>
            <a:ext cx="3609139" cy="3609139"/>
          </a:xfrm>
          <a:custGeom>
            <a:avLst/>
            <a:gdLst/>
            <a:ahLst/>
            <a:cxnLst/>
            <a:rect l="l" t="t" r="r" b="b"/>
            <a:pathLst>
              <a:path w="3609139" h="3609139">
                <a:moveTo>
                  <a:pt x="0" y="0"/>
                </a:moveTo>
                <a:lnTo>
                  <a:pt x="3609139" y="0"/>
                </a:lnTo>
                <a:lnTo>
                  <a:pt x="3609139" y="3609139"/>
                </a:lnTo>
                <a:lnTo>
                  <a:pt x="0" y="360913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4" name="Freeform 24"/>
          <p:cNvSpPr/>
          <p:nvPr/>
        </p:nvSpPr>
        <p:spPr>
          <a:xfrm>
            <a:off x="16178915" y="689158"/>
            <a:ext cx="2109085" cy="1767797"/>
          </a:xfrm>
          <a:custGeom>
            <a:avLst/>
            <a:gdLst/>
            <a:ahLst/>
            <a:cxnLst/>
            <a:rect l="l" t="t" r="r" b="b"/>
            <a:pathLst>
              <a:path w="2109085" h="1767797">
                <a:moveTo>
                  <a:pt x="0" y="0"/>
                </a:moveTo>
                <a:lnTo>
                  <a:pt x="2109085" y="0"/>
                </a:lnTo>
                <a:lnTo>
                  <a:pt x="2109085" y="1767797"/>
                </a:lnTo>
                <a:lnTo>
                  <a:pt x="0" y="176779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5" name="Freeform 25"/>
          <p:cNvSpPr/>
          <p:nvPr/>
        </p:nvSpPr>
        <p:spPr>
          <a:xfrm>
            <a:off x="-1574722" y="5227708"/>
            <a:ext cx="3149444" cy="2027096"/>
          </a:xfrm>
          <a:custGeom>
            <a:avLst/>
            <a:gdLst/>
            <a:ahLst/>
            <a:cxnLst/>
            <a:rect l="l" t="t" r="r" b="b"/>
            <a:pathLst>
              <a:path w="3149444" h="2027096">
                <a:moveTo>
                  <a:pt x="0" y="0"/>
                </a:moveTo>
                <a:lnTo>
                  <a:pt x="3149444" y="0"/>
                </a:lnTo>
                <a:lnTo>
                  <a:pt x="3149444" y="2027096"/>
                </a:lnTo>
                <a:lnTo>
                  <a:pt x="0" y="202709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6" name="Freeform 26"/>
          <p:cNvSpPr/>
          <p:nvPr/>
        </p:nvSpPr>
        <p:spPr>
          <a:xfrm>
            <a:off x="42718" y="9223399"/>
            <a:ext cx="1971964" cy="2368079"/>
          </a:xfrm>
          <a:custGeom>
            <a:avLst/>
            <a:gdLst/>
            <a:ahLst/>
            <a:cxnLst/>
            <a:rect l="l" t="t" r="r" b="b"/>
            <a:pathLst>
              <a:path w="1971964" h="2368079">
                <a:moveTo>
                  <a:pt x="0" y="0"/>
                </a:moveTo>
                <a:lnTo>
                  <a:pt x="1971964" y="0"/>
                </a:lnTo>
                <a:lnTo>
                  <a:pt x="1971964" y="2368079"/>
                </a:lnTo>
                <a:lnTo>
                  <a:pt x="0" y="2368079"/>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7" name="Freeform 27"/>
          <p:cNvSpPr/>
          <p:nvPr/>
        </p:nvSpPr>
        <p:spPr>
          <a:xfrm rot="-10761537">
            <a:off x="15233935" y="3727511"/>
            <a:ext cx="6622704" cy="3896490"/>
          </a:xfrm>
          <a:custGeom>
            <a:avLst/>
            <a:gdLst/>
            <a:ahLst/>
            <a:cxnLst/>
            <a:rect l="l" t="t" r="r" b="b"/>
            <a:pathLst>
              <a:path w="6622704" h="3896490">
                <a:moveTo>
                  <a:pt x="0" y="0"/>
                </a:moveTo>
                <a:lnTo>
                  <a:pt x="6622703" y="0"/>
                </a:lnTo>
                <a:lnTo>
                  <a:pt x="6622703" y="3896490"/>
                </a:lnTo>
                <a:lnTo>
                  <a:pt x="0" y="3896490"/>
                </a:lnTo>
                <a:lnTo>
                  <a:pt x="0" y="0"/>
                </a:lnTo>
                <a:close/>
              </a:path>
            </a:pathLst>
          </a:custGeom>
          <a:blipFill>
            <a:blip r:embed="rId3"/>
            <a:stretch>
              <a:fillRect/>
            </a:stretch>
          </a:blipFill>
        </p:spPr>
      </p:sp>
      <p:grpSp>
        <p:nvGrpSpPr>
          <p:cNvPr id="28" name="Group 28"/>
          <p:cNvGrpSpPr/>
          <p:nvPr/>
        </p:nvGrpSpPr>
        <p:grpSpPr>
          <a:xfrm rot="-10742485">
            <a:off x="15467369" y="3970568"/>
            <a:ext cx="5062044" cy="3536331"/>
            <a:chOff x="0" y="0"/>
            <a:chExt cx="1333213" cy="931379"/>
          </a:xfrm>
        </p:grpSpPr>
        <p:sp>
          <p:nvSpPr>
            <p:cNvPr id="29" name="Freeform 29"/>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30" name="TextBox 30"/>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31" name="Freeform 31"/>
          <p:cNvSpPr/>
          <p:nvPr/>
        </p:nvSpPr>
        <p:spPr>
          <a:xfrm>
            <a:off x="16268949" y="4619257"/>
            <a:ext cx="2276337" cy="2314206"/>
          </a:xfrm>
          <a:custGeom>
            <a:avLst/>
            <a:gdLst/>
            <a:ahLst/>
            <a:cxnLst/>
            <a:rect l="l" t="t" r="r" b="b"/>
            <a:pathLst>
              <a:path w="2276337" h="2314206">
                <a:moveTo>
                  <a:pt x="0" y="0"/>
                </a:moveTo>
                <a:lnTo>
                  <a:pt x="2276337" y="0"/>
                </a:lnTo>
                <a:lnTo>
                  <a:pt x="2276337" y="2314206"/>
                </a:lnTo>
                <a:lnTo>
                  <a:pt x="0" y="2314206"/>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32" name="Freeform 32"/>
          <p:cNvSpPr/>
          <p:nvPr/>
        </p:nvSpPr>
        <p:spPr>
          <a:xfrm>
            <a:off x="5781469" y="4684891"/>
            <a:ext cx="9430876" cy="5139827"/>
          </a:xfrm>
          <a:custGeom>
            <a:avLst/>
            <a:gdLst/>
            <a:ahLst/>
            <a:cxnLst/>
            <a:rect l="l" t="t" r="r" b="b"/>
            <a:pathLst>
              <a:path w="9430876" h="5139827">
                <a:moveTo>
                  <a:pt x="0" y="0"/>
                </a:moveTo>
                <a:lnTo>
                  <a:pt x="9430876" y="0"/>
                </a:lnTo>
                <a:lnTo>
                  <a:pt x="9430876" y="5139827"/>
                </a:lnTo>
                <a:lnTo>
                  <a:pt x="0" y="5139827"/>
                </a:lnTo>
                <a:lnTo>
                  <a:pt x="0" y="0"/>
                </a:lnTo>
                <a:close/>
              </a:path>
            </a:pathLst>
          </a:custGeom>
          <a:blipFill>
            <a:blip r:embed="rId10"/>
            <a:stretch>
              <a:fillRect/>
            </a:stretch>
          </a:blipFill>
        </p:spPr>
      </p:sp>
      <p:sp>
        <p:nvSpPr>
          <p:cNvPr id="33" name="TextBox 33"/>
          <p:cNvSpPr txBox="1"/>
          <p:nvPr/>
        </p:nvSpPr>
        <p:spPr>
          <a:xfrm>
            <a:off x="3215858" y="3117949"/>
            <a:ext cx="8816699" cy="1657350"/>
          </a:xfrm>
          <a:prstGeom prst="rect">
            <a:avLst/>
          </a:prstGeom>
        </p:spPr>
        <p:txBody>
          <a:bodyPr lIns="0" tIns="0" rIns="0" bIns="0" rtlCol="0" anchor="t">
            <a:spAutoFit/>
          </a:bodyPr>
          <a:lstStyle/>
          <a:p>
            <a:pPr algn="l">
              <a:lnSpc>
                <a:spcPts val="2699"/>
              </a:lnSpc>
            </a:pPr>
            <a:r>
              <a:rPr lang="en-US" sz="1999" spc="119">
                <a:solidFill>
                  <a:srgbClr val="F8F3ED"/>
                </a:solidFill>
                <a:latin typeface="Open Sans"/>
                <a:ea typeface="Open Sans"/>
                <a:cs typeface="Open Sans"/>
                <a:sym typeface="Open Sans"/>
              </a:rPr>
              <a:t>Explain your flow:</a:t>
            </a:r>
          </a:p>
          <a:p>
            <a:pPr marL="431799" lvl="1" indent="-215899" algn="l">
              <a:lnSpc>
                <a:spcPts val="2699"/>
              </a:lnSpc>
              <a:buFont typeface="Arial"/>
              <a:buChar char="•"/>
            </a:pPr>
            <a:r>
              <a:rPr lang="en-US" sz="1999" spc="119">
                <a:solidFill>
                  <a:srgbClr val="F8F3ED"/>
                </a:solidFill>
                <a:latin typeface="Open Sans"/>
                <a:ea typeface="Open Sans"/>
                <a:cs typeface="Open Sans"/>
                <a:sym typeface="Open Sans"/>
              </a:rPr>
              <a:t>Input → Traffic density + waiting time</a:t>
            </a:r>
          </a:p>
          <a:p>
            <a:pPr marL="431799" lvl="1" indent="-215899" algn="l">
              <a:lnSpc>
                <a:spcPts val="2699"/>
              </a:lnSpc>
              <a:buFont typeface="Arial"/>
              <a:buChar char="•"/>
            </a:pPr>
            <a:r>
              <a:rPr lang="en-US" sz="1999" spc="119">
                <a:solidFill>
                  <a:srgbClr val="F8F3ED"/>
                </a:solidFill>
                <a:latin typeface="Open Sans"/>
                <a:ea typeface="Open Sans"/>
                <a:cs typeface="Open Sans"/>
                <a:sym typeface="Open Sans"/>
              </a:rPr>
              <a:t>Processing → Smart algorithm (dynamic timer)</a:t>
            </a:r>
          </a:p>
          <a:p>
            <a:pPr marL="431799" lvl="1" indent="-215899" algn="l">
              <a:lnSpc>
                <a:spcPts val="2699"/>
              </a:lnSpc>
              <a:buFont typeface="Arial"/>
              <a:buChar char="•"/>
            </a:pPr>
            <a:r>
              <a:rPr lang="en-US" sz="1999" spc="119">
                <a:solidFill>
                  <a:srgbClr val="F8F3ED"/>
                </a:solidFill>
                <a:latin typeface="Open Sans"/>
                <a:ea typeface="Open Sans"/>
                <a:cs typeface="Open Sans"/>
                <a:sym typeface="Open Sans"/>
              </a:rPr>
              <a:t>Output → Signal switching + vehicle movement</a:t>
            </a:r>
          </a:p>
          <a:p>
            <a:pPr algn="l">
              <a:lnSpc>
                <a:spcPts val="2699"/>
              </a:lnSpc>
            </a:pPr>
            <a:endParaRPr lang="en-US" sz="1999" spc="119">
              <a:solidFill>
                <a:srgbClr val="F8F3ED"/>
              </a:solidFill>
              <a:latin typeface="Open Sans"/>
              <a:ea typeface="Open Sans"/>
              <a:cs typeface="Open Sans"/>
              <a:sym typeface="Open Sans"/>
            </a:endParaRPr>
          </a:p>
        </p:txBody>
      </p:sp>
      <p:sp>
        <p:nvSpPr>
          <p:cNvPr id="34" name="TextBox 34"/>
          <p:cNvSpPr txBox="1"/>
          <p:nvPr/>
        </p:nvSpPr>
        <p:spPr>
          <a:xfrm>
            <a:off x="2014682" y="1264808"/>
            <a:ext cx="6441589" cy="1395941"/>
          </a:xfrm>
          <a:prstGeom prst="rect">
            <a:avLst/>
          </a:prstGeom>
        </p:spPr>
        <p:txBody>
          <a:bodyPr lIns="0" tIns="0" rIns="0" bIns="0" rtlCol="0" anchor="t">
            <a:spAutoFit/>
          </a:bodyPr>
          <a:lstStyle/>
          <a:p>
            <a:pPr algn="ctr">
              <a:lnSpc>
                <a:spcPts val="9999"/>
              </a:lnSpc>
            </a:pPr>
            <a:r>
              <a:rPr lang="en-US" sz="9999" b="1" spc="199">
                <a:solidFill>
                  <a:srgbClr val="F8F3ED"/>
                </a:solidFill>
                <a:latin typeface="Sugo Classic Bold"/>
                <a:ea typeface="Sugo Classic Bold"/>
                <a:cs typeface="Sugo Classic Bold"/>
                <a:sym typeface="Sugo Classic Bold"/>
              </a:rPr>
              <a:t>FLOWCHART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1708033" y="1029544"/>
            <a:ext cx="3413784" cy="3413784"/>
          </a:xfrm>
          <a:custGeom>
            <a:avLst/>
            <a:gdLst/>
            <a:ahLst/>
            <a:cxnLst/>
            <a:rect l="l" t="t" r="r" b="b"/>
            <a:pathLst>
              <a:path w="3413784" h="3413784">
                <a:moveTo>
                  <a:pt x="0" y="0"/>
                </a:moveTo>
                <a:lnTo>
                  <a:pt x="3413784" y="0"/>
                </a:lnTo>
                <a:lnTo>
                  <a:pt x="3413784" y="3413784"/>
                </a:lnTo>
                <a:lnTo>
                  <a:pt x="0" y="341378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423892" y="4416523"/>
            <a:ext cx="3609139" cy="3609139"/>
          </a:xfrm>
          <a:custGeom>
            <a:avLst/>
            <a:gdLst/>
            <a:ahLst/>
            <a:cxnLst/>
            <a:rect l="l" t="t" r="r" b="b"/>
            <a:pathLst>
              <a:path w="3609139" h="3609139">
                <a:moveTo>
                  <a:pt x="0" y="0"/>
                </a:moveTo>
                <a:lnTo>
                  <a:pt x="3609139" y="0"/>
                </a:lnTo>
                <a:lnTo>
                  <a:pt x="3609139" y="3609139"/>
                </a:lnTo>
                <a:lnTo>
                  <a:pt x="0" y="360913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5821362" y="5009964"/>
            <a:ext cx="1368889" cy="1368889"/>
            <a:chOff x="0" y="0"/>
            <a:chExt cx="812800" cy="812800"/>
          </a:xfrm>
        </p:grpSpPr>
        <p:sp>
          <p:nvSpPr>
            <p:cNvPr id="5" name="Freeform 5"/>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6CEAD"/>
            </a:solidFill>
            <a:ln w="38100" cap="sq">
              <a:solidFill>
                <a:srgbClr val="F8F3ED"/>
              </a:solidFill>
              <a:prstDash val="solid"/>
              <a:miter/>
            </a:ln>
          </p:spPr>
        </p:sp>
        <p:sp>
          <p:nvSpPr>
            <p:cNvPr id="6" name="TextBox 6"/>
            <p:cNvSpPr txBox="1"/>
            <p:nvPr/>
          </p:nvSpPr>
          <p:spPr>
            <a:xfrm>
              <a:off x="0" y="165100"/>
              <a:ext cx="711200" cy="444500"/>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705751" y="3649338"/>
            <a:ext cx="3994542" cy="3536331"/>
            <a:chOff x="0" y="0"/>
            <a:chExt cx="1052060" cy="931379"/>
          </a:xfrm>
        </p:grpSpPr>
        <p:sp>
          <p:nvSpPr>
            <p:cNvPr id="8" name="Freeform 8"/>
            <p:cNvSpPr/>
            <p:nvPr/>
          </p:nvSpPr>
          <p:spPr>
            <a:xfrm>
              <a:off x="0" y="0"/>
              <a:ext cx="1052060" cy="931379"/>
            </a:xfrm>
            <a:custGeom>
              <a:avLst/>
              <a:gdLst/>
              <a:ahLst/>
              <a:cxnLst/>
              <a:rect l="l" t="t" r="r" b="b"/>
              <a:pathLst>
                <a:path w="1052060" h="931379">
                  <a:moveTo>
                    <a:pt x="19381" y="0"/>
                  </a:moveTo>
                  <a:lnTo>
                    <a:pt x="1032679" y="0"/>
                  </a:lnTo>
                  <a:cubicBezTo>
                    <a:pt x="1037819" y="0"/>
                    <a:pt x="1042749" y="2042"/>
                    <a:pt x="1046384" y="5677"/>
                  </a:cubicBezTo>
                  <a:cubicBezTo>
                    <a:pt x="1050018" y="9311"/>
                    <a:pt x="1052060" y="14241"/>
                    <a:pt x="1052060" y="19381"/>
                  </a:cubicBezTo>
                  <a:lnTo>
                    <a:pt x="1052060" y="911998"/>
                  </a:lnTo>
                  <a:cubicBezTo>
                    <a:pt x="1052060" y="922702"/>
                    <a:pt x="1043383" y="931379"/>
                    <a:pt x="1032679" y="931379"/>
                  </a:cubicBezTo>
                  <a:lnTo>
                    <a:pt x="19381" y="931379"/>
                  </a:lnTo>
                  <a:cubicBezTo>
                    <a:pt x="8677" y="931379"/>
                    <a:pt x="0" y="922702"/>
                    <a:pt x="0" y="911998"/>
                  </a:cubicBezTo>
                  <a:lnTo>
                    <a:pt x="0" y="19381"/>
                  </a:lnTo>
                  <a:cubicBezTo>
                    <a:pt x="0" y="8677"/>
                    <a:pt x="8677" y="0"/>
                    <a:pt x="19381" y="0"/>
                  </a:cubicBezTo>
                  <a:close/>
                </a:path>
              </a:pathLst>
            </a:custGeom>
            <a:solidFill>
              <a:srgbClr val="F8F3ED"/>
            </a:solidFill>
          </p:spPr>
        </p:sp>
        <p:sp>
          <p:nvSpPr>
            <p:cNvPr id="9" name="TextBox 9"/>
            <p:cNvSpPr txBox="1"/>
            <p:nvPr/>
          </p:nvSpPr>
          <p:spPr>
            <a:xfrm>
              <a:off x="0" y="-38100"/>
              <a:ext cx="1052060" cy="96947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2643700" y="2948260"/>
            <a:ext cx="2118643" cy="1402156"/>
          </a:xfrm>
          <a:custGeom>
            <a:avLst/>
            <a:gdLst/>
            <a:ahLst/>
            <a:cxnLst/>
            <a:rect l="l" t="t" r="r" b="b"/>
            <a:pathLst>
              <a:path w="2118643" h="1402156">
                <a:moveTo>
                  <a:pt x="0" y="0"/>
                </a:moveTo>
                <a:lnTo>
                  <a:pt x="2118643" y="0"/>
                </a:lnTo>
                <a:lnTo>
                  <a:pt x="2118643" y="1402156"/>
                </a:lnTo>
                <a:lnTo>
                  <a:pt x="0" y="140215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3103722" y="3392057"/>
            <a:ext cx="1198599" cy="562187"/>
          </a:xfrm>
          <a:prstGeom prst="rect">
            <a:avLst/>
          </a:prstGeom>
        </p:spPr>
        <p:txBody>
          <a:bodyPr lIns="0" tIns="0" rIns="0" bIns="0" rtlCol="0" anchor="t">
            <a:spAutoFit/>
          </a:bodyPr>
          <a:lstStyle/>
          <a:p>
            <a:pPr algn="ctr">
              <a:lnSpc>
                <a:spcPts val="3999"/>
              </a:lnSpc>
            </a:pPr>
            <a:r>
              <a:rPr lang="en-US" sz="3999" b="1" spc="79">
                <a:solidFill>
                  <a:srgbClr val="74A8B3"/>
                </a:solidFill>
                <a:latin typeface="Sugo Classic Bold"/>
                <a:ea typeface="Sugo Classic Bold"/>
                <a:cs typeface="Sugo Classic Bold"/>
                <a:sym typeface="Sugo Classic Bold"/>
              </a:rPr>
              <a:t>01</a:t>
            </a:r>
          </a:p>
        </p:txBody>
      </p:sp>
      <p:grpSp>
        <p:nvGrpSpPr>
          <p:cNvPr id="12" name="Group 12"/>
          <p:cNvGrpSpPr/>
          <p:nvPr/>
        </p:nvGrpSpPr>
        <p:grpSpPr>
          <a:xfrm>
            <a:off x="7310669" y="3606753"/>
            <a:ext cx="7023287" cy="3578917"/>
            <a:chOff x="0" y="0"/>
            <a:chExt cx="1849755" cy="942595"/>
          </a:xfrm>
        </p:grpSpPr>
        <p:sp>
          <p:nvSpPr>
            <p:cNvPr id="13" name="Freeform 13"/>
            <p:cNvSpPr/>
            <p:nvPr/>
          </p:nvSpPr>
          <p:spPr>
            <a:xfrm>
              <a:off x="0" y="0"/>
              <a:ext cx="1849755" cy="942595"/>
            </a:xfrm>
            <a:custGeom>
              <a:avLst/>
              <a:gdLst/>
              <a:ahLst/>
              <a:cxnLst/>
              <a:rect l="l" t="t" r="r" b="b"/>
              <a:pathLst>
                <a:path w="1849755" h="942595">
                  <a:moveTo>
                    <a:pt x="11023" y="0"/>
                  </a:moveTo>
                  <a:lnTo>
                    <a:pt x="1838731" y="0"/>
                  </a:lnTo>
                  <a:cubicBezTo>
                    <a:pt x="1841655" y="0"/>
                    <a:pt x="1844459" y="1161"/>
                    <a:pt x="1846526" y="3229"/>
                  </a:cubicBezTo>
                  <a:cubicBezTo>
                    <a:pt x="1848593" y="5296"/>
                    <a:pt x="1849755" y="8100"/>
                    <a:pt x="1849755" y="11023"/>
                  </a:cubicBezTo>
                  <a:lnTo>
                    <a:pt x="1849755" y="931572"/>
                  </a:lnTo>
                  <a:cubicBezTo>
                    <a:pt x="1849755" y="937660"/>
                    <a:pt x="1844819" y="942595"/>
                    <a:pt x="1838731" y="942595"/>
                  </a:cubicBezTo>
                  <a:lnTo>
                    <a:pt x="11023" y="942595"/>
                  </a:lnTo>
                  <a:cubicBezTo>
                    <a:pt x="8100" y="942595"/>
                    <a:pt x="5296" y="941434"/>
                    <a:pt x="3229" y="939367"/>
                  </a:cubicBezTo>
                  <a:cubicBezTo>
                    <a:pt x="1161" y="937299"/>
                    <a:pt x="0" y="934496"/>
                    <a:pt x="0" y="931572"/>
                  </a:cubicBezTo>
                  <a:lnTo>
                    <a:pt x="0" y="11023"/>
                  </a:lnTo>
                  <a:cubicBezTo>
                    <a:pt x="0" y="8100"/>
                    <a:pt x="1161" y="5296"/>
                    <a:pt x="3229" y="3229"/>
                  </a:cubicBezTo>
                  <a:cubicBezTo>
                    <a:pt x="5296" y="1161"/>
                    <a:pt x="8100" y="0"/>
                    <a:pt x="11023" y="0"/>
                  </a:cubicBezTo>
                  <a:close/>
                </a:path>
              </a:pathLst>
            </a:custGeom>
            <a:solidFill>
              <a:srgbClr val="F8F3ED"/>
            </a:solidFill>
          </p:spPr>
        </p:sp>
        <p:sp>
          <p:nvSpPr>
            <p:cNvPr id="14" name="TextBox 14"/>
            <p:cNvSpPr txBox="1"/>
            <p:nvPr/>
          </p:nvSpPr>
          <p:spPr>
            <a:xfrm>
              <a:off x="0" y="-38100"/>
              <a:ext cx="1849755" cy="980695"/>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9824559" y="2948260"/>
            <a:ext cx="2118643" cy="1402156"/>
          </a:xfrm>
          <a:custGeom>
            <a:avLst/>
            <a:gdLst/>
            <a:ahLst/>
            <a:cxnLst/>
            <a:rect l="l" t="t" r="r" b="b"/>
            <a:pathLst>
              <a:path w="2118643" h="1402156">
                <a:moveTo>
                  <a:pt x="0" y="0"/>
                </a:moveTo>
                <a:lnTo>
                  <a:pt x="2118643" y="0"/>
                </a:lnTo>
                <a:lnTo>
                  <a:pt x="2118643" y="1402156"/>
                </a:lnTo>
                <a:lnTo>
                  <a:pt x="0" y="140215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TextBox 16"/>
          <p:cNvSpPr txBox="1"/>
          <p:nvPr/>
        </p:nvSpPr>
        <p:spPr>
          <a:xfrm>
            <a:off x="10284581" y="3392057"/>
            <a:ext cx="1198599" cy="562187"/>
          </a:xfrm>
          <a:prstGeom prst="rect">
            <a:avLst/>
          </a:prstGeom>
        </p:spPr>
        <p:txBody>
          <a:bodyPr lIns="0" tIns="0" rIns="0" bIns="0" rtlCol="0" anchor="t">
            <a:spAutoFit/>
          </a:bodyPr>
          <a:lstStyle/>
          <a:p>
            <a:pPr algn="ctr">
              <a:lnSpc>
                <a:spcPts val="3999"/>
              </a:lnSpc>
            </a:pPr>
            <a:r>
              <a:rPr lang="en-US" sz="3999" b="1" spc="79">
                <a:solidFill>
                  <a:srgbClr val="74A8B3"/>
                </a:solidFill>
                <a:latin typeface="Sugo Classic Bold"/>
                <a:ea typeface="Sugo Classic Bold"/>
                <a:cs typeface="Sugo Classic Bold"/>
                <a:sym typeface="Sugo Classic Bold"/>
              </a:rPr>
              <a:t>02</a:t>
            </a:r>
          </a:p>
        </p:txBody>
      </p:sp>
      <p:sp>
        <p:nvSpPr>
          <p:cNvPr id="17" name="TextBox 17"/>
          <p:cNvSpPr txBox="1"/>
          <p:nvPr/>
        </p:nvSpPr>
        <p:spPr>
          <a:xfrm>
            <a:off x="7702448" y="4461120"/>
            <a:ext cx="6362864" cy="1714500"/>
          </a:xfrm>
          <a:prstGeom prst="rect">
            <a:avLst/>
          </a:prstGeom>
        </p:spPr>
        <p:txBody>
          <a:bodyPr lIns="0" tIns="0" rIns="0" bIns="0" rtlCol="0" anchor="t">
            <a:spAutoFit/>
          </a:bodyPr>
          <a:lstStyle/>
          <a:p>
            <a:pPr algn="ctr">
              <a:lnSpc>
                <a:spcPts val="2700"/>
              </a:lnSpc>
            </a:pPr>
            <a:r>
              <a:rPr lang="en-US" sz="2000" spc="120">
                <a:solidFill>
                  <a:srgbClr val="74A8B3"/>
                </a:solidFill>
                <a:latin typeface="Open Sans"/>
                <a:ea typeface="Open Sans"/>
                <a:cs typeface="Open Sans"/>
                <a:sym typeface="Open Sans"/>
              </a:rPr>
              <a:t>Workflow</a:t>
            </a:r>
          </a:p>
          <a:p>
            <a:pPr algn="ctr">
              <a:lnSpc>
                <a:spcPts val="2700"/>
              </a:lnSpc>
            </a:pPr>
            <a:r>
              <a:rPr lang="en-US" sz="2000" spc="120">
                <a:solidFill>
                  <a:srgbClr val="74A8B3"/>
                </a:solidFill>
                <a:latin typeface="Open Sans"/>
                <a:ea typeface="Open Sans"/>
                <a:cs typeface="Open Sans"/>
                <a:sym typeface="Open Sans"/>
              </a:rPr>
              <a:t>Traffic Data → Fuzzification → Rule Base → Inference Engine → Defuzzification → Green Time Output</a:t>
            </a:r>
          </a:p>
          <a:p>
            <a:pPr algn="ctr">
              <a:lnSpc>
                <a:spcPts val="2700"/>
              </a:lnSpc>
            </a:pPr>
            <a:endParaRPr lang="en-US" sz="2000" spc="120">
              <a:solidFill>
                <a:srgbClr val="74A8B3"/>
              </a:solidFill>
              <a:latin typeface="Open Sans"/>
              <a:ea typeface="Open Sans"/>
              <a:cs typeface="Open Sans"/>
              <a:sym typeface="Open Sans"/>
            </a:endParaRPr>
          </a:p>
        </p:txBody>
      </p:sp>
      <p:sp>
        <p:nvSpPr>
          <p:cNvPr id="18" name="TextBox 18"/>
          <p:cNvSpPr txBox="1"/>
          <p:nvPr/>
        </p:nvSpPr>
        <p:spPr>
          <a:xfrm>
            <a:off x="14314077" y="3392057"/>
            <a:ext cx="1198599" cy="562187"/>
          </a:xfrm>
          <a:prstGeom prst="rect">
            <a:avLst/>
          </a:prstGeom>
        </p:spPr>
        <p:txBody>
          <a:bodyPr lIns="0" tIns="0" rIns="0" bIns="0" rtlCol="0" anchor="t">
            <a:spAutoFit/>
          </a:bodyPr>
          <a:lstStyle/>
          <a:p>
            <a:pPr algn="ctr">
              <a:lnSpc>
                <a:spcPts val="3999"/>
              </a:lnSpc>
            </a:pPr>
            <a:r>
              <a:rPr lang="en-US" sz="3999" b="1" spc="79">
                <a:solidFill>
                  <a:srgbClr val="74A8B3"/>
                </a:solidFill>
                <a:latin typeface="Sugo Classic Bold"/>
                <a:ea typeface="Sugo Classic Bold"/>
                <a:cs typeface="Sugo Classic Bold"/>
                <a:sym typeface="Sugo Classic Bold"/>
              </a:rPr>
              <a:t>03</a:t>
            </a:r>
          </a:p>
        </p:txBody>
      </p:sp>
      <p:grpSp>
        <p:nvGrpSpPr>
          <p:cNvPr id="19" name="Group 19"/>
          <p:cNvGrpSpPr/>
          <p:nvPr/>
        </p:nvGrpSpPr>
        <p:grpSpPr>
          <a:xfrm>
            <a:off x="-1002133" y="8025662"/>
            <a:ext cx="20621450" cy="10320250"/>
            <a:chOff x="0" y="0"/>
            <a:chExt cx="27495267" cy="13760333"/>
          </a:xfrm>
        </p:grpSpPr>
        <p:sp>
          <p:nvSpPr>
            <p:cNvPr id="20" name="Freeform 20"/>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1" name="Freeform 21"/>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grpSp>
        <p:nvGrpSpPr>
          <p:cNvPr id="22" name="Group 22"/>
          <p:cNvGrpSpPr/>
          <p:nvPr/>
        </p:nvGrpSpPr>
        <p:grpSpPr>
          <a:xfrm>
            <a:off x="-1002133" y="-9923360"/>
            <a:ext cx="20621450" cy="10320250"/>
            <a:chOff x="0" y="0"/>
            <a:chExt cx="27495267" cy="13760333"/>
          </a:xfrm>
        </p:grpSpPr>
        <p:sp>
          <p:nvSpPr>
            <p:cNvPr id="23" name="Freeform 23"/>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4" name="Freeform 24"/>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sp>
        <p:nvSpPr>
          <p:cNvPr id="25" name="TextBox 25"/>
          <p:cNvSpPr txBox="1"/>
          <p:nvPr/>
        </p:nvSpPr>
        <p:spPr>
          <a:xfrm>
            <a:off x="4283228" y="1092215"/>
            <a:ext cx="10050728" cy="1395941"/>
          </a:xfrm>
          <a:prstGeom prst="rect">
            <a:avLst/>
          </a:prstGeom>
        </p:spPr>
        <p:txBody>
          <a:bodyPr lIns="0" tIns="0" rIns="0" bIns="0" rtlCol="0" anchor="t">
            <a:spAutoFit/>
          </a:bodyPr>
          <a:lstStyle/>
          <a:p>
            <a:pPr algn="ctr">
              <a:lnSpc>
                <a:spcPts val="9999"/>
              </a:lnSpc>
            </a:pPr>
            <a:r>
              <a:rPr lang="en-US" sz="9999" b="1" spc="199">
                <a:solidFill>
                  <a:srgbClr val="F8F3ED"/>
                </a:solidFill>
                <a:latin typeface="Sugo Classic Bold"/>
                <a:ea typeface="Sugo Classic Bold"/>
                <a:cs typeface="Sugo Classic Bold"/>
                <a:sym typeface="Sugo Classic Bold"/>
              </a:rPr>
              <a:t>METHODOLOGY</a:t>
            </a:r>
          </a:p>
        </p:txBody>
      </p:sp>
      <p:sp>
        <p:nvSpPr>
          <p:cNvPr id="26" name="TextBox 26"/>
          <p:cNvSpPr txBox="1"/>
          <p:nvPr/>
        </p:nvSpPr>
        <p:spPr>
          <a:xfrm>
            <a:off x="1710970" y="4605138"/>
            <a:ext cx="3986567" cy="2400300"/>
          </a:xfrm>
          <a:prstGeom prst="rect">
            <a:avLst/>
          </a:prstGeom>
        </p:spPr>
        <p:txBody>
          <a:bodyPr lIns="0" tIns="0" rIns="0" bIns="0" rtlCol="0" anchor="t">
            <a:spAutoFit/>
          </a:bodyPr>
          <a:lstStyle/>
          <a:p>
            <a:pPr algn="l">
              <a:lnSpc>
                <a:spcPts val="2700"/>
              </a:lnSpc>
            </a:pPr>
            <a:r>
              <a:rPr lang="en-US" sz="2000" spc="120">
                <a:solidFill>
                  <a:srgbClr val="74A8B3"/>
                </a:solidFill>
                <a:latin typeface="Open Sans"/>
                <a:ea typeface="Open Sans"/>
                <a:cs typeface="Open Sans"/>
                <a:sym typeface="Open Sans"/>
              </a:rPr>
              <a:t>Data Collection Tools &amp; Techniques</a:t>
            </a:r>
          </a:p>
          <a:p>
            <a:pPr marL="431801" lvl="1" indent="-215900" algn="l">
              <a:lnSpc>
                <a:spcPts val="2700"/>
              </a:lnSpc>
              <a:buFont typeface="Arial"/>
              <a:buChar char="•"/>
            </a:pPr>
            <a:r>
              <a:rPr lang="en-US" sz="2000" spc="120">
                <a:solidFill>
                  <a:srgbClr val="74A8B3"/>
                </a:solidFill>
                <a:latin typeface="Open Sans"/>
                <a:ea typeface="Open Sans"/>
                <a:cs typeface="Open Sans"/>
                <a:sym typeface="Open Sans"/>
              </a:rPr>
              <a:t>Traffic density (number of vehicles)</a:t>
            </a:r>
          </a:p>
          <a:p>
            <a:pPr marL="431801" lvl="1" indent="-215900" algn="l">
              <a:lnSpc>
                <a:spcPts val="2700"/>
              </a:lnSpc>
              <a:buFont typeface="Arial"/>
              <a:buChar char="•"/>
            </a:pPr>
            <a:r>
              <a:rPr lang="en-US" sz="2000" spc="120">
                <a:solidFill>
                  <a:srgbClr val="74A8B3"/>
                </a:solidFill>
                <a:latin typeface="Open Sans"/>
                <a:ea typeface="Open Sans"/>
                <a:cs typeface="Open Sans"/>
                <a:sym typeface="Open Sans"/>
              </a:rPr>
              <a:t>Queue length</a:t>
            </a:r>
          </a:p>
          <a:p>
            <a:pPr marL="431801" lvl="1" indent="-215900" algn="l">
              <a:lnSpc>
                <a:spcPts val="2700"/>
              </a:lnSpc>
              <a:buFont typeface="Arial"/>
              <a:buChar char="•"/>
            </a:pPr>
            <a:r>
              <a:rPr lang="en-US" sz="2000" spc="120">
                <a:solidFill>
                  <a:srgbClr val="74A8B3"/>
                </a:solidFill>
                <a:latin typeface="Open Sans"/>
                <a:ea typeface="Open Sans"/>
                <a:cs typeface="Open Sans"/>
                <a:sym typeface="Open Sans"/>
              </a:rPr>
              <a:t>Waiting time</a:t>
            </a:r>
          </a:p>
          <a:p>
            <a:pPr algn="l">
              <a:lnSpc>
                <a:spcPts val="2700"/>
              </a:lnSpc>
            </a:pPr>
            <a:endParaRPr lang="en-US" sz="2000" spc="120">
              <a:solidFill>
                <a:srgbClr val="74A8B3"/>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14400131" y="0"/>
            <a:ext cx="10320250" cy="10320250"/>
          </a:xfrm>
          <a:custGeom>
            <a:avLst/>
            <a:gdLst/>
            <a:ahLst/>
            <a:cxnLst/>
            <a:rect l="l" t="t" r="r" b="b"/>
            <a:pathLst>
              <a:path w="10320250" h="10320250">
                <a:moveTo>
                  <a:pt x="0" y="0"/>
                </a:moveTo>
                <a:lnTo>
                  <a:pt x="10320250" y="0"/>
                </a:lnTo>
                <a:lnTo>
                  <a:pt x="10320250"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96799" flipH="1">
            <a:off x="13636910" y="5279113"/>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4" name="Group 4"/>
          <p:cNvGrpSpPr/>
          <p:nvPr/>
        </p:nvGrpSpPr>
        <p:grpSpPr>
          <a:xfrm rot="-577747">
            <a:off x="13912200" y="5536870"/>
            <a:ext cx="5062044" cy="4189837"/>
            <a:chOff x="0" y="0"/>
            <a:chExt cx="1333213" cy="1103496"/>
          </a:xfrm>
        </p:grpSpPr>
        <p:sp>
          <p:nvSpPr>
            <p:cNvPr id="5" name="Freeform 5"/>
            <p:cNvSpPr/>
            <p:nvPr/>
          </p:nvSpPr>
          <p:spPr>
            <a:xfrm>
              <a:off x="0" y="0"/>
              <a:ext cx="1333213" cy="1103496"/>
            </a:xfrm>
            <a:custGeom>
              <a:avLst/>
              <a:gdLst/>
              <a:ahLst/>
              <a:cxnLst/>
              <a:rect l="l" t="t" r="r" b="b"/>
              <a:pathLst>
                <a:path w="1333213" h="1103496">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6" name="TextBox 6"/>
            <p:cNvSpPr txBox="1"/>
            <p:nvPr/>
          </p:nvSpPr>
          <p:spPr>
            <a:xfrm>
              <a:off x="0" y="-38100"/>
              <a:ext cx="1333213" cy="1141596"/>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596799" flipH="1">
            <a:off x="14910558" y="30965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8" name="Group 8"/>
          <p:cNvGrpSpPr/>
          <p:nvPr/>
        </p:nvGrpSpPr>
        <p:grpSpPr>
          <a:xfrm rot="-577747">
            <a:off x="15483130" y="4101669"/>
            <a:ext cx="5062044" cy="603669"/>
            <a:chOff x="0" y="0"/>
            <a:chExt cx="1333213" cy="158991"/>
          </a:xfrm>
        </p:grpSpPr>
        <p:sp>
          <p:nvSpPr>
            <p:cNvPr id="9" name="Freeform 9"/>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10" name="TextBox 10"/>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577747">
            <a:off x="15147467" y="681914"/>
            <a:ext cx="5062044" cy="3536331"/>
            <a:chOff x="0" y="0"/>
            <a:chExt cx="1333213" cy="931379"/>
          </a:xfrm>
        </p:grpSpPr>
        <p:sp>
          <p:nvSpPr>
            <p:cNvPr id="12" name="Freeform 12"/>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3" name="TextBox 13"/>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400175" y="1750583"/>
            <a:ext cx="11687959" cy="2671233"/>
          </a:xfrm>
          <a:prstGeom prst="rect">
            <a:avLst/>
          </a:prstGeom>
        </p:spPr>
        <p:txBody>
          <a:bodyPr lIns="0" tIns="0" rIns="0" bIns="0" rtlCol="0" anchor="t">
            <a:spAutoFit/>
          </a:bodyPr>
          <a:lstStyle/>
          <a:p>
            <a:pPr algn="l">
              <a:lnSpc>
                <a:spcPts val="9999"/>
              </a:lnSpc>
            </a:pPr>
            <a:r>
              <a:rPr lang="en-US" sz="9999" b="1" spc="199">
                <a:solidFill>
                  <a:srgbClr val="F8F3ED"/>
                </a:solidFill>
                <a:latin typeface="Sugo Classic Bold"/>
                <a:ea typeface="Sugo Classic Bold"/>
                <a:cs typeface="Sugo Classic Bold"/>
                <a:sym typeface="Sugo Classic Bold"/>
              </a:rPr>
              <a:t>EXPECTED RESULTS &amp; DISCUSSIONS</a:t>
            </a:r>
          </a:p>
        </p:txBody>
      </p:sp>
      <p:sp>
        <p:nvSpPr>
          <p:cNvPr id="15" name="Freeform 15"/>
          <p:cNvSpPr/>
          <p:nvPr/>
        </p:nvSpPr>
        <p:spPr>
          <a:xfrm>
            <a:off x="-2057400" y="-219317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a:off x="-657225" y="89645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rot="-638553">
            <a:off x="15665539" y="1675256"/>
            <a:ext cx="3187521" cy="2057400"/>
          </a:xfrm>
          <a:custGeom>
            <a:avLst/>
            <a:gdLst/>
            <a:ahLst/>
            <a:cxnLst/>
            <a:rect l="l" t="t" r="r" b="b"/>
            <a:pathLst>
              <a:path w="3187521" h="2057400">
                <a:moveTo>
                  <a:pt x="0" y="0"/>
                </a:moveTo>
                <a:lnTo>
                  <a:pt x="3187522" y="0"/>
                </a:lnTo>
                <a:lnTo>
                  <a:pt x="3187522" y="2057400"/>
                </a:lnTo>
                <a:lnTo>
                  <a:pt x="0" y="20574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rot="-624134">
            <a:off x="15197386" y="6313320"/>
            <a:ext cx="2542674" cy="2533428"/>
          </a:xfrm>
          <a:custGeom>
            <a:avLst/>
            <a:gdLst/>
            <a:ahLst/>
            <a:cxnLst/>
            <a:rect l="l" t="t" r="r" b="b"/>
            <a:pathLst>
              <a:path w="2542674" h="2533428">
                <a:moveTo>
                  <a:pt x="0" y="0"/>
                </a:moveTo>
                <a:lnTo>
                  <a:pt x="2542674" y="0"/>
                </a:lnTo>
                <a:lnTo>
                  <a:pt x="2542674" y="2533428"/>
                </a:lnTo>
                <a:lnTo>
                  <a:pt x="0" y="253342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1794129" y="3971198"/>
            <a:ext cx="8816699" cy="5699760"/>
          </a:xfrm>
          <a:prstGeom prst="rect">
            <a:avLst/>
          </a:prstGeom>
        </p:spPr>
        <p:txBody>
          <a:bodyPr lIns="0" tIns="0" rIns="0" bIns="0" rtlCol="0" anchor="t">
            <a:spAutoFit/>
          </a:bodyPr>
          <a:lstStyle/>
          <a:p>
            <a:pPr algn="l">
              <a:lnSpc>
                <a:spcPts val="3779"/>
              </a:lnSpc>
            </a:pPr>
            <a:endParaRP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Reduced waiting time</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Improved traffic flow</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Better utilization of green signals</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Adaptive response to real-time conditions</a:t>
            </a:r>
          </a:p>
          <a:p>
            <a:pPr algn="l">
              <a:lnSpc>
                <a:spcPts val="3779"/>
              </a:lnSpc>
            </a:pPr>
            <a:endParaRPr lang="en-US" sz="2799" spc="167">
              <a:solidFill>
                <a:srgbClr val="F8F3ED"/>
              </a:solidFill>
              <a:latin typeface="Open Sans"/>
              <a:ea typeface="Open Sans"/>
              <a:cs typeface="Open Sans"/>
              <a:sym typeface="Open Sans"/>
            </a:endParaRPr>
          </a:p>
          <a:p>
            <a:pPr algn="l">
              <a:lnSpc>
                <a:spcPts val="3779"/>
              </a:lnSpc>
            </a:pPr>
            <a:r>
              <a:rPr lang="en-US" sz="2799" spc="167">
                <a:solidFill>
                  <a:srgbClr val="F8F3ED"/>
                </a:solidFill>
                <a:latin typeface="Open Sans"/>
                <a:ea typeface="Open Sans"/>
                <a:cs typeface="Open Sans"/>
                <a:sym typeface="Open Sans"/>
              </a:rPr>
              <a:t>Outputs &amp; Performance Analysis</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Dynamic green signal timing</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Less congestion at intersections</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Improved fuel efficiency</a:t>
            </a:r>
          </a:p>
          <a:p>
            <a:pPr marL="604516" lvl="1" indent="-302258" algn="l">
              <a:lnSpc>
                <a:spcPts val="3779"/>
              </a:lnSpc>
              <a:buFont typeface="Arial"/>
              <a:buChar char="•"/>
            </a:pPr>
            <a:r>
              <a:rPr lang="en-US" sz="2799" spc="167">
                <a:solidFill>
                  <a:srgbClr val="F8F3ED"/>
                </a:solidFill>
                <a:latin typeface="Open Sans"/>
                <a:ea typeface="Open Sans"/>
                <a:cs typeface="Open Sans"/>
                <a:sym typeface="Open Sans"/>
              </a:rPr>
              <a:t>Smooth traffic movement</a:t>
            </a:r>
          </a:p>
          <a:p>
            <a:pPr algn="l">
              <a:lnSpc>
                <a:spcPts val="3779"/>
              </a:lnSpc>
            </a:pPr>
            <a:endParaRPr lang="en-US" sz="2799" spc="167">
              <a:solidFill>
                <a:srgbClr val="F8F3ED"/>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sp>
        <p:nvSpPr>
          <p:cNvPr id="2" name="Freeform 2"/>
          <p:cNvSpPr/>
          <p:nvPr/>
        </p:nvSpPr>
        <p:spPr>
          <a:xfrm>
            <a:off x="14085623" y="-135779"/>
            <a:ext cx="10558558" cy="10558558"/>
          </a:xfrm>
          <a:custGeom>
            <a:avLst/>
            <a:gdLst/>
            <a:ahLst/>
            <a:cxnLst/>
            <a:rect l="l" t="t" r="r" b="b"/>
            <a:pathLst>
              <a:path w="10558558" h="10558558">
                <a:moveTo>
                  <a:pt x="0" y="0"/>
                </a:moveTo>
                <a:lnTo>
                  <a:pt x="10558558" y="0"/>
                </a:lnTo>
                <a:lnTo>
                  <a:pt x="10558558" y="10558558"/>
                </a:lnTo>
                <a:lnTo>
                  <a:pt x="0" y="1055855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596799" flipH="1">
            <a:off x="13636910" y="5279113"/>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4" name="Group 4"/>
          <p:cNvGrpSpPr/>
          <p:nvPr/>
        </p:nvGrpSpPr>
        <p:grpSpPr>
          <a:xfrm rot="-577747">
            <a:off x="13912200" y="5536870"/>
            <a:ext cx="5062044" cy="4189837"/>
            <a:chOff x="0" y="0"/>
            <a:chExt cx="1333213" cy="1103496"/>
          </a:xfrm>
        </p:grpSpPr>
        <p:sp>
          <p:nvSpPr>
            <p:cNvPr id="5" name="Freeform 5"/>
            <p:cNvSpPr/>
            <p:nvPr/>
          </p:nvSpPr>
          <p:spPr>
            <a:xfrm>
              <a:off x="0" y="0"/>
              <a:ext cx="1333213" cy="1103496"/>
            </a:xfrm>
            <a:custGeom>
              <a:avLst/>
              <a:gdLst/>
              <a:ahLst/>
              <a:cxnLst/>
              <a:rect l="l" t="t" r="r" b="b"/>
              <a:pathLst>
                <a:path w="1333213" h="1103496">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6" name="TextBox 6"/>
            <p:cNvSpPr txBox="1"/>
            <p:nvPr/>
          </p:nvSpPr>
          <p:spPr>
            <a:xfrm>
              <a:off x="0" y="-38100"/>
              <a:ext cx="1333213" cy="1141596"/>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596799" flipH="1">
            <a:off x="14910558" y="30965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8" name="Group 8"/>
          <p:cNvGrpSpPr/>
          <p:nvPr/>
        </p:nvGrpSpPr>
        <p:grpSpPr>
          <a:xfrm rot="-577747">
            <a:off x="15483130" y="4101669"/>
            <a:ext cx="5062044" cy="603669"/>
            <a:chOff x="0" y="0"/>
            <a:chExt cx="1333213" cy="158991"/>
          </a:xfrm>
        </p:grpSpPr>
        <p:sp>
          <p:nvSpPr>
            <p:cNvPr id="9" name="Freeform 9"/>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10" name="TextBox 10"/>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577747">
            <a:off x="15147467" y="681914"/>
            <a:ext cx="5062044" cy="3536331"/>
            <a:chOff x="0" y="0"/>
            <a:chExt cx="1333213" cy="931379"/>
          </a:xfrm>
        </p:grpSpPr>
        <p:sp>
          <p:nvSpPr>
            <p:cNvPr id="12" name="Freeform 12"/>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3" name="TextBox 13"/>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400175" y="1750583"/>
            <a:ext cx="6441589" cy="1395941"/>
          </a:xfrm>
          <a:prstGeom prst="rect">
            <a:avLst/>
          </a:prstGeom>
        </p:spPr>
        <p:txBody>
          <a:bodyPr lIns="0" tIns="0" rIns="0" bIns="0" rtlCol="0" anchor="t">
            <a:spAutoFit/>
          </a:bodyPr>
          <a:lstStyle/>
          <a:p>
            <a:pPr algn="l">
              <a:lnSpc>
                <a:spcPts val="9999"/>
              </a:lnSpc>
            </a:pPr>
            <a:r>
              <a:rPr lang="en-US" sz="9999" b="1" spc="199">
                <a:solidFill>
                  <a:srgbClr val="F8F3ED"/>
                </a:solidFill>
                <a:latin typeface="Sugo Classic Bold"/>
                <a:ea typeface="Sugo Classic Bold"/>
                <a:cs typeface="Sugo Classic Bold"/>
                <a:sym typeface="Sugo Classic Bold"/>
              </a:rPr>
              <a:t>DEMO:</a:t>
            </a:r>
          </a:p>
        </p:txBody>
      </p:sp>
      <p:sp>
        <p:nvSpPr>
          <p:cNvPr id="15" name="Freeform 15"/>
          <p:cNvSpPr/>
          <p:nvPr/>
        </p:nvSpPr>
        <p:spPr>
          <a:xfrm>
            <a:off x="-2057400" y="-219317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a:off x="-657225" y="896450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Freeform 17"/>
          <p:cNvSpPr/>
          <p:nvPr/>
        </p:nvSpPr>
        <p:spPr>
          <a:xfrm rot="-571633">
            <a:off x="15973425" y="1675256"/>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rot="-519783">
            <a:off x="15113738" y="6229800"/>
            <a:ext cx="2769097" cy="2836133"/>
          </a:xfrm>
          <a:custGeom>
            <a:avLst/>
            <a:gdLst/>
            <a:ahLst/>
            <a:cxnLst/>
            <a:rect l="l" t="t" r="r" b="b"/>
            <a:pathLst>
              <a:path w="2769097" h="2836133">
                <a:moveTo>
                  <a:pt x="0" y="0"/>
                </a:moveTo>
                <a:lnTo>
                  <a:pt x="2769098" y="0"/>
                </a:lnTo>
                <a:lnTo>
                  <a:pt x="2769098" y="2836133"/>
                </a:lnTo>
                <a:lnTo>
                  <a:pt x="0" y="2836133"/>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Freeform 19"/>
          <p:cNvSpPr/>
          <p:nvPr/>
        </p:nvSpPr>
        <p:spPr>
          <a:xfrm>
            <a:off x="1028700" y="3459333"/>
            <a:ext cx="11301259" cy="5156199"/>
          </a:xfrm>
          <a:custGeom>
            <a:avLst/>
            <a:gdLst/>
            <a:ahLst/>
            <a:cxnLst/>
            <a:rect l="l" t="t" r="r" b="b"/>
            <a:pathLst>
              <a:path w="11301259" h="5156199">
                <a:moveTo>
                  <a:pt x="0" y="0"/>
                </a:moveTo>
                <a:lnTo>
                  <a:pt x="11301259" y="0"/>
                </a:lnTo>
                <a:lnTo>
                  <a:pt x="11301259" y="5156199"/>
                </a:lnTo>
                <a:lnTo>
                  <a:pt x="0" y="5156199"/>
                </a:lnTo>
                <a:lnTo>
                  <a:pt x="0" y="0"/>
                </a:lnTo>
                <a:close/>
              </a:path>
            </a:pathLst>
          </a:custGeom>
          <a:blipFill>
            <a:blip r:embed="rId8"/>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4A8B3"/>
        </a:solidFill>
        <a:effectLst/>
      </p:bgPr>
    </p:bg>
    <p:spTree>
      <p:nvGrpSpPr>
        <p:cNvPr id="1" name=""/>
        <p:cNvGrpSpPr/>
        <p:nvPr/>
      </p:nvGrpSpPr>
      <p:grpSpPr>
        <a:xfrm>
          <a:off x="0" y="0"/>
          <a:ext cx="0" cy="0"/>
          <a:chOff x="0" y="0"/>
          <a:chExt cx="0" cy="0"/>
        </a:xfrm>
      </p:grpSpPr>
      <p:grpSp>
        <p:nvGrpSpPr>
          <p:cNvPr id="2" name="Group 2"/>
          <p:cNvGrpSpPr/>
          <p:nvPr/>
        </p:nvGrpSpPr>
        <p:grpSpPr>
          <a:xfrm rot="227353">
            <a:off x="-842297" y="-9163825"/>
            <a:ext cx="20621450" cy="10320250"/>
            <a:chOff x="0" y="0"/>
            <a:chExt cx="27495267" cy="13760333"/>
          </a:xfrm>
        </p:grpSpPr>
        <p:sp>
          <p:nvSpPr>
            <p:cNvPr id="3" name="Freeform 3"/>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grpSp>
        <p:nvGrpSpPr>
          <p:cNvPr id="5" name="Group 5"/>
          <p:cNvGrpSpPr/>
          <p:nvPr/>
        </p:nvGrpSpPr>
        <p:grpSpPr>
          <a:xfrm rot="216792">
            <a:off x="-883649" y="9273391"/>
            <a:ext cx="20621450" cy="10320250"/>
            <a:chOff x="0" y="0"/>
            <a:chExt cx="27495267" cy="13760333"/>
          </a:xfrm>
        </p:grpSpPr>
        <p:sp>
          <p:nvSpPr>
            <p:cNvPr id="6" name="Freeform 6"/>
            <p:cNvSpPr/>
            <p:nvPr/>
          </p:nvSpPr>
          <p:spPr>
            <a:xfrm>
              <a:off x="0" y="0"/>
              <a:ext cx="13760333" cy="13760333"/>
            </a:xfrm>
            <a:custGeom>
              <a:avLst/>
              <a:gdLst/>
              <a:ahLst/>
              <a:cxnLst/>
              <a:rect l="l" t="t" r="r" b="b"/>
              <a:pathLst>
                <a:path w="13760333" h="13760333">
                  <a:moveTo>
                    <a:pt x="0" y="0"/>
                  </a:moveTo>
                  <a:lnTo>
                    <a:pt x="13760333" y="0"/>
                  </a:lnTo>
                  <a:lnTo>
                    <a:pt x="13760333"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3734933" y="0"/>
              <a:ext cx="13760333" cy="13760333"/>
            </a:xfrm>
            <a:custGeom>
              <a:avLst/>
              <a:gdLst/>
              <a:ahLst/>
              <a:cxnLst/>
              <a:rect l="l" t="t" r="r" b="b"/>
              <a:pathLst>
                <a:path w="13760333" h="13760333">
                  <a:moveTo>
                    <a:pt x="0" y="0"/>
                  </a:moveTo>
                  <a:lnTo>
                    <a:pt x="13760334" y="0"/>
                  </a:lnTo>
                  <a:lnTo>
                    <a:pt x="13760334" y="13760333"/>
                  </a:lnTo>
                  <a:lnTo>
                    <a:pt x="0" y="1376033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8" name="Freeform 8"/>
          <p:cNvSpPr/>
          <p:nvPr/>
        </p:nvSpPr>
        <p:spPr>
          <a:xfrm rot="-596799">
            <a:off x="-2596120" y="866976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9" name="Group 9"/>
          <p:cNvGrpSpPr/>
          <p:nvPr/>
        </p:nvGrpSpPr>
        <p:grpSpPr>
          <a:xfrm rot="-577747">
            <a:off x="-1286473" y="8720319"/>
            <a:ext cx="5062044" cy="3536331"/>
            <a:chOff x="0" y="0"/>
            <a:chExt cx="1333213" cy="931379"/>
          </a:xfrm>
        </p:grpSpPr>
        <p:sp>
          <p:nvSpPr>
            <p:cNvPr id="10" name="Freeform 10"/>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1" name="TextBox 11"/>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77747">
            <a:off x="-472602" y="8931281"/>
            <a:ext cx="945204" cy="3536331"/>
            <a:chOff x="0" y="0"/>
            <a:chExt cx="248943" cy="931379"/>
          </a:xfrm>
        </p:grpSpPr>
        <p:sp>
          <p:nvSpPr>
            <p:cNvPr id="13" name="Freeform 13"/>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14" name="TextBox 14"/>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rot="-5400000">
            <a:off x="6435161" y="1408996"/>
            <a:ext cx="5417678" cy="9158456"/>
          </a:xfrm>
          <a:custGeom>
            <a:avLst/>
            <a:gdLst/>
            <a:ahLst/>
            <a:cxnLst/>
            <a:rect l="l" t="t" r="r" b="b"/>
            <a:pathLst>
              <a:path w="5417678" h="9158456">
                <a:moveTo>
                  <a:pt x="0" y="0"/>
                </a:moveTo>
                <a:lnTo>
                  <a:pt x="5417678" y="0"/>
                </a:lnTo>
                <a:lnTo>
                  <a:pt x="5417678" y="9158456"/>
                </a:lnTo>
                <a:lnTo>
                  <a:pt x="0" y="9158456"/>
                </a:lnTo>
                <a:lnTo>
                  <a:pt x="0" y="0"/>
                </a:lnTo>
                <a:close/>
              </a:path>
            </a:pathLst>
          </a:custGeom>
          <a:blipFill>
            <a:blip r:embed="rId4"/>
            <a:stretch>
              <a:fillRect/>
            </a:stretch>
          </a:blipFill>
        </p:spPr>
      </p:sp>
      <p:grpSp>
        <p:nvGrpSpPr>
          <p:cNvPr id="16" name="Group 16"/>
          <p:cNvGrpSpPr/>
          <p:nvPr/>
        </p:nvGrpSpPr>
        <p:grpSpPr>
          <a:xfrm>
            <a:off x="4735651" y="3509628"/>
            <a:ext cx="8717980" cy="4895632"/>
            <a:chOff x="0" y="0"/>
            <a:chExt cx="2296093" cy="1289384"/>
          </a:xfrm>
        </p:grpSpPr>
        <p:sp>
          <p:nvSpPr>
            <p:cNvPr id="17" name="Freeform 17"/>
            <p:cNvSpPr/>
            <p:nvPr/>
          </p:nvSpPr>
          <p:spPr>
            <a:xfrm>
              <a:off x="0" y="0"/>
              <a:ext cx="2296093" cy="1289384"/>
            </a:xfrm>
            <a:custGeom>
              <a:avLst/>
              <a:gdLst/>
              <a:ahLst/>
              <a:cxnLst/>
              <a:rect l="l" t="t" r="r" b="b"/>
              <a:pathLst>
                <a:path w="2296093" h="1289384">
                  <a:moveTo>
                    <a:pt x="8880" y="0"/>
                  </a:moveTo>
                  <a:lnTo>
                    <a:pt x="2287213" y="0"/>
                  </a:lnTo>
                  <a:cubicBezTo>
                    <a:pt x="2289568" y="0"/>
                    <a:pt x="2291827" y="936"/>
                    <a:pt x="2293492" y="2601"/>
                  </a:cubicBezTo>
                  <a:cubicBezTo>
                    <a:pt x="2295158" y="4266"/>
                    <a:pt x="2296093" y="6525"/>
                    <a:pt x="2296093" y="8880"/>
                  </a:cubicBezTo>
                  <a:lnTo>
                    <a:pt x="2296093" y="1280504"/>
                  </a:lnTo>
                  <a:cubicBezTo>
                    <a:pt x="2296093" y="1285409"/>
                    <a:pt x="2292117" y="1289384"/>
                    <a:pt x="2287213" y="1289384"/>
                  </a:cubicBezTo>
                  <a:lnTo>
                    <a:pt x="8880" y="1289384"/>
                  </a:lnTo>
                  <a:cubicBezTo>
                    <a:pt x="3976" y="1289384"/>
                    <a:pt x="0" y="1285409"/>
                    <a:pt x="0" y="1280504"/>
                  </a:cubicBezTo>
                  <a:lnTo>
                    <a:pt x="0" y="8880"/>
                  </a:lnTo>
                  <a:cubicBezTo>
                    <a:pt x="0" y="3976"/>
                    <a:pt x="3976" y="0"/>
                    <a:pt x="8880" y="0"/>
                  </a:cubicBezTo>
                  <a:close/>
                </a:path>
              </a:pathLst>
            </a:custGeom>
            <a:solidFill>
              <a:srgbClr val="F8F3ED"/>
            </a:solidFill>
          </p:spPr>
        </p:sp>
        <p:sp>
          <p:nvSpPr>
            <p:cNvPr id="18" name="TextBox 18"/>
            <p:cNvSpPr txBox="1"/>
            <p:nvPr/>
          </p:nvSpPr>
          <p:spPr>
            <a:xfrm>
              <a:off x="0" y="-38100"/>
              <a:ext cx="2296093" cy="1327484"/>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2064628" y="182654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0" name="Freeform 20"/>
          <p:cNvSpPr/>
          <p:nvPr/>
        </p:nvSpPr>
        <p:spPr>
          <a:xfrm>
            <a:off x="16230600" y="42904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Freeform 21"/>
          <p:cNvSpPr/>
          <p:nvPr/>
        </p:nvSpPr>
        <p:spPr>
          <a:xfrm rot="-571633">
            <a:off x="677126" y="8895708"/>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2" name="Freeform 22"/>
          <p:cNvSpPr/>
          <p:nvPr/>
        </p:nvSpPr>
        <p:spPr>
          <a:xfrm rot="-596799" flipH="1">
            <a:off x="14451146" y="-139853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23" name="Group 23"/>
          <p:cNvGrpSpPr/>
          <p:nvPr/>
        </p:nvGrpSpPr>
        <p:grpSpPr>
          <a:xfrm rot="-577747">
            <a:off x="15023718" y="2393479"/>
            <a:ext cx="5062044" cy="603669"/>
            <a:chOff x="0" y="0"/>
            <a:chExt cx="1333213" cy="158991"/>
          </a:xfrm>
        </p:grpSpPr>
        <p:sp>
          <p:nvSpPr>
            <p:cNvPr id="24" name="Freeform 24"/>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25" name="TextBox 25"/>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rot="-577747">
            <a:off x="14688055" y="-1026276"/>
            <a:ext cx="5062044" cy="3536331"/>
            <a:chOff x="0" y="0"/>
            <a:chExt cx="1333213" cy="931379"/>
          </a:xfrm>
        </p:grpSpPr>
        <p:sp>
          <p:nvSpPr>
            <p:cNvPr id="27" name="Freeform 27"/>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8" name="TextBox 28"/>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29" name="Freeform 29"/>
          <p:cNvSpPr/>
          <p:nvPr/>
        </p:nvSpPr>
        <p:spPr>
          <a:xfrm rot="-603642">
            <a:off x="15570084" y="161694"/>
            <a:ext cx="2044933" cy="2201004"/>
          </a:xfrm>
          <a:custGeom>
            <a:avLst/>
            <a:gdLst/>
            <a:ahLst/>
            <a:cxnLst/>
            <a:rect l="l" t="t" r="r" b="b"/>
            <a:pathLst>
              <a:path w="2044933" h="2201004">
                <a:moveTo>
                  <a:pt x="0" y="0"/>
                </a:moveTo>
                <a:lnTo>
                  <a:pt x="2044932" y="0"/>
                </a:lnTo>
                <a:lnTo>
                  <a:pt x="2044932" y="2201004"/>
                </a:lnTo>
                <a:lnTo>
                  <a:pt x="0" y="220100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0" name="TextBox 30"/>
          <p:cNvSpPr txBox="1"/>
          <p:nvPr/>
        </p:nvSpPr>
        <p:spPr>
          <a:xfrm>
            <a:off x="4915070" y="1750583"/>
            <a:ext cx="8457861" cy="1395941"/>
          </a:xfrm>
          <a:prstGeom prst="rect">
            <a:avLst/>
          </a:prstGeom>
        </p:spPr>
        <p:txBody>
          <a:bodyPr lIns="0" tIns="0" rIns="0" bIns="0" rtlCol="0" anchor="t">
            <a:spAutoFit/>
          </a:bodyPr>
          <a:lstStyle/>
          <a:p>
            <a:pPr algn="ctr">
              <a:lnSpc>
                <a:spcPts val="9999"/>
              </a:lnSpc>
            </a:pPr>
            <a:r>
              <a:rPr lang="en-US" sz="9999" b="1" spc="199">
                <a:solidFill>
                  <a:srgbClr val="F8F3ED"/>
                </a:solidFill>
                <a:latin typeface="Sugo Classic Bold"/>
                <a:ea typeface="Sugo Classic Bold"/>
                <a:cs typeface="Sugo Classic Bold"/>
                <a:sym typeface="Sugo Classic Bold"/>
              </a:rPr>
              <a:t>CONCLUSION</a:t>
            </a:r>
          </a:p>
        </p:txBody>
      </p:sp>
      <p:sp>
        <p:nvSpPr>
          <p:cNvPr id="31" name="TextBox 31"/>
          <p:cNvSpPr txBox="1"/>
          <p:nvPr/>
        </p:nvSpPr>
        <p:spPr>
          <a:xfrm>
            <a:off x="4915070" y="3855366"/>
            <a:ext cx="8528786" cy="3795176"/>
          </a:xfrm>
          <a:prstGeom prst="rect">
            <a:avLst/>
          </a:prstGeom>
        </p:spPr>
        <p:txBody>
          <a:bodyPr lIns="0" tIns="0" rIns="0" bIns="0" rtlCol="0" anchor="t">
            <a:spAutoFit/>
          </a:bodyPr>
          <a:lstStyle/>
          <a:p>
            <a:pPr algn="l">
              <a:lnSpc>
                <a:spcPts val="3336"/>
              </a:lnSpc>
            </a:pPr>
            <a:endParaRPr/>
          </a:p>
          <a:p>
            <a:pPr algn="l">
              <a:lnSpc>
                <a:spcPts val="3336"/>
              </a:lnSpc>
            </a:pPr>
            <a:r>
              <a:rPr lang="en-US" sz="2471" spc="148">
                <a:solidFill>
                  <a:srgbClr val="74A8B3"/>
                </a:solidFill>
                <a:latin typeface="Open Sans"/>
                <a:ea typeface="Open Sans"/>
                <a:cs typeface="Open Sans"/>
                <a:sym typeface="Open Sans"/>
              </a:rPr>
              <a:t>Findings</a:t>
            </a:r>
          </a:p>
          <a:p>
            <a:pPr algn="l">
              <a:lnSpc>
                <a:spcPts val="3336"/>
              </a:lnSpc>
            </a:pPr>
            <a:r>
              <a:rPr lang="en-US" sz="2471" spc="148">
                <a:solidFill>
                  <a:srgbClr val="74A8B3"/>
                </a:solidFill>
                <a:latin typeface="Open Sans"/>
                <a:ea typeface="Open Sans"/>
                <a:cs typeface="Open Sans"/>
                <a:sym typeface="Open Sans"/>
              </a:rPr>
              <a:t>Fuzzy logic effectively improves traffic signal control by adapting to real-time conditions.</a:t>
            </a:r>
          </a:p>
          <a:p>
            <a:pPr algn="l">
              <a:lnSpc>
                <a:spcPts val="3336"/>
              </a:lnSpc>
            </a:pPr>
            <a:r>
              <a:rPr lang="en-US" sz="2471" spc="148">
                <a:solidFill>
                  <a:srgbClr val="74A8B3"/>
                </a:solidFill>
                <a:latin typeface="Open Sans"/>
                <a:ea typeface="Open Sans"/>
                <a:cs typeface="Open Sans"/>
                <a:sym typeface="Open Sans"/>
              </a:rPr>
              <a:t>Contributions</a:t>
            </a:r>
          </a:p>
          <a:p>
            <a:pPr marL="533602" lvl="1" indent="-266801" algn="l">
              <a:lnSpc>
                <a:spcPts val="3336"/>
              </a:lnSpc>
              <a:buFont typeface="Arial"/>
              <a:buChar char="•"/>
            </a:pPr>
            <a:r>
              <a:rPr lang="en-US" sz="2471" spc="148">
                <a:solidFill>
                  <a:srgbClr val="74A8B3"/>
                </a:solidFill>
                <a:latin typeface="Open Sans"/>
                <a:ea typeface="Open Sans"/>
                <a:cs typeface="Open Sans"/>
                <a:sym typeface="Open Sans"/>
              </a:rPr>
              <a:t>Intelligent traffic management</a:t>
            </a:r>
          </a:p>
          <a:p>
            <a:pPr marL="533602" lvl="1" indent="-266801" algn="l">
              <a:lnSpc>
                <a:spcPts val="3336"/>
              </a:lnSpc>
              <a:buFont typeface="Arial"/>
              <a:buChar char="•"/>
            </a:pPr>
            <a:r>
              <a:rPr lang="en-US" sz="2471" spc="148">
                <a:solidFill>
                  <a:srgbClr val="74A8B3"/>
                </a:solidFill>
                <a:latin typeface="Open Sans"/>
                <a:ea typeface="Open Sans"/>
                <a:cs typeface="Open Sans"/>
                <a:sym typeface="Open Sans"/>
              </a:rPr>
              <a:t>Reduced congestion</a:t>
            </a:r>
          </a:p>
          <a:p>
            <a:pPr marL="533602" lvl="1" indent="-266801" algn="l">
              <a:lnSpc>
                <a:spcPts val="3336"/>
              </a:lnSpc>
              <a:buFont typeface="Arial"/>
              <a:buChar char="•"/>
            </a:pPr>
            <a:r>
              <a:rPr lang="en-US" sz="2471" spc="148">
                <a:solidFill>
                  <a:srgbClr val="74A8B3"/>
                </a:solidFill>
                <a:latin typeface="Open Sans"/>
                <a:ea typeface="Open Sans"/>
                <a:cs typeface="Open Sans"/>
                <a:sym typeface="Open Sans"/>
              </a:rPr>
              <a:t>Practical application of soft computing</a:t>
            </a:r>
          </a:p>
          <a:p>
            <a:pPr algn="l">
              <a:lnSpc>
                <a:spcPts val="3336"/>
              </a:lnSpc>
            </a:pPr>
            <a:endParaRPr lang="en-US" sz="2471" spc="148">
              <a:solidFill>
                <a:srgbClr val="74A8B3"/>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3ED"/>
        </a:solidFill>
        <a:effectLst/>
      </p:bgPr>
    </p:bg>
    <p:spTree>
      <p:nvGrpSpPr>
        <p:cNvPr id="1" name=""/>
        <p:cNvGrpSpPr/>
        <p:nvPr/>
      </p:nvGrpSpPr>
      <p:grpSpPr>
        <a:xfrm>
          <a:off x="0" y="0"/>
          <a:ext cx="0" cy="0"/>
          <a:chOff x="0" y="0"/>
          <a:chExt cx="0" cy="0"/>
        </a:xfrm>
      </p:grpSpPr>
      <p:sp>
        <p:nvSpPr>
          <p:cNvPr id="2" name="Freeform 2"/>
          <p:cNvSpPr/>
          <p:nvPr/>
        </p:nvSpPr>
        <p:spPr>
          <a:xfrm>
            <a:off x="-7732786" y="-16625"/>
            <a:ext cx="10320250" cy="10320250"/>
          </a:xfrm>
          <a:custGeom>
            <a:avLst/>
            <a:gdLst/>
            <a:ahLst/>
            <a:cxnLst/>
            <a:rect l="l" t="t" r="r" b="b"/>
            <a:pathLst>
              <a:path w="10320250" h="10320250">
                <a:moveTo>
                  <a:pt x="0" y="0"/>
                </a:moveTo>
                <a:lnTo>
                  <a:pt x="10320251" y="0"/>
                </a:lnTo>
                <a:lnTo>
                  <a:pt x="10320251" y="10320250"/>
                </a:lnTo>
                <a:lnTo>
                  <a:pt x="0" y="1032025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a:off x="15696990" y="5143500"/>
            <a:ext cx="10320250" cy="10320250"/>
          </a:xfrm>
          <a:custGeom>
            <a:avLst/>
            <a:gdLst/>
            <a:ahLst/>
            <a:cxnLst/>
            <a:rect l="l" t="t" r="r" b="b"/>
            <a:pathLst>
              <a:path w="10320250" h="10320250">
                <a:moveTo>
                  <a:pt x="10320251" y="0"/>
                </a:moveTo>
                <a:lnTo>
                  <a:pt x="0" y="0"/>
                </a:lnTo>
                <a:lnTo>
                  <a:pt x="0" y="10320250"/>
                </a:lnTo>
                <a:lnTo>
                  <a:pt x="10320251" y="10320250"/>
                </a:lnTo>
                <a:lnTo>
                  <a:pt x="10320251"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96799" flipH="1">
            <a:off x="15660170" y="4752790"/>
            <a:ext cx="7673707" cy="4514852"/>
          </a:xfrm>
          <a:custGeom>
            <a:avLst/>
            <a:gdLst/>
            <a:ahLst/>
            <a:cxnLst/>
            <a:rect l="l" t="t" r="r" b="b"/>
            <a:pathLst>
              <a:path w="7673707" h="4514852">
                <a:moveTo>
                  <a:pt x="7673707" y="0"/>
                </a:moveTo>
                <a:lnTo>
                  <a:pt x="0" y="0"/>
                </a:lnTo>
                <a:lnTo>
                  <a:pt x="0" y="4514852"/>
                </a:lnTo>
                <a:lnTo>
                  <a:pt x="7673707" y="4514852"/>
                </a:lnTo>
                <a:lnTo>
                  <a:pt x="7673707" y="0"/>
                </a:lnTo>
                <a:close/>
              </a:path>
            </a:pathLst>
          </a:custGeom>
          <a:blipFill>
            <a:blip r:embed="rId3"/>
            <a:stretch>
              <a:fillRect/>
            </a:stretch>
          </a:blipFill>
        </p:spPr>
      </p:sp>
      <p:grpSp>
        <p:nvGrpSpPr>
          <p:cNvPr id="5" name="Group 5"/>
          <p:cNvGrpSpPr/>
          <p:nvPr/>
        </p:nvGrpSpPr>
        <p:grpSpPr>
          <a:xfrm rot="-577747">
            <a:off x="15935459" y="5010547"/>
            <a:ext cx="5062044" cy="4189837"/>
            <a:chOff x="0" y="0"/>
            <a:chExt cx="1333213" cy="1103496"/>
          </a:xfrm>
        </p:grpSpPr>
        <p:sp>
          <p:nvSpPr>
            <p:cNvPr id="6" name="Freeform 6"/>
            <p:cNvSpPr/>
            <p:nvPr/>
          </p:nvSpPr>
          <p:spPr>
            <a:xfrm>
              <a:off x="0" y="0"/>
              <a:ext cx="1333213" cy="1103496"/>
            </a:xfrm>
            <a:custGeom>
              <a:avLst/>
              <a:gdLst/>
              <a:ahLst/>
              <a:cxnLst/>
              <a:rect l="l" t="t" r="r" b="b"/>
              <a:pathLst>
                <a:path w="1333213" h="1103496">
                  <a:moveTo>
                    <a:pt x="15294" y="0"/>
                  </a:moveTo>
                  <a:lnTo>
                    <a:pt x="1317919" y="0"/>
                  </a:lnTo>
                  <a:cubicBezTo>
                    <a:pt x="1321975" y="0"/>
                    <a:pt x="1325865" y="1611"/>
                    <a:pt x="1328734" y="4480"/>
                  </a:cubicBezTo>
                  <a:cubicBezTo>
                    <a:pt x="1331602" y="7348"/>
                    <a:pt x="1333213" y="11238"/>
                    <a:pt x="1333213" y="15294"/>
                  </a:cubicBezTo>
                  <a:lnTo>
                    <a:pt x="1333213" y="1088202"/>
                  </a:lnTo>
                  <a:cubicBezTo>
                    <a:pt x="1333213" y="1092259"/>
                    <a:pt x="1331602" y="1096149"/>
                    <a:pt x="1328734" y="1099017"/>
                  </a:cubicBezTo>
                  <a:cubicBezTo>
                    <a:pt x="1325865" y="1101885"/>
                    <a:pt x="1321975" y="1103496"/>
                    <a:pt x="1317919" y="1103496"/>
                  </a:cubicBezTo>
                  <a:lnTo>
                    <a:pt x="15294" y="1103496"/>
                  </a:lnTo>
                  <a:cubicBezTo>
                    <a:pt x="11238" y="1103496"/>
                    <a:pt x="7348" y="1101885"/>
                    <a:pt x="4480" y="1099017"/>
                  </a:cubicBezTo>
                  <a:cubicBezTo>
                    <a:pt x="1611" y="1096149"/>
                    <a:pt x="0" y="1092259"/>
                    <a:pt x="0" y="1088202"/>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7" name="TextBox 7"/>
            <p:cNvSpPr txBox="1"/>
            <p:nvPr/>
          </p:nvSpPr>
          <p:spPr>
            <a:xfrm>
              <a:off x="0" y="-38100"/>
              <a:ext cx="1333213" cy="114159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96799" flipH="1">
            <a:off x="14910558" y="309655"/>
            <a:ext cx="7673707" cy="4514852"/>
          </a:xfrm>
          <a:custGeom>
            <a:avLst/>
            <a:gdLst/>
            <a:ahLst/>
            <a:cxnLst/>
            <a:rect l="l" t="t" r="r" b="b"/>
            <a:pathLst>
              <a:path w="7673707" h="4514852">
                <a:moveTo>
                  <a:pt x="7673708" y="0"/>
                </a:moveTo>
                <a:lnTo>
                  <a:pt x="0" y="0"/>
                </a:lnTo>
                <a:lnTo>
                  <a:pt x="0" y="4514852"/>
                </a:lnTo>
                <a:lnTo>
                  <a:pt x="7673708" y="4514852"/>
                </a:lnTo>
                <a:lnTo>
                  <a:pt x="7673708" y="0"/>
                </a:lnTo>
                <a:close/>
              </a:path>
            </a:pathLst>
          </a:custGeom>
          <a:blipFill>
            <a:blip r:embed="rId3"/>
            <a:stretch>
              <a:fillRect/>
            </a:stretch>
          </a:blipFill>
        </p:spPr>
      </p:sp>
      <p:grpSp>
        <p:nvGrpSpPr>
          <p:cNvPr id="9" name="Group 9"/>
          <p:cNvGrpSpPr/>
          <p:nvPr/>
        </p:nvGrpSpPr>
        <p:grpSpPr>
          <a:xfrm rot="-577747">
            <a:off x="15483130" y="4101669"/>
            <a:ext cx="5062044" cy="603669"/>
            <a:chOff x="0" y="0"/>
            <a:chExt cx="1333213" cy="158991"/>
          </a:xfrm>
        </p:grpSpPr>
        <p:sp>
          <p:nvSpPr>
            <p:cNvPr id="10" name="Freeform 10"/>
            <p:cNvSpPr/>
            <p:nvPr/>
          </p:nvSpPr>
          <p:spPr>
            <a:xfrm>
              <a:off x="0" y="0"/>
              <a:ext cx="1333213" cy="158991"/>
            </a:xfrm>
            <a:custGeom>
              <a:avLst/>
              <a:gdLst/>
              <a:ahLst/>
              <a:cxnLst/>
              <a:rect l="l" t="t" r="r" b="b"/>
              <a:pathLst>
                <a:path w="1333213" h="158991">
                  <a:moveTo>
                    <a:pt x="15294" y="0"/>
                  </a:moveTo>
                  <a:lnTo>
                    <a:pt x="1317919" y="0"/>
                  </a:lnTo>
                  <a:cubicBezTo>
                    <a:pt x="1321975" y="0"/>
                    <a:pt x="1325865" y="1611"/>
                    <a:pt x="1328734" y="4480"/>
                  </a:cubicBezTo>
                  <a:cubicBezTo>
                    <a:pt x="1331602" y="7348"/>
                    <a:pt x="1333213" y="11238"/>
                    <a:pt x="1333213" y="15294"/>
                  </a:cubicBezTo>
                  <a:lnTo>
                    <a:pt x="1333213" y="143697"/>
                  </a:lnTo>
                  <a:cubicBezTo>
                    <a:pt x="1333213" y="147753"/>
                    <a:pt x="1331602" y="151643"/>
                    <a:pt x="1328734" y="154511"/>
                  </a:cubicBezTo>
                  <a:cubicBezTo>
                    <a:pt x="1325865" y="157380"/>
                    <a:pt x="1321975" y="158991"/>
                    <a:pt x="1317919" y="158991"/>
                  </a:cubicBezTo>
                  <a:lnTo>
                    <a:pt x="15294" y="158991"/>
                  </a:lnTo>
                  <a:cubicBezTo>
                    <a:pt x="11238" y="158991"/>
                    <a:pt x="7348" y="157380"/>
                    <a:pt x="4480" y="154511"/>
                  </a:cubicBezTo>
                  <a:cubicBezTo>
                    <a:pt x="1611" y="151643"/>
                    <a:pt x="0" y="147753"/>
                    <a:pt x="0" y="143697"/>
                  </a:cubicBezTo>
                  <a:lnTo>
                    <a:pt x="0" y="15294"/>
                  </a:lnTo>
                  <a:cubicBezTo>
                    <a:pt x="0" y="11238"/>
                    <a:pt x="1611" y="7348"/>
                    <a:pt x="4480" y="4480"/>
                  </a:cubicBezTo>
                  <a:cubicBezTo>
                    <a:pt x="7348" y="1611"/>
                    <a:pt x="11238" y="0"/>
                    <a:pt x="15294" y="0"/>
                  </a:cubicBezTo>
                  <a:close/>
                </a:path>
              </a:pathLst>
            </a:custGeom>
            <a:solidFill>
              <a:srgbClr val="D8DCA6"/>
            </a:solidFill>
          </p:spPr>
        </p:sp>
        <p:sp>
          <p:nvSpPr>
            <p:cNvPr id="11" name="TextBox 11"/>
            <p:cNvSpPr txBox="1"/>
            <p:nvPr/>
          </p:nvSpPr>
          <p:spPr>
            <a:xfrm>
              <a:off x="0" y="-38100"/>
              <a:ext cx="1333213" cy="197091"/>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rot="-577747">
            <a:off x="15147467" y="681914"/>
            <a:ext cx="5062044" cy="3536331"/>
            <a:chOff x="0" y="0"/>
            <a:chExt cx="1333213" cy="931379"/>
          </a:xfrm>
        </p:grpSpPr>
        <p:sp>
          <p:nvSpPr>
            <p:cNvPr id="13" name="Freeform 13"/>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4" name="TextBox 14"/>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rot="-596799">
            <a:off x="-2596120" y="8669762"/>
            <a:ext cx="6622704" cy="3896490"/>
          </a:xfrm>
          <a:custGeom>
            <a:avLst/>
            <a:gdLst/>
            <a:ahLst/>
            <a:cxnLst/>
            <a:rect l="l" t="t" r="r" b="b"/>
            <a:pathLst>
              <a:path w="6622704" h="3896490">
                <a:moveTo>
                  <a:pt x="0" y="0"/>
                </a:moveTo>
                <a:lnTo>
                  <a:pt x="6622704" y="0"/>
                </a:lnTo>
                <a:lnTo>
                  <a:pt x="6622704" y="3896490"/>
                </a:lnTo>
                <a:lnTo>
                  <a:pt x="0" y="3896490"/>
                </a:lnTo>
                <a:lnTo>
                  <a:pt x="0" y="0"/>
                </a:lnTo>
                <a:close/>
              </a:path>
            </a:pathLst>
          </a:custGeom>
          <a:blipFill>
            <a:blip r:embed="rId3"/>
            <a:stretch>
              <a:fillRect/>
            </a:stretch>
          </a:blipFill>
        </p:spPr>
      </p:sp>
      <p:grpSp>
        <p:nvGrpSpPr>
          <p:cNvPr id="16" name="Group 16"/>
          <p:cNvGrpSpPr/>
          <p:nvPr/>
        </p:nvGrpSpPr>
        <p:grpSpPr>
          <a:xfrm rot="-577747">
            <a:off x="-1286473" y="8720319"/>
            <a:ext cx="5062044" cy="3536331"/>
            <a:chOff x="0" y="0"/>
            <a:chExt cx="1333213" cy="931379"/>
          </a:xfrm>
        </p:grpSpPr>
        <p:sp>
          <p:nvSpPr>
            <p:cNvPr id="17" name="Freeform 17"/>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18" name="TextBox 18"/>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rot="-596799">
            <a:off x="-3308549" y="4321770"/>
            <a:ext cx="6622704" cy="3896490"/>
          </a:xfrm>
          <a:custGeom>
            <a:avLst/>
            <a:gdLst/>
            <a:ahLst/>
            <a:cxnLst/>
            <a:rect l="l" t="t" r="r" b="b"/>
            <a:pathLst>
              <a:path w="6622704" h="3896490">
                <a:moveTo>
                  <a:pt x="0" y="0"/>
                </a:moveTo>
                <a:lnTo>
                  <a:pt x="6622703" y="0"/>
                </a:lnTo>
                <a:lnTo>
                  <a:pt x="6622703" y="3896490"/>
                </a:lnTo>
                <a:lnTo>
                  <a:pt x="0" y="3896490"/>
                </a:lnTo>
                <a:lnTo>
                  <a:pt x="0" y="0"/>
                </a:lnTo>
                <a:close/>
              </a:path>
            </a:pathLst>
          </a:custGeom>
          <a:blipFill>
            <a:blip r:embed="rId3"/>
            <a:stretch>
              <a:fillRect/>
            </a:stretch>
          </a:blipFill>
        </p:spPr>
      </p:sp>
      <p:grpSp>
        <p:nvGrpSpPr>
          <p:cNvPr id="20" name="Group 20"/>
          <p:cNvGrpSpPr/>
          <p:nvPr/>
        </p:nvGrpSpPr>
        <p:grpSpPr>
          <a:xfrm rot="-577747">
            <a:off x="-2002207" y="4339457"/>
            <a:ext cx="5062044" cy="3536331"/>
            <a:chOff x="0" y="0"/>
            <a:chExt cx="1333213" cy="931379"/>
          </a:xfrm>
        </p:grpSpPr>
        <p:sp>
          <p:nvSpPr>
            <p:cNvPr id="21" name="Freeform 21"/>
            <p:cNvSpPr/>
            <p:nvPr/>
          </p:nvSpPr>
          <p:spPr>
            <a:xfrm>
              <a:off x="0" y="0"/>
              <a:ext cx="1333213" cy="931379"/>
            </a:xfrm>
            <a:custGeom>
              <a:avLst/>
              <a:gdLst/>
              <a:ahLst/>
              <a:cxnLst/>
              <a:rect l="l" t="t" r="r" b="b"/>
              <a:pathLst>
                <a:path w="1333213" h="931379">
                  <a:moveTo>
                    <a:pt x="15294" y="0"/>
                  </a:moveTo>
                  <a:lnTo>
                    <a:pt x="1317919" y="0"/>
                  </a:lnTo>
                  <a:cubicBezTo>
                    <a:pt x="1321975" y="0"/>
                    <a:pt x="1325865" y="1611"/>
                    <a:pt x="1328734" y="4480"/>
                  </a:cubicBezTo>
                  <a:cubicBezTo>
                    <a:pt x="1331602" y="7348"/>
                    <a:pt x="1333213" y="11238"/>
                    <a:pt x="1333213" y="15294"/>
                  </a:cubicBezTo>
                  <a:lnTo>
                    <a:pt x="1333213" y="916085"/>
                  </a:lnTo>
                  <a:cubicBezTo>
                    <a:pt x="1333213" y="920142"/>
                    <a:pt x="1331602" y="924032"/>
                    <a:pt x="1328734" y="926900"/>
                  </a:cubicBezTo>
                  <a:cubicBezTo>
                    <a:pt x="1325865" y="929768"/>
                    <a:pt x="1321975" y="931379"/>
                    <a:pt x="1317919" y="931379"/>
                  </a:cubicBezTo>
                  <a:lnTo>
                    <a:pt x="15294" y="931379"/>
                  </a:lnTo>
                  <a:cubicBezTo>
                    <a:pt x="11238" y="931379"/>
                    <a:pt x="7348" y="929768"/>
                    <a:pt x="4480" y="926900"/>
                  </a:cubicBezTo>
                  <a:cubicBezTo>
                    <a:pt x="1611" y="924032"/>
                    <a:pt x="0" y="920142"/>
                    <a:pt x="0" y="916085"/>
                  </a:cubicBezTo>
                  <a:lnTo>
                    <a:pt x="0" y="15294"/>
                  </a:lnTo>
                  <a:cubicBezTo>
                    <a:pt x="0" y="11238"/>
                    <a:pt x="1611" y="7348"/>
                    <a:pt x="4480" y="4480"/>
                  </a:cubicBezTo>
                  <a:cubicBezTo>
                    <a:pt x="7348" y="1611"/>
                    <a:pt x="11238" y="0"/>
                    <a:pt x="15294" y="0"/>
                  </a:cubicBezTo>
                  <a:close/>
                </a:path>
              </a:pathLst>
            </a:custGeom>
            <a:solidFill>
              <a:srgbClr val="F8F3ED"/>
            </a:solidFill>
          </p:spPr>
        </p:sp>
        <p:sp>
          <p:nvSpPr>
            <p:cNvPr id="22" name="TextBox 22"/>
            <p:cNvSpPr txBox="1"/>
            <p:nvPr/>
          </p:nvSpPr>
          <p:spPr>
            <a:xfrm>
              <a:off x="0" y="-38100"/>
              <a:ext cx="133321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rot="-577747">
            <a:off x="2085632" y="3995145"/>
            <a:ext cx="945204" cy="3536331"/>
            <a:chOff x="0" y="0"/>
            <a:chExt cx="248943" cy="931379"/>
          </a:xfrm>
        </p:grpSpPr>
        <p:sp>
          <p:nvSpPr>
            <p:cNvPr id="24" name="Freeform 24"/>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25" name="TextBox 25"/>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grpSp>
        <p:nvGrpSpPr>
          <p:cNvPr id="26" name="Group 26"/>
          <p:cNvGrpSpPr/>
          <p:nvPr/>
        </p:nvGrpSpPr>
        <p:grpSpPr>
          <a:xfrm rot="-577747">
            <a:off x="-472602" y="8931281"/>
            <a:ext cx="945204" cy="3536331"/>
            <a:chOff x="0" y="0"/>
            <a:chExt cx="248943" cy="931379"/>
          </a:xfrm>
        </p:grpSpPr>
        <p:sp>
          <p:nvSpPr>
            <p:cNvPr id="27" name="Freeform 27"/>
            <p:cNvSpPr/>
            <p:nvPr/>
          </p:nvSpPr>
          <p:spPr>
            <a:xfrm>
              <a:off x="0" y="0"/>
              <a:ext cx="248943" cy="931379"/>
            </a:xfrm>
            <a:custGeom>
              <a:avLst/>
              <a:gdLst/>
              <a:ahLst/>
              <a:cxnLst/>
              <a:rect l="l" t="t" r="r" b="b"/>
              <a:pathLst>
                <a:path w="248943" h="931379">
                  <a:moveTo>
                    <a:pt x="81907" y="0"/>
                  </a:moveTo>
                  <a:lnTo>
                    <a:pt x="167035" y="0"/>
                  </a:lnTo>
                  <a:cubicBezTo>
                    <a:pt x="188759" y="0"/>
                    <a:pt x="209592" y="8630"/>
                    <a:pt x="224953" y="23990"/>
                  </a:cubicBezTo>
                  <a:cubicBezTo>
                    <a:pt x="240313" y="39351"/>
                    <a:pt x="248943" y="60184"/>
                    <a:pt x="248943" y="81907"/>
                  </a:cubicBezTo>
                  <a:lnTo>
                    <a:pt x="248943" y="849472"/>
                  </a:lnTo>
                  <a:cubicBezTo>
                    <a:pt x="248943" y="871195"/>
                    <a:pt x="240313" y="892029"/>
                    <a:pt x="224953" y="907389"/>
                  </a:cubicBezTo>
                  <a:cubicBezTo>
                    <a:pt x="209592" y="922750"/>
                    <a:pt x="188759" y="931379"/>
                    <a:pt x="167035" y="931379"/>
                  </a:cubicBezTo>
                  <a:lnTo>
                    <a:pt x="81907" y="931379"/>
                  </a:lnTo>
                  <a:cubicBezTo>
                    <a:pt x="60184" y="931379"/>
                    <a:pt x="39351" y="922750"/>
                    <a:pt x="23990" y="907389"/>
                  </a:cubicBezTo>
                  <a:cubicBezTo>
                    <a:pt x="8630" y="892029"/>
                    <a:pt x="0" y="871195"/>
                    <a:pt x="0" y="849472"/>
                  </a:cubicBezTo>
                  <a:lnTo>
                    <a:pt x="0" y="81907"/>
                  </a:lnTo>
                  <a:cubicBezTo>
                    <a:pt x="0" y="60184"/>
                    <a:pt x="8630" y="39351"/>
                    <a:pt x="23990" y="23990"/>
                  </a:cubicBezTo>
                  <a:cubicBezTo>
                    <a:pt x="39351" y="8630"/>
                    <a:pt x="60184" y="0"/>
                    <a:pt x="81907" y="0"/>
                  </a:cubicBezTo>
                  <a:close/>
                </a:path>
              </a:pathLst>
            </a:custGeom>
            <a:solidFill>
              <a:srgbClr val="D8DCA6"/>
            </a:solidFill>
          </p:spPr>
        </p:sp>
        <p:sp>
          <p:nvSpPr>
            <p:cNvPr id="28" name="TextBox 28"/>
            <p:cNvSpPr txBox="1"/>
            <p:nvPr/>
          </p:nvSpPr>
          <p:spPr>
            <a:xfrm>
              <a:off x="0" y="-38100"/>
              <a:ext cx="248943" cy="969479"/>
            </a:xfrm>
            <a:prstGeom prst="rect">
              <a:avLst/>
            </a:prstGeom>
          </p:spPr>
          <p:txBody>
            <a:bodyPr lIns="50800" tIns="50800" rIns="50800" bIns="50800" rtlCol="0" anchor="ctr"/>
            <a:lstStyle/>
            <a:p>
              <a:pPr algn="ctr">
                <a:lnSpc>
                  <a:spcPts val="2659"/>
                </a:lnSpc>
                <a:spcBef>
                  <a:spcPct val="0"/>
                </a:spcBef>
              </a:pPr>
              <a:endParaRPr/>
            </a:p>
          </p:txBody>
        </p:sp>
      </p:grpSp>
      <p:sp>
        <p:nvSpPr>
          <p:cNvPr id="29" name="Freeform 29"/>
          <p:cNvSpPr/>
          <p:nvPr/>
        </p:nvSpPr>
        <p:spPr>
          <a:xfrm>
            <a:off x="2870483" y="-238508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0" name="Freeform 30"/>
          <p:cNvSpPr/>
          <p:nvPr/>
        </p:nvSpPr>
        <p:spPr>
          <a:xfrm>
            <a:off x="11693998" y="827424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1" name="Freeform 31"/>
          <p:cNvSpPr/>
          <p:nvPr/>
        </p:nvSpPr>
        <p:spPr>
          <a:xfrm rot="-590405">
            <a:off x="16012484" y="1844786"/>
            <a:ext cx="2493633" cy="1718340"/>
          </a:xfrm>
          <a:custGeom>
            <a:avLst/>
            <a:gdLst/>
            <a:ahLst/>
            <a:cxnLst/>
            <a:rect l="l" t="t" r="r" b="b"/>
            <a:pathLst>
              <a:path w="2493633" h="1718340">
                <a:moveTo>
                  <a:pt x="0" y="0"/>
                </a:moveTo>
                <a:lnTo>
                  <a:pt x="2493632" y="0"/>
                </a:lnTo>
                <a:lnTo>
                  <a:pt x="2493632" y="1718339"/>
                </a:lnTo>
                <a:lnTo>
                  <a:pt x="0" y="171833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2" name="Freeform 32"/>
          <p:cNvSpPr/>
          <p:nvPr/>
        </p:nvSpPr>
        <p:spPr>
          <a:xfrm rot="-704435">
            <a:off x="1174237" y="9021508"/>
            <a:ext cx="1566579" cy="1435556"/>
          </a:xfrm>
          <a:custGeom>
            <a:avLst/>
            <a:gdLst/>
            <a:ahLst/>
            <a:cxnLst/>
            <a:rect l="l" t="t" r="r" b="b"/>
            <a:pathLst>
              <a:path w="1566579" h="1435556">
                <a:moveTo>
                  <a:pt x="0" y="0"/>
                </a:moveTo>
                <a:lnTo>
                  <a:pt x="1566579" y="0"/>
                </a:lnTo>
                <a:lnTo>
                  <a:pt x="1566579" y="1435556"/>
                </a:lnTo>
                <a:lnTo>
                  <a:pt x="0" y="143555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33" name="Freeform 33"/>
          <p:cNvSpPr/>
          <p:nvPr/>
        </p:nvSpPr>
        <p:spPr>
          <a:xfrm rot="-655974">
            <a:off x="-548486" y="5131342"/>
            <a:ext cx="2374977" cy="1990663"/>
          </a:xfrm>
          <a:custGeom>
            <a:avLst/>
            <a:gdLst/>
            <a:ahLst/>
            <a:cxnLst/>
            <a:rect l="l" t="t" r="r" b="b"/>
            <a:pathLst>
              <a:path w="2374977" h="1990663">
                <a:moveTo>
                  <a:pt x="0" y="0"/>
                </a:moveTo>
                <a:lnTo>
                  <a:pt x="2374978" y="0"/>
                </a:lnTo>
                <a:lnTo>
                  <a:pt x="2374978" y="1990662"/>
                </a:lnTo>
                <a:lnTo>
                  <a:pt x="0" y="199066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34" name="Freeform 34"/>
          <p:cNvSpPr/>
          <p:nvPr/>
        </p:nvSpPr>
        <p:spPr>
          <a:xfrm rot="-602952">
            <a:off x="16484083" y="5961322"/>
            <a:ext cx="2479202" cy="2384541"/>
          </a:xfrm>
          <a:custGeom>
            <a:avLst/>
            <a:gdLst/>
            <a:ahLst/>
            <a:cxnLst/>
            <a:rect l="l" t="t" r="r" b="b"/>
            <a:pathLst>
              <a:path w="2479202" h="2384541">
                <a:moveTo>
                  <a:pt x="0" y="0"/>
                </a:moveTo>
                <a:lnTo>
                  <a:pt x="2479202" y="0"/>
                </a:lnTo>
                <a:lnTo>
                  <a:pt x="2479202" y="2384542"/>
                </a:lnTo>
                <a:lnTo>
                  <a:pt x="0" y="238454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35" name="TextBox 35"/>
          <p:cNvSpPr txBox="1"/>
          <p:nvPr/>
        </p:nvSpPr>
        <p:spPr>
          <a:xfrm>
            <a:off x="4927883" y="2807565"/>
            <a:ext cx="8432234" cy="2791249"/>
          </a:xfrm>
          <a:prstGeom prst="rect">
            <a:avLst/>
          </a:prstGeom>
        </p:spPr>
        <p:txBody>
          <a:bodyPr lIns="0" tIns="0" rIns="0" bIns="0" rtlCol="0" anchor="t">
            <a:spAutoFit/>
          </a:bodyPr>
          <a:lstStyle/>
          <a:p>
            <a:pPr algn="ctr">
              <a:lnSpc>
                <a:spcPts val="20000"/>
              </a:lnSpc>
            </a:pPr>
            <a:r>
              <a:rPr lang="en-US" sz="20000" b="1" spc="400">
                <a:solidFill>
                  <a:srgbClr val="74A8B3"/>
                </a:solidFill>
                <a:latin typeface="Sugo Classic Bold"/>
                <a:ea typeface="Sugo Classic Bold"/>
                <a:cs typeface="Sugo Classic Bold"/>
                <a:sym typeface="Sugo Classic Bold"/>
              </a:rPr>
              <a:t>THANK</a:t>
            </a:r>
          </a:p>
        </p:txBody>
      </p:sp>
      <p:sp>
        <p:nvSpPr>
          <p:cNvPr id="36" name="TextBox 36"/>
          <p:cNvSpPr txBox="1"/>
          <p:nvPr/>
        </p:nvSpPr>
        <p:spPr>
          <a:xfrm>
            <a:off x="3400635" y="4945361"/>
            <a:ext cx="11486731" cy="2791249"/>
          </a:xfrm>
          <a:prstGeom prst="rect">
            <a:avLst/>
          </a:prstGeom>
        </p:spPr>
        <p:txBody>
          <a:bodyPr lIns="0" tIns="0" rIns="0" bIns="0" rtlCol="0" anchor="t">
            <a:spAutoFit/>
          </a:bodyPr>
          <a:lstStyle/>
          <a:p>
            <a:pPr algn="ctr">
              <a:lnSpc>
                <a:spcPts val="20000"/>
              </a:lnSpc>
            </a:pPr>
            <a:r>
              <a:rPr lang="en-US" sz="20000" b="1" spc="400">
                <a:solidFill>
                  <a:srgbClr val="74A8B3"/>
                </a:solidFill>
                <a:latin typeface="Sugo Classic Bold"/>
                <a:ea typeface="Sugo Classic Bold"/>
                <a:cs typeface="Sugo Classic Bold"/>
                <a:sym typeface="Sugo Classic Bold"/>
              </a:rPr>
              <a:t>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605</Words>
  <Application>Microsoft Office PowerPoint</Application>
  <PresentationFormat>Custom</PresentationFormat>
  <Paragraphs>101</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Sugo Classic Bold</vt:lpstr>
      <vt:lpstr>Calibri</vt:lpstr>
      <vt:lpstr>Arial</vt:lpstr>
      <vt:lpstr>Sugo Classic</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TrafficIq</dc:title>
  <dc:creator>Jai Sen</dc:creator>
  <cp:lastModifiedBy>Jai Sen</cp:lastModifiedBy>
  <cp:revision>1</cp:revision>
  <dcterms:created xsi:type="dcterms:W3CDTF">2006-08-16T00:00:00Z</dcterms:created>
  <dcterms:modified xsi:type="dcterms:W3CDTF">2026-04-20T06:46:10Z</dcterms:modified>
  <dc:identifier>DAG_DxW_bec</dc:identifier>
</cp:coreProperties>
</file>